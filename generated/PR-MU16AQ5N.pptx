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ContentType="application/vnd.openxmlformats-officedocument.presentationml.slide+xml" PartName="/ppt/slides/slide_gen_9000.xml"/>
  <Override ContentType="application/vnd.openxmlformats-officedocument.presentationml.slide+xml" PartName="/ppt/slides/slide_gen_9001.xml"/>
  <Override ContentType="application/vnd.openxmlformats-officedocument.presentationml.slide+xml" PartName="/ppt/slides/slide_gen_9002.xml"/>
  <Override ContentType="application/vnd.openxmlformats-officedocument.presentationml.slide+xml" PartName="/ppt/slides/slide_gen_9003.xml"/>
  <Override ContentType="application/vnd.openxmlformats-officedocument.presentationml.slide+xml" PartName="/ppt/slides/slide_gen_9004.xml"/>
  <Override ContentType="application/vnd.openxmlformats-officedocument.presentationml.slide+xml" PartName="/ppt/slides/slide_gen_9005.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900" r:id="rIdGen9000"/>
    <p:sldId id="901" r:id="rIdGen9001"/>
    <p:sldId id="902" r:id="rIdGen9002"/>
    <p:sldId id="903" r:id="rIdGen9003"/>
    <p:sldId id="904" r:id="rIdGen9004"/>
    <p:sldId id="905" r:id="rIdGen9005"/>
    <p:sldId id="261" r:id="rId11"/>
  </p:sldIdLst>
  <p:sldSz cx="18288000" cy="10287000"/>
  <p:notesSz cx="6858000" cy="9144000"/>
  <p:embeddedFontLst>
    <p:embeddedFont>
      <p:font typeface="Garet Bold" charset="1" panose="00000000000000000000"/>
      <p:regular r:id="rId12"/>
    </p:embeddedFont>
    <p:embeddedFont>
      <p:font typeface="Public Sans" charset="1" panose="00000000000000000000"/>
      <p:regular r:id="rId13"/>
    </p:embeddedFont>
    <p:embeddedFont>
      <p:font typeface="Didot LP" charset="1" panose="02000000000000000000"/>
      <p:regular r:id="rId14"/>
    </p:embeddedFont>
    <p:embeddedFont>
      <p:font typeface="Poppins Bold" charset="1" panose="00000800000000000000"/>
      <p:regular r:id="rId15"/>
    </p:embeddedFont>
    <p:embeddedFont>
      <p:font typeface="Futura Display" charset="1" panose="020B0504050904050C04"/>
      <p:regular r:id="rId16"/>
    </p:embeddedFont>
    <p:embeddedFont>
      <p:font typeface="Roboto" charset="1" panose="02000000000000000000"/>
      <p:regular r:id="rId17"/>
    </p:embeddedFont>
    <p:embeddedFont>
      <p:font typeface="Times New Roman MT Bold" charset="1" panose="02030802070405020303"/>
      <p:regular r:id="rId18"/>
    </p:embeddedFont>
    <p:embeddedFont>
      <p:font typeface="Times New Roman MT" charset="1" panose="02030502070405020303"/>
      <p:regular r:id="rId19"/>
    </p:embeddedFont>
    <p:embeddedFont>
      <p:font typeface="Public Sans Bol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Gen9000" Target="slides/slide_gen_9000.xml" Type="http://schemas.openxmlformats.org/officeDocument/2006/relationships/slide"/><Relationship Id="rIdGen9001" Target="slides/slide_gen_9001.xml" Type="http://schemas.openxmlformats.org/officeDocument/2006/relationships/slide"/><Relationship Id="rIdGen9002" Target="slides/slide_gen_9002.xml" Type="http://schemas.openxmlformats.org/officeDocument/2006/relationships/slide"/><Relationship Id="rIdGen9003" Target="slides/slide_gen_9003.xml" Type="http://schemas.openxmlformats.org/officeDocument/2006/relationships/slide"/><Relationship Id="rIdGen9004" Target="slides/slide_gen_9004.xml" Type="http://schemas.openxmlformats.org/officeDocument/2006/relationships/slide"/><Relationship Id="rIdGen9005" Target="slides/slide_gen_9005.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https://adinnoutdoors.com" TargetMode="External" Type="http://schemas.openxmlformats.org/officeDocument/2006/relationships/hyperlink"/><Relationship Id="rId15" Target="../media/image13.png" Type="http://schemas.openxmlformats.org/officeDocument/2006/relationships/image"/><Relationship Id="rId16" Target="../media/image14.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6.png" Type="http://schemas.openxmlformats.org/officeDocument/2006/relationships/image"/><Relationship Id="rId2" Target="../media/image20.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uZ459Wa5fqahfEF96"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2.png" Type="http://schemas.openxmlformats.org/officeDocument/2006/relationships/image"/><Relationship Id="rId6" Target="../media/image33.jpeg" Type="http://schemas.openxmlformats.org/officeDocument/2006/relationships/image"/><Relationship Id="rId7" Target="../media/image34.jpeg" Type="http://schemas.openxmlformats.org/officeDocument/2006/relationships/image"/><Relationship Id="rId8" Target="../media/image6.png" Type="http://schemas.openxmlformats.org/officeDocument/2006/relationships/image"/><Relationship Id="rId9" Target="../media/image3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12.png" Type="http://schemas.openxmlformats.org/officeDocument/2006/relationships/image"/><Relationship Id="rId2" Target="../media/image1.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https://adinnoutdoors.com" TargetMode="External" Type="http://schemas.openxmlformats.org/officeDocument/2006/relationships/hyperlink"/><Relationship Id="rId8" Target="../media/image4.png" Type="http://schemas.openxmlformats.org/officeDocument/2006/relationships/image"/><Relationship Id="rId9" Target="../media/image5.svg" Type="http://schemas.openxmlformats.org/officeDocument/2006/relationships/image"/></Relationships>
</file>

<file path=ppt/slides/_rels/slide_gen_900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uZ459Wa5fqahfEF96" TargetMode="External" Type="http://schemas.openxmlformats.org/officeDocument/2006/relationships/hyperlink"/></Relationships>
</file>

<file path=ppt/slides/_rels/slide_gen_900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uZ459Wa5fqahfEF96" TargetMode="External" Type="http://schemas.openxmlformats.org/officeDocument/2006/relationships/hyperlink"/></Relationships>
</file>

<file path=ppt/slides/_rels/slide_gen_900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uZ459Wa5fqahfEF96" TargetMode="External" Type="http://schemas.openxmlformats.org/officeDocument/2006/relationships/hyperlink"/></Relationships>
</file>

<file path=ppt/slides/_rels/slide_gen_900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uZ459Wa5fqahfEF96" TargetMode="External" Type="http://schemas.openxmlformats.org/officeDocument/2006/relationships/hyperlink"/></Relationships>
</file>

<file path=ppt/slides/_rels/slide_gen_900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uZ459Wa5fqahfEF96" TargetMode="External" Type="http://schemas.openxmlformats.org/officeDocument/2006/relationships/hyperlink"/></Relationships>
</file>

<file path=ppt/slides/_rels/slide_gen_900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uZ459Wa5fqahfEF96"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false" rot="0">
            <a:off x="9716854" y="710272"/>
            <a:ext cx="10181599" cy="9659792"/>
          </a:xfrm>
          <a:custGeom>
            <a:avLst/>
            <a:gdLst/>
            <a:ahLst/>
            <a:cxnLst/>
            <a:rect r="r" b="b" t="t" l="l"/>
            <a:pathLst>
              <a:path h="9659792" w="10181599">
                <a:moveTo>
                  <a:pt x="10181599" y="0"/>
                </a:moveTo>
                <a:lnTo>
                  <a:pt x="0" y="0"/>
                </a:lnTo>
                <a:lnTo>
                  <a:pt x="0" y="9659792"/>
                </a:lnTo>
                <a:lnTo>
                  <a:pt x="10181599" y="9659792"/>
                </a:lnTo>
                <a:lnTo>
                  <a:pt x="1018159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991634" y="8140197"/>
            <a:ext cx="400086" cy="393539"/>
          </a:xfrm>
          <a:custGeom>
            <a:avLst/>
            <a:gdLst/>
            <a:ahLst/>
            <a:cxnLst/>
            <a:rect r="r" b="b" t="t" l="l"/>
            <a:pathLst>
              <a:path h="393539" w="400086">
                <a:moveTo>
                  <a:pt x="0" y="0"/>
                </a:moveTo>
                <a:lnTo>
                  <a:pt x="400086" y="0"/>
                </a:lnTo>
                <a:lnTo>
                  <a:pt x="400086" y="393539"/>
                </a:lnTo>
                <a:lnTo>
                  <a:pt x="0" y="3935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8258874">
            <a:off x="12211145" y="747392"/>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sp>
        <p:nvSpPr>
          <p:cNvPr name="Freeform 6" id="6"/>
          <p:cNvSpPr/>
          <p:nvPr/>
        </p:nvSpPr>
        <p:spPr>
          <a:xfrm flipH="false" flipV="false" rot="8258874">
            <a:off x="13548200" y="2172227"/>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7">
              <a:alphaModFix amt="58000"/>
            </a:blip>
            <a:stretch>
              <a:fillRect l="0" t="0" r="0" b="0"/>
            </a:stretch>
          </a:blipFill>
        </p:spPr>
      </p:sp>
      <p:grpSp>
        <p:nvGrpSpPr>
          <p:cNvPr name="Group 7" id="7"/>
          <p:cNvGrpSpPr/>
          <p:nvPr/>
        </p:nvGrpSpPr>
        <p:grpSpPr>
          <a:xfrm rot="2700000">
            <a:off x="14326128" y="-1556233"/>
            <a:ext cx="1741316" cy="9057469"/>
            <a:chOff x="0" y="0"/>
            <a:chExt cx="458618" cy="2385506"/>
          </a:xfrm>
        </p:grpSpPr>
        <p:sp>
          <p:nvSpPr>
            <p:cNvPr name="Freeform 8" id="8"/>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9" id="9"/>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sp>
        <p:nvSpPr>
          <p:cNvPr name="Freeform 10" id="10"/>
          <p:cNvSpPr/>
          <p:nvPr/>
        </p:nvSpPr>
        <p:spPr>
          <a:xfrm flipH="false" flipV="false" rot="2700000">
            <a:off x="12659543" y="9239267"/>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sp>
        <p:nvSpPr>
          <p:cNvPr name="Freeform 11" id="11"/>
          <p:cNvSpPr/>
          <p:nvPr/>
        </p:nvSpPr>
        <p:spPr>
          <a:xfrm flipH="false" flipV="false" rot="2700000">
            <a:off x="13871065" y="7494651"/>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grpSp>
        <p:nvGrpSpPr>
          <p:cNvPr name="Group 12" id="12"/>
          <p:cNvGrpSpPr/>
          <p:nvPr/>
        </p:nvGrpSpPr>
        <p:grpSpPr>
          <a:xfrm rot="2700000">
            <a:off x="16090327" y="-591108"/>
            <a:ext cx="1741316" cy="9057469"/>
            <a:chOff x="0" y="0"/>
            <a:chExt cx="458618" cy="2385506"/>
          </a:xfrm>
        </p:grpSpPr>
        <p:sp>
          <p:nvSpPr>
            <p:cNvPr name="Freeform 13" id="13"/>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14" id="14"/>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8100000">
            <a:off x="14326128" y="2897446"/>
            <a:ext cx="1741316" cy="9057469"/>
            <a:chOff x="0" y="0"/>
            <a:chExt cx="458618" cy="2385506"/>
          </a:xfrm>
        </p:grpSpPr>
        <p:sp>
          <p:nvSpPr>
            <p:cNvPr name="Freeform 16" id="16"/>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17" id="17"/>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grpSp>
        <p:nvGrpSpPr>
          <p:cNvPr name="Group 18" id="18"/>
          <p:cNvGrpSpPr/>
          <p:nvPr/>
        </p:nvGrpSpPr>
        <p:grpSpPr>
          <a:xfrm rot="8100000">
            <a:off x="15847918" y="1684371"/>
            <a:ext cx="1741316" cy="9057469"/>
            <a:chOff x="0" y="0"/>
            <a:chExt cx="458618" cy="2385506"/>
          </a:xfrm>
        </p:grpSpPr>
        <p:sp>
          <p:nvSpPr>
            <p:cNvPr name="Freeform 19" id="19"/>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20" id="20"/>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sp>
        <p:nvSpPr>
          <p:cNvPr name="Freeform 21" id="21"/>
          <p:cNvSpPr/>
          <p:nvPr/>
        </p:nvSpPr>
        <p:spPr>
          <a:xfrm flipH="false" flipV="false" rot="0">
            <a:off x="8917851" y="-83064"/>
            <a:ext cx="10453128" cy="10453128"/>
          </a:xfrm>
          <a:custGeom>
            <a:avLst/>
            <a:gdLst/>
            <a:ahLst/>
            <a:cxnLst/>
            <a:rect r="r" b="b" t="t" l="l"/>
            <a:pathLst>
              <a:path h="10453128" w="10453128">
                <a:moveTo>
                  <a:pt x="0" y="0"/>
                </a:moveTo>
                <a:lnTo>
                  <a:pt x="10453128" y="0"/>
                </a:lnTo>
                <a:lnTo>
                  <a:pt x="10453128" y="10453128"/>
                </a:lnTo>
                <a:lnTo>
                  <a:pt x="0" y="10453128"/>
                </a:lnTo>
                <a:lnTo>
                  <a:pt x="0" y="0"/>
                </a:lnTo>
                <a:close/>
              </a:path>
            </a:pathLst>
          </a:custGeom>
          <a:blipFill>
            <a:blip r:embed="rId8">
              <a:alphaModFix amt="64000"/>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0157952" y="1157037"/>
            <a:ext cx="7972925" cy="797292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10"/>
              <a:stretch>
                <a:fillRect l="-14559" t="-442" r="0" b="-42756"/>
              </a:stretch>
            </a:blipFill>
            <a:ln w="123825" cap="sq">
              <a:solidFill>
                <a:srgbClr val="FFFFFF"/>
              </a:solidFill>
              <a:prstDash val="solid"/>
              <a:miter/>
            </a:ln>
          </p:spPr>
        </p:sp>
      </p:grpSp>
      <p:grpSp>
        <p:nvGrpSpPr>
          <p:cNvPr name="Group 24" id="24"/>
          <p:cNvGrpSpPr/>
          <p:nvPr/>
        </p:nvGrpSpPr>
        <p:grpSpPr>
          <a:xfrm rot="0">
            <a:off x="4319608" y="9438611"/>
            <a:ext cx="6852228" cy="1647825"/>
            <a:chOff x="0" y="0"/>
            <a:chExt cx="1804702" cy="433995"/>
          </a:xfrm>
        </p:grpSpPr>
        <p:sp>
          <p:nvSpPr>
            <p:cNvPr name="Freeform 25" id="25"/>
            <p:cNvSpPr/>
            <p:nvPr/>
          </p:nvSpPr>
          <p:spPr>
            <a:xfrm flipH="false" flipV="false" rot="0">
              <a:off x="0" y="0"/>
              <a:ext cx="1804702" cy="433995"/>
            </a:xfrm>
            <a:custGeom>
              <a:avLst/>
              <a:gdLst/>
              <a:ahLst/>
              <a:cxnLst/>
              <a:rect r="r" b="b" t="t" l="l"/>
              <a:pathLst>
                <a:path h="433995" w="1804702">
                  <a:moveTo>
                    <a:pt x="1601502" y="0"/>
                  </a:moveTo>
                  <a:lnTo>
                    <a:pt x="0" y="0"/>
                  </a:lnTo>
                  <a:lnTo>
                    <a:pt x="0" y="433995"/>
                  </a:lnTo>
                  <a:lnTo>
                    <a:pt x="1601502" y="433995"/>
                  </a:lnTo>
                  <a:lnTo>
                    <a:pt x="1804702" y="216998"/>
                  </a:lnTo>
                  <a:lnTo>
                    <a:pt x="1601502" y="0"/>
                  </a:lnTo>
                  <a:close/>
                </a:path>
              </a:pathLst>
            </a:custGeom>
            <a:solidFill>
              <a:srgbClr val="C2221E"/>
            </a:solidFill>
          </p:spPr>
        </p:sp>
        <p:sp>
          <p:nvSpPr>
            <p:cNvPr name="TextBox 26" id="26"/>
            <p:cNvSpPr txBox="true"/>
            <p:nvPr/>
          </p:nvSpPr>
          <p:spPr>
            <a:xfrm>
              <a:off x="0" y="-66675"/>
              <a:ext cx="1690402" cy="500670"/>
            </a:xfrm>
            <a:prstGeom prst="rect">
              <a:avLst/>
            </a:prstGeom>
          </p:spPr>
          <p:txBody>
            <a:bodyPr anchor="ctr" rtlCol="false" tIns="50800" lIns="50800" bIns="50800" rIns="50800"/>
            <a:lstStyle/>
            <a:p>
              <a:pPr algn="ctr">
                <a:lnSpc>
                  <a:spcPts val="3354"/>
                </a:lnSpc>
              </a:pPr>
            </a:p>
          </p:txBody>
        </p:sp>
      </p:grpSp>
      <p:grpSp>
        <p:nvGrpSpPr>
          <p:cNvPr name="Group 27" id="27"/>
          <p:cNvGrpSpPr/>
          <p:nvPr/>
        </p:nvGrpSpPr>
        <p:grpSpPr>
          <a:xfrm rot="0">
            <a:off x="2299202" y="-487803"/>
            <a:ext cx="4056912" cy="975607"/>
            <a:chOff x="0" y="0"/>
            <a:chExt cx="1804702" cy="433995"/>
          </a:xfrm>
        </p:grpSpPr>
        <p:sp>
          <p:nvSpPr>
            <p:cNvPr name="Freeform 28" id="28"/>
            <p:cNvSpPr/>
            <p:nvPr/>
          </p:nvSpPr>
          <p:spPr>
            <a:xfrm flipH="false" flipV="false" rot="0">
              <a:off x="0" y="0"/>
              <a:ext cx="1804702" cy="433995"/>
            </a:xfrm>
            <a:custGeom>
              <a:avLst/>
              <a:gdLst/>
              <a:ahLst/>
              <a:cxnLst/>
              <a:rect r="r" b="b" t="t" l="l"/>
              <a:pathLst>
                <a:path h="433995" w="1804702">
                  <a:moveTo>
                    <a:pt x="1601502" y="0"/>
                  </a:moveTo>
                  <a:lnTo>
                    <a:pt x="0" y="0"/>
                  </a:lnTo>
                  <a:lnTo>
                    <a:pt x="0" y="433995"/>
                  </a:lnTo>
                  <a:lnTo>
                    <a:pt x="1601502" y="433995"/>
                  </a:lnTo>
                  <a:lnTo>
                    <a:pt x="1804702" y="216998"/>
                  </a:lnTo>
                  <a:lnTo>
                    <a:pt x="1601502" y="0"/>
                  </a:lnTo>
                  <a:close/>
                </a:path>
              </a:pathLst>
            </a:custGeom>
            <a:solidFill>
              <a:srgbClr val="C2221E"/>
            </a:solidFill>
          </p:spPr>
        </p:sp>
        <p:sp>
          <p:nvSpPr>
            <p:cNvPr name="TextBox 29" id="29"/>
            <p:cNvSpPr txBox="true"/>
            <p:nvPr/>
          </p:nvSpPr>
          <p:spPr>
            <a:xfrm>
              <a:off x="0" y="-66675"/>
              <a:ext cx="1690402" cy="500670"/>
            </a:xfrm>
            <a:prstGeom prst="rect">
              <a:avLst/>
            </a:prstGeom>
          </p:spPr>
          <p:txBody>
            <a:bodyPr anchor="ctr" rtlCol="false" tIns="50800" lIns="50800" bIns="50800" rIns="50800"/>
            <a:lstStyle/>
            <a:p>
              <a:pPr algn="ctr">
                <a:lnSpc>
                  <a:spcPts val="3354"/>
                </a:lnSpc>
              </a:pPr>
            </a:p>
          </p:txBody>
        </p:sp>
      </p:grpSp>
      <p:grpSp>
        <p:nvGrpSpPr>
          <p:cNvPr name="Group 30" id="30"/>
          <p:cNvGrpSpPr/>
          <p:nvPr/>
        </p:nvGrpSpPr>
        <p:grpSpPr>
          <a:xfrm rot="0">
            <a:off x="-204646" y="9438611"/>
            <a:ext cx="6219700" cy="1647825"/>
            <a:chOff x="0" y="0"/>
            <a:chExt cx="1638110" cy="433995"/>
          </a:xfrm>
        </p:grpSpPr>
        <p:sp>
          <p:nvSpPr>
            <p:cNvPr name="Freeform 31" id="31"/>
            <p:cNvSpPr/>
            <p:nvPr/>
          </p:nvSpPr>
          <p:spPr>
            <a:xfrm flipH="false" flipV="false" rot="0">
              <a:off x="0" y="0"/>
              <a:ext cx="1638110" cy="433995"/>
            </a:xfrm>
            <a:custGeom>
              <a:avLst/>
              <a:gdLst/>
              <a:ahLst/>
              <a:cxnLst/>
              <a:rect r="r" b="b" t="t" l="l"/>
              <a:pathLst>
                <a:path h="433995" w="1638110">
                  <a:moveTo>
                    <a:pt x="1434910" y="0"/>
                  </a:moveTo>
                  <a:lnTo>
                    <a:pt x="0" y="0"/>
                  </a:lnTo>
                  <a:lnTo>
                    <a:pt x="0" y="433995"/>
                  </a:lnTo>
                  <a:lnTo>
                    <a:pt x="1434910" y="433995"/>
                  </a:lnTo>
                  <a:lnTo>
                    <a:pt x="1638110" y="216998"/>
                  </a:lnTo>
                  <a:lnTo>
                    <a:pt x="1434910" y="0"/>
                  </a:lnTo>
                  <a:close/>
                </a:path>
              </a:pathLst>
            </a:custGeom>
            <a:solidFill>
              <a:srgbClr val="A60404"/>
            </a:solidFill>
          </p:spPr>
        </p:sp>
        <p:sp>
          <p:nvSpPr>
            <p:cNvPr name="TextBox 32" id="32"/>
            <p:cNvSpPr txBox="true"/>
            <p:nvPr/>
          </p:nvSpPr>
          <p:spPr>
            <a:xfrm>
              <a:off x="0" y="-66675"/>
              <a:ext cx="1523810" cy="500670"/>
            </a:xfrm>
            <a:prstGeom prst="rect">
              <a:avLst/>
            </a:prstGeom>
          </p:spPr>
          <p:txBody>
            <a:bodyPr anchor="ctr" rtlCol="false" tIns="50800" lIns="50800" bIns="50800" rIns="50800"/>
            <a:lstStyle/>
            <a:p>
              <a:pPr algn="ctr">
                <a:lnSpc>
                  <a:spcPts val="3354"/>
                </a:lnSpc>
              </a:pPr>
            </a:p>
          </p:txBody>
        </p:sp>
      </p:grpSp>
      <p:grpSp>
        <p:nvGrpSpPr>
          <p:cNvPr name="Group 33" id="33"/>
          <p:cNvGrpSpPr/>
          <p:nvPr/>
        </p:nvGrpSpPr>
        <p:grpSpPr>
          <a:xfrm rot="0">
            <a:off x="-379416" y="-487803"/>
            <a:ext cx="3682419" cy="975607"/>
            <a:chOff x="0" y="0"/>
            <a:chExt cx="1638110" cy="433995"/>
          </a:xfrm>
        </p:grpSpPr>
        <p:sp>
          <p:nvSpPr>
            <p:cNvPr name="Freeform 34" id="34"/>
            <p:cNvSpPr/>
            <p:nvPr/>
          </p:nvSpPr>
          <p:spPr>
            <a:xfrm flipH="false" flipV="false" rot="0">
              <a:off x="0" y="0"/>
              <a:ext cx="1638110" cy="433995"/>
            </a:xfrm>
            <a:custGeom>
              <a:avLst/>
              <a:gdLst/>
              <a:ahLst/>
              <a:cxnLst/>
              <a:rect r="r" b="b" t="t" l="l"/>
              <a:pathLst>
                <a:path h="433995" w="1638110">
                  <a:moveTo>
                    <a:pt x="1434910" y="0"/>
                  </a:moveTo>
                  <a:lnTo>
                    <a:pt x="0" y="0"/>
                  </a:lnTo>
                  <a:lnTo>
                    <a:pt x="0" y="433995"/>
                  </a:lnTo>
                  <a:lnTo>
                    <a:pt x="1434910" y="433995"/>
                  </a:lnTo>
                  <a:lnTo>
                    <a:pt x="1638110" y="216998"/>
                  </a:lnTo>
                  <a:lnTo>
                    <a:pt x="1434910" y="0"/>
                  </a:lnTo>
                  <a:close/>
                </a:path>
              </a:pathLst>
            </a:custGeom>
            <a:solidFill>
              <a:srgbClr val="A60404"/>
            </a:solidFill>
          </p:spPr>
        </p:sp>
        <p:sp>
          <p:nvSpPr>
            <p:cNvPr name="TextBox 35" id="35"/>
            <p:cNvSpPr txBox="true"/>
            <p:nvPr/>
          </p:nvSpPr>
          <p:spPr>
            <a:xfrm>
              <a:off x="0" y="-66675"/>
              <a:ext cx="1523810" cy="500670"/>
            </a:xfrm>
            <a:prstGeom prst="rect">
              <a:avLst/>
            </a:prstGeom>
          </p:spPr>
          <p:txBody>
            <a:bodyPr anchor="ctr" rtlCol="false" tIns="50800" lIns="50800" bIns="50800" rIns="50800"/>
            <a:lstStyle/>
            <a:p>
              <a:pPr algn="ctr">
                <a:lnSpc>
                  <a:spcPts val="3354"/>
                </a:lnSpc>
              </a:pPr>
            </a:p>
          </p:txBody>
        </p:sp>
      </p:grpSp>
      <p:sp>
        <p:nvSpPr>
          <p:cNvPr name="Freeform 36" id="36"/>
          <p:cNvSpPr/>
          <p:nvPr/>
        </p:nvSpPr>
        <p:spPr>
          <a:xfrm flipH="false" flipV="false" rot="0">
            <a:off x="9196632" y="1013814"/>
            <a:ext cx="2182207" cy="785595"/>
          </a:xfrm>
          <a:custGeom>
            <a:avLst/>
            <a:gdLst/>
            <a:ahLst/>
            <a:cxnLst/>
            <a:rect r="r" b="b" t="t" l="l"/>
            <a:pathLst>
              <a:path h="785595" w="2182207">
                <a:moveTo>
                  <a:pt x="0" y="0"/>
                </a:moveTo>
                <a:lnTo>
                  <a:pt x="2182207" y="0"/>
                </a:lnTo>
                <a:lnTo>
                  <a:pt x="2182207" y="785595"/>
                </a:lnTo>
                <a:lnTo>
                  <a:pt x="0" y="7855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37" id="37"/>
          <p:cNvSpPr/>
          <p:nvPr/>
        </p:nvSpPr>
        <p:spPr>
          <a:xfrm>
            <a:off x="1991634" y="7287915"/>
            <a:ext cx="7204997" cy="0"/>
          </a:xfrm>
          <a:prstGeom prst="line">
            <a:avLst/>
          </a:prstGeom>
          <a:ln cap="flat" w="38100">
            <a:solidFill>
              <a:srgbClr val="C2221E"/>
            </a:solidFill>
            <a:prstDash val="solid"/>
            <a:headEnd type="none" len="sm" w="sm"/>
            <a:tailEnd type="none" len="sm" w="sm"/>
          </a:ln>
        </p:spPr>
      </p:sp>
      <p:sp>
        <p:nvSpPr>
          <p:cNvPr name="Freeform 38" id="38"/>
          <p:cNvSpPr/>
          <p:nvPr/>
        </p:nvSpPr>
        <p:spPr>
          <a:xfrm flipH="false" flipV="false" rot="0">
            <a:off x="862387" y="916316"/>
            <a:ext cx="2658580" cy="1244163"/>
          </a:xfrm>
          <a:custGeom>
            <a:avLst/>
            <a:gdLst/>
            <a:ahLst/>
            <a:cxnLst/>
            <a:rect r="r" b="b" t="t" l="l"/>
            <a:pathLst>
              <a:path h="1244163" w="2658580">
                <a:moveTo>
                  <a:pt x="0" y="0"/>
                </a:moveTo>
                <a:lnTo>
                  <a:pt x="2658580" y="0"/>
                </a:lnTo>
                <a:lnTo>
                  <a:pt x="2658580" y="1244163"/>
                </a:lnTo>
                <a:lnTo>
                  <a:pt x="0" y="1244163"/>
                </a:lnTo>
                <a:lnTo>
                  <a:pt x="0" y="0"/>
                </a:lnTo>
                <a:close/>
              </a:path>
            </a:pathLst>
          </a:custGeom>
          <a:blipFill>
            <a:blip r:embed="rId13"/>
            <a:stretch>
              <a:fillRect l="0" t="0" r="0" b="0"/>
            </a:stretch>
          </a:blipFill>
        </p:spPr>
      </p:sp>
      <p:sp>
        <p:nvSpPr>
          <p:cNvPr name="TextBox 39" id="39"/>
          <p:cNvSpPr txBox="true"/>
          <p:nvPr/>
        </p:nvSpPr>
        <p:spPr>
          <a:xfrm rot="0">
            <a:off x="1991634" y="2789017"/>
            <a:ext cx="7629970" cy="2618072"/>
          </a:xfrm>
          <a:prstGeom prst="rect">
            <a:avLst/>
          </a:prstGeom>
        </p:spPr>
        <p:txBody>
          <a:bodyPr anchor="t" rtlCol="false" tIns="0" lIns="0" bIns="0" rIns="0">
            <a:spAutoFit/>
          </a:bodyPr>
          <a:lstStyle/>
          <a:p>
            <a:pPr algn="l">
              <a:lnSpc>
                <a:spcPts val="10048"/>
              </a:lnSpc>
            </a:pPr>
            <a:r>
              <a:rPr lang="en-US" sz="10150" b="true">
                <a:solidFill>
                  <a:srgbClr val="A60404"/>
                </a:solidFill>
                <a:latin typeface="Garet Bold"/>
                <a:ea typeface="Garet Bold"/>
                <a:cs typeface="Garet Bold"/>
                <a:sym typeface="Garet Bold"/>
              </a:rPr>
              <a:t>OOH PROPOSAL</a:t>
            </a:r>
          </a:p>
        </p:txBody>
      </p:sp>
      <p:sp>
        <p:nvSpPr>
          <p:cNvPr name="TextBox 40" id="40"/>
          <p:cNvSpPr txBox="true"/>
          <p:nvPr/>
        </p:nvSpPr>
        <p:spPr>
          <a:xfrm rot="0">
            <a:off x="1991634" y="5937131"/>
            <a:ext cx="4655948" cy="590016"/>
          </a:xfrm>
          <a:prstGeom prst="rect">
            <a:avLst/>
          </a:prstGeom>
        </p:spPr>
        <p:txBody>
          <a:bodyPr anchor="t" rtlCol="false" tIns="0" lIns="0" bIns="0" rIns="0">
            <a:spAutoFit/>
          </a:bodyPr>
          <a:lstStyle/>
          <a:p>
            <a:pPr algn="l">
              <a:lnSpc>
                <a:spcPts val="4754"/>
              </a:lnSpc>
            </a:pPr>
            <a:r>
              <a:rPr lang="en-US" sz="3396">
                <a:solidFill>
                  <a:srgbClr val="000000"/>
                </a:solidFill>
                <a:latin typeface="Public Sans"/>
                <a:ea typeface="Public Sans"/>
                <a:cs typeface="Public Sans"/>
                <a:sym typeface="Public Sans"/>
              </a:rPr>
              <a:t>D</a:t>
            </a:r>
            <a:r>
              <a:rPr lang="en-US" sz="3396">
                <a:solidFill>
                  <a:srgbClr val="000000"/>
                </a:solidFill>
                <a:latin typeface="Public Sans"/>
                <a:ea typeface="Public Sans"/>
                <a:cs typeface="Public Sans"/>
                <a:sym typeface="Public Sans"/>
              </a:rPr>
              <a:t>ate: Sep 14, 2026</a:t>
            </a:r>
          </a:p>
        </p:txBody>
      </p:sp>
      <p:sp>
        <p:nvSpPr>
          <p:cNvPr name="TextBox 41" id="41"/>
          <p:cNvSpPr txBox="true"/>
          <p:nvPr/>
        </p:nvSpPr>
        <p:spPr>
          <a:xfrm rot="0">
            <a:off x="2485585" y="8063997"/>
            <a:ext cx="4188538" cy="415390"/>
          </a:xfrm>
          <a:prstGeom prst="rect">
            <a:avLst/>
          </a:prstGeom>
        </p:spPr>
        <p:txBody>
          <a:bodyPr anchor="t" rtlCol="false" tIns="0" lIns="0" bIns="0" rIns="0">
            <a:spAutoFit/>
          </a:bodyPr>
          <a:lstStyle/>
          <a:p>
            <a:pPr algn="l">
              <a:lnSpc>
                <a:spcPts val="3354"/>
              </a:lnSpc>
            </a:pPr>
            <a:r>
              <a:rPr lang="en-US" sz="2396" u="sng">
                <a:solidFill>
                  <a:srgbClr val="5170FF"/>
                </a:solidFill>
                <a:latin typeface="Public Sans"/>
                <a:ea typeface="Public Sans"/>
                <a:cs typeface="Public Sans"/>
                <a:sym typeface="Public Sans"/>
                <a:hlinkClick r:id="rId14" tooltip="https://adinnoutdoors.com"/>
              </a:rPr>
              <a:t>www.adinnoutdoors.com</a:t>
            </a:r>
          </a:p>
        </p:txBody>
      </p:sp>
      <p:sp>
        <p:nvSpPr>
          <p:cNvPr name="TextBox 42" id="42"/>
          <p:cNvSpPr txBox="true"/>
          <p:nvPr/>
        </p:nvSpPr>
        <p:spPr>
          <a:xfrm rot="0">
            <a:off x="2018175" y="6564898"/>
            <a:ext cx="5558696" cy="590016"/>
          </a:xfrm>
          <a:prstGeom prst="rect">
            <a:avLst/>
          </a:prstGeom>
        </p:spPr>
        <p:txBody>
          <a:bodyPr anchor="t" rtlCol="false" tIns="0" lIns="0" bIns="0" rIns="0">
            <a:spAutoFit/>
          </a:bodyPr>
          <a:lstStyle/>
          <a:p>
            <a:pPr algn="l">
              <a:lnSpc>
                <a:spcPts val="4754"/>
              </a:lnSpc>
            </a:pPr>
            <a:r>
              <a:rPr lang="en-US" sz="3396">
                <a:solidFill>
                  <a:srgbClr val="000000"/>
                </a:solidFill>
                <a:latin typeface="Public Sans"/>
                <a:ea typeface="Public Sans"/>
                <a:cs typeface="Public Sans"/>
                <a:sym typeface="Public Sans"/>
              </a:rPr>
              <a:t>Ajay</a:t>
            </a:r>
          </a:p>
        </p:txBody>
      </p:sp>
      <p:grpSp>
        <p:nvGrpSpPr>
          <p:cNvPr name="Group 43" id="43"/>
          <p:cNvGrpSpPr/>
          <p:nvPr/>
        </p:nvGrpSpPr>
        <p:grpSpPr>
          <a:xfrm rot="0">
            <a:off x="5922645" y="2652359"/>
            <a:ext cx="1449875" cy="1396602"/>
            <a:chOff x="0" y="0"/>
            <a:chExt cx="1933167" cy="1862136"/>
          </a:xfrm>
        </p:grpSpPr>
        <p:sp>
          <p:nvSpPr>
            <p:cNvPr name="Freeform 44" id="44"/>
            <p:cNvSpPr/>
            <p:nvPr/>
          </p:nvSpPr>
          <p:spPr>
            <a:xfrm flipH="false" flipV="true" rot="0">
              <a:off x="0" y="0"/>
              <a:ext cx="1933167" cy="1862136"/>
            </a:xfrm>
            <a:custGeom>
              <a:avLst/>
              <a:gdLst/>
              <a:ahLst/>
              <a:cxnLst/>
              <a:rect r="r" b="b" t="t" l="l"/>
              <a:pathLst>
                <a:path h="1862136" w="1933167">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l="0" t="-49815" r="-117454" b="0"/>
              </a:stretch>
            </a:blipFill>
          </p:spPr>
        </p:sp>
        <p:sp>
          <p:nvSpPr>
            <p:cNvPr name="Freeform 45" id="45"/>
            <p:cNvSpPr/>
            <p:nvPr/>
          </p:nvSpPr>
          <p:spPr>
            <a:xfrm flipH="false" flipV="true" rot="0">
              <a:off x="0" y="0"/>
              <a:ext cx="1933167" cy="1862136"/>
            </a:xfrm>
            <a:custGeom>
              <a:avLst/>
              <a:gdLst/>
              <a:ahLst/>
              <a:cxnLst/>
              <a:rect r="r" b="b" t="t" l="l"/>
              <a:pathLst>
                <a:path h="1862136" w="1933167">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l="0" t="-49815" r="-117454" b="0"/>
              </a:stretch>
            </a:blipFill>
          </p:spPr>
        </p:sp>
        <p:sp>
          <p:nvSpPr>
            <p:cNvPr name="Freeform 46" id="46"/>
            <p:cNvSpPr/>
            <p:nvPr/>
          </p:nvSpPr>
          <p:spPr>
            <a:xfrm flipH="false" flipV="true" rot="0">
              <a:off x="0" y="0"/>
              <a:ext cx="1933167" cy="1862136"/>
            </a:xfrm>
            <a:custGeom>
              <a:avLst/>
              <a:gdLst/>
              <a:ahLst/>
              <a:cxnLst/>
              <a:rect r="r" b="b" t="t" l="l"/>
              <a:pathLst>
                <a:path h="1862136" w="1933167">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l="0" t="-49815" r="-117454"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0800000">
            <a:off x="6964275" y="9438611"/>
            <a:ext cx="6852228" cy="1647825"/>
            <a:chOff x="0" y="0"/>
            <a:chExt cx="1804702" cy="433995"/>
          </a:xfrm>
        </p:grpSpPr>
        <p:sp>
          <p:nvSpPr>
            <p:cNvPr name="Freeform 4" id="4"/>
            <p:cNvSpPr/>
            <p:nvPr/>
          </p:nvSpPr>
          <p:spPr>
            <a:xfrm flipH="false" flipV="false" rot="0">
              <a:off x="0" y="0"/>
              <a:ext cx="1804702" cy="433995"/>
            </a:xfrm>
            <a:custGeom>
              <a:avLst/>
              <a:gdLst/>
              <a:ahLst/>
              <a:cxnLst/>
              <a:rect r="r" b="b" t="t" l="l"/>
              <a:pathLst>
                <a:path h="433995" w="1804702">
                  <a:moveTo>
                    <a:pt x="1601502" y="0"/>
                  </a:moveTo>
                  <a:lnTo>
                    <a:pt x="0" y="0"/>
                  </a:lnTo>
                  <a:lnTo>
                    <a:pt x="0" y="433995"/>
                  </a:lnTo>
                  <a:lnTo>
                    <a:pt x="1601502" y="433995"/>
                  </a:lnTo>
                  <a:lnTo>
                    <a:pt x="1804702" y="216998"/>
                  </a:lnTo>
                  <a:lnTo>
                    <a:pt x="1601502" y="0"/>
                  </a:lnTo>
                  <a:close/>
                </a:path>
              </a:pathLst>
            </a:custGeom>
            <a:solidFill>
              <a:srgbClr val="C2221E">
                <a:alpha val="89804"/>
              </a:srgbClr>
            </a:solidFill>
          </p:spPr>
        </p:sp>
        <p:sp>
          <p:nvSpPr>
            <p:cNvPr name="TextBox 5" id="5"/>
            <p:cNvSpPr txBox="true"/>
            <p:nvPr/>
          </p:nvSpPr>
          <p:spPr>
            <a:xfrm>
              <a:off x="0" y="-66675"/>
              <a:ext cx="1690402" cy="500670"/>
            </a:xfrm>
            <a:prstGeom prst="rect">
              <a:avLst/>
            </a:prstGeom>
          </p:spPr>
          <p:txBody>
            <a:bodyPr anchor="ctr" rtlCol="false" tIns="50800" lIns="50800" bIns="50800" rIns="50800"/>
            <a:lstStyle/>
            <a:p>
              <a:pPr algn="ctr">
                <a:lnSpc>
                  <a:spcPts val="3354"/>
                </a:lnSpc>
              </a:pPr>
            </a:p>
          </p:txBody>
        </p:sp>
      </p:grpSp>
      <p:grpSp>
        <p:nvGrpSpPr>
          <p:cNvPr name="Group 6" id="6"/>
          <p:cNvGrpSpPr/>
          <p:nvPr/>
        </p:nvGrpSpPr>
        <p:grpSpPr>
          <a:xfrm rot="-10800000">
            <a:off x="12121058" y="9438611"/>
            <a:ext cx="6219700" cy="1647825"/>
            <a:chOff x="0" y="0"/>
            <a:chExt cx="1638110" cy="433995"/>
          </a:xfrm>
        </p:grpSpPr>
        <p:sp>
          <p:nvSpPr>
            <p:cNvPr name="Freeform 7" id="7"/>
            <p:cNvSpPr/>
            <p:nvPr/>
          </p:nvSpPr>
          <p:spPr>
            <a:xfrm flipH="false" flipV="false" rot="0">
              <a:off x="0" y="0"/>
              <a:ext cx="1638110" cy="433995"/>
            </a:xfrm>
            <a:custGeom>
              <a:avLst/>
              <a:gdLst/>
              <a:ahLst/>
              <a:cxnLst/>
              <a:rect r="r" b="b" t="t" l="l"/>
              <a:pathLst>
                <a:path h="433995" w="1638110">
                  <a:moveTo>
                    <a:pt x="1434910" y="0"/>
                  </a:moveTo>
                  <a:lnTo>
                    <a:pt x="0" y="0"/>
                  </a:lnTo>
                  <a:lnTo>
                    <a:pt x="0" y="433995"/>
                  </a:lnTo>
                  <a:lnTo>
                    <a:pt x="1434910" y="433995"/>
                  </a:lnTo>
                  <a:lnTo>
                    <a:pt x="1638110" y="216998"/>
                  </a:lnTo>
                  <a:lnTo>
                    <a:pt x="1434910" y="0"/>
                  </a:lnTo>
                  <a:close/>
                </a:path>
              </a:pathLst>
            </a:custGeom>
            <a:solidFill>
              <a:srgbClr val="A60404">
                <a:alpha val="94902"/>
              </a:srgbClr>
            </a:solidFill>
          </p:spPr>
        </p:sp>
        <p:sp>
          <p:nvSpPr>
            <p:cNvPr name="TextBox 8" id="8"/>
            <p:cNvSpPr txBox="true"/>
            <p:nvPr/>
          </p:nvSpPr>
          <p:spPr>
            <a:xfrm>
              <a:off x="0" y="-66675"/>
              <a:ext cx="1523810" cy="500670"/>
            </a:xfrm>
            <a:prstGeom prst="rect">
              <a:avLst/>
            </a:prstGeom>
          </p:spPr>
          <p:txBody>
            <a:bodyPr anchor="ctr" rtlCol="false" tIns="50800" lIns="50800" bIns="50800" rIns="50800"/>
            <a:lstStyle/>
            <a:p>
              <a:pPr algn="ctr">
                <a:lnSpc>
                  <a:spcPts val="3354"/>
                </a:lnSpc>
              </a:pPr>
            </a:p>
          </p:txBody>
        </p:sp>
      </p:grpSp>
      <p:sp>
        <p:nvSpPr>
          <p:cNvPr name="Freeform 9" id="9"/>
          <p:cNvSpPr/>
          <p:nvPr/>
        </p:nvSpPr>
        <p:spPr>
          <a:xfrm flipH="false" flipV="false" rot="0">
            <a:off x="0" y="5323811"/>
            <a:ext cx="8343128" cy="8480943"/>
          </a:xfrm>
          <a:custGeom>
            <a:avLst/>
            <a:gdLst/>
            <a:ahLst/>
            <a:cxnLst/>
            <a:rect r="r" b="b" t="t" l="l"/>
            <a:pathLst>
              <a:path h="8480943" w="8343128">
                <a:moveTo>
                  <a:pt x="0" y="0"/>
                </a:moveTo>
                <a:lnTo>
                  <a:pt x="8343128" y="0"/>
                </a:lnTo>
                <a:lnTo>
                  <a:pt x="8343128" y="8480943"/>
                </a:lnTo>
                <a:lnTo>
                  <a:pt x="0" y="84809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4303868" y="8103869"/>
            <a:ext cx="2182207" cy="785595"/>
          </a:xfrm>
          <a:custGeom>
            <a:avLst/>
            <a:gdLst/>
            <a:ahLst/>
            <a:cxnLst/>
            <a:rect r="r" b="b" t="t" l="l"/>
            <a:pathLst>
              <a:path h="785595" w="2182207">
                <a:moveTo>
                  <a:pt x="0" y="0"/>
                </a:moveTo>
                <a:lnTo>
                  <a:pt x="2182207" y="0"/>
                </a:lnTo>
                <a:lnTo>
                  <a:pt x="2182207" y="785595"/>
                </a:lnTo>
                <a:lnTo>
                  <a:pt x="0" y="7855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0849619" y="-290756"/>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7">
              <a:alphaModFix amt="58000"/>
            </a:blip>
            <a:stretch>
              <a:fillRect l="0" t="0" r="0" b="0"/>
            </a:stretch>
          </a:blipFill>
        </p:spPr>
      </p:sp>
      <p:grpSp>
        <p:nvGrpSpPr>
          <p:cNvPr name="Group 12" id="12"/>
          <p:cNvGrpSpPr/>
          <p:nvPr/>
        </p:nvGrpSpPr>
        <p:grpSpPr>
          <a:xfrm rot="-10800000">
            <a:off x="11605227" y="-580983"/>
            <a:ext cx="4056912" cy="1161966"/>
            <a:chOff x="0" y="0"/>
            <a:chExt cx="1804702" cy="516896"/>
          </a:xfrm>
        </p:grpSpPr>
        <p:sp>
          <p:nvSpPr>
            <p:cNvPr name="Freeform 13" id="13"/>
            <p:cNvSpPr/>
            <p:nvPr/>
          </p:nvSpPr>
          <p:spPr>
            <a:xfrm flipH="false" flipV="false" rot="0">
              <a:off x="0" y="0"/>
              <a:ext cx="1804702" cy="516896"/>
            </a:xfrm>
            <a:custGeom>
              <a:avLst/>
              <a:gdLst/>
              <a:ahLst/>
              <a:cxnLst/>
              <a:rect r="r" b="b" t="t" l="l"/>
              <a:pathLst>
                <a:path h="516896" w="1804702">
                  <a:moveTo>
                    <a:pt x="1601502" y="0"/>
                  </a:moveTo>
                  <a:lnTo>
                    <a:pt x="0" y="0"/>
                  </a:lnTo>
                  <a:lnTo>
                    <a:pt x="0" y="516896"/>
                  </a:lnTo>
                  <a:lnTo>
                    <a:pt x="1601502" y="516896"/>
                  </a:lnTo>
                  <a:lnTo>
                    <a:pt x="1804702" y="258448"/>
                  </a:lnTo>
                  <a:lnTo>
                    <a:pt x="1601502" y="0"/>
                  </a:lnTo>
                  <a:close/>
                </a:path>
              </a:pathLst>
            </a:custGeom>
            <a:solidFill>
              <a:srgbClr val="C2221E"/>
            </a:solidFill>
          </p:spPr>
        </p:sp>
        <p:sp>
          <p:nvSpPr>
            <p:cNvPr name="TextBox 14" id="14"/>
            <p:cNvSpPr txBox="true"/>
            <p:nvPr/>
          </p:nvSpPr>
          <p:spPr>
            <a:xfrm>
              <a:off x="0" y="-66675"/>
              <a:ext cx="1690402" cy="583571"/>
            </a:xfrm>
            <a:prstGeom prst="rect">
              <a:avLst/>
            </a:prstGeom>
          </p:spPr>
          <p:txBody>
            <a:bodyPr anchor="ctr" rtlCol="false" tIns="50800" lIns="50800" bIns="50800" rIns="50800"/>
            <a:lstStyle/>
            <a:p>
              <a:pPr algn="ctr">
                <a:lnSpc>
                  <a:spcPts val="3354"/>
                </a:lnSpc>
              </a:pPr>
            </a:p>
          </p:txBody>
        </p:sp>
      </p:grpSp>
      <p:sp>
        <p:nvSpPr>
          <p:cNvPr name="Freeform 15" id="15"/>
          <p:cNvSpPr/>
          <p:nvPr/>
        </p:nvSpPr>
        <p:spPr>
          <a:xfrm flipH="false" flipV="false" rot="2700000">
            <a:off x="-3219165" y="2278281"/>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sp>
        <p:nvSpPr>
          <p:cNvPr name="Freeform 16" id="16"/>
          <p:cNvSpPr/>
          <p:nvPr/>
        </p:nvSpPr>
        <p:spPr>
          <a:xfrm flipH="false" flipV="false" rot="2700000">
            <a:off x="-1894385" y="5360347"/>
            <a:ext cx="5446652" cy="742106"/>
          </a:xfrm>
          <a:custGeom>
            <a:avLst/>
            <a:gdLst/>
            <a:ahLst/>
            <a:cxnLst/>
            <a:rect r="r" b="b" t="t" l="l"/>
            <a:pathLst>
              <a:path h="742106" w="5446652">
                <a:moveTo>
                  <a:pt x="0" y="0"/>
                </a:moveTo>
                <a:lnTo>
                  <a:pt x="5446651" y="0"/>
                </a:lnTo>
                <a:lnTo>
                  <a:pt x="5446651" y="742106"/>
                </a:lnTo>
                <a:lnTo>
                  <a:pt x="0" y="742106"/>
                </a:lnTo>
                <a:lnTo>
                  <a:pt x="0" y="0"/>
                </a:lnTo>
                <a:close/>
              </a:path>
            </a:pathLst>
          </a:custGeom>
          <a:blipFill>
            <a:blip r:embed="rId7">
              <a:alphaModFix amt="58000"/>
            </a:blip>
            <a:stretch>
              <a:fillRect l="0" t="0" r="0" b="0"/>
            </a:stretch>
          </a:blipFill>
        </p:spPr>
      </p:sp>
      <p:grpSp>
        <p:nvGrpSpPr>
          <p:cNvPr name="Group 17" id="17"/>
          <p:cNvGrpSpPr/>
          <p:nvPr/>
        </p:nvGrpSpPr>
        <p:grpSpPr>
          <a:xfrm rot="8100000">
            <a:off x="334442" y="-643781"/>
            <a:ext cx="1489966" cy="6332908"/>
            <a:chOff x="0" y="0"/>
            <a:chExt cx="392419" cy="1667926"/>
          </a:xfrm>
        </p:grpSpPr>
        <p:sp>
          <p:nvSpPr>
            <p:cNvPr name="Freeform 18" id="18"/>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9" id="19"/>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20" id="20"/>
          <p:cNvGrpSpPr/>
          <p:nvPr/>
        </p:nvGrpSpPr>
        <p:grpSpPr>
          <a:xfrm rot="8100000">
            <a:off x="614499" y="2529015"/>
            <a:ext cx="1345714" cy="5485156"/>
            <a:chOff x="0" y="0"/>
            <a:chExt cx="458618" cy="1869336"/>
          </a:xfrm>
        </p:grpSpPr>
        <p:sp>
          <p:nvSpPr>
            <p:cNvPr name="Freeform 21" id="21"/>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22" id="22"/>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23" id="23"/>
          <p:cNvGrpSpPr/>
          <p:nvPr/>
        </p:nvGrpSpPr>
        <p:grpSpPr>
          <a:xfrm rot="0">
            <a:off x="769637" y="2868292"/>
            <a:ext cx="6676970" cy="5738021"/>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blipFill>
              <a:blip r:embed="rId8"/>
              <a:stretch>
                <a:fillRect l="-4162" t="0" r="-2196" b="-1883"/>
              </a:stretch>
            </a:blipFill>
            <a:ln w="104775" cap="sq">
              <a:solidFill>
                <a:srgbClr val="FFFFFF"/>
              </a:solidFill>
              <a:prstDash val="solid"/>
              <a:miter/>
            </a:ln>
          </p:spPr>
        </p:sp>
      </p:grpSp>
      <p:grpSp>
        <p:nvGrpSpPr>
          <p:cNvPr name="Group 25" id="25"/>
          <p:cNvGrpSpPr/>
          <p:nvPr/>
        </p:nvGrpSpPr>
        <p:grpSpPr>
          <a:xfrm rot="-10800000">
            <a:off x="14658339" y="-580983"/>
            <a:ext cx="3682419" cy="1161966"/>
            <a:chOff x="0" y="0"/>
            <a:chExt cx="1638110" cy="516896"/>
          </a:xfrm>
        </p:grpSpPr>
        <p:sp>
          <p:nvSpPr>
            <p:cNvPr name="Freeform 26" id="26"/>
            <p:cNvSpPr/>
            <p:nvPr/>
          </p:nvSpPr>
          <p:spPr>
            <a:xfrm flipH="false" flipV="false" rot="0">
              <a:off x="0" y="0"/>
              <a:ext cx="1638110" cy="516896"/>
            </a:xfrm>
            <a:custGeom>
              <a:avLst/>
              <a:gdLst/>
              <a:ahLst/>
              <a:cxnLst/>
              <a:rect r="r" b="b" t="t" l="l"/>
              <a:pathLst>
                <a:path h="516896" w="1638110">
                  <a:moveTo>
                    <a:pt x="1434910" y="0"/>
                  </a:moveTo>
                  <a:lnTo>
                    <a:pt x="0" y="0"/>
                  </a:lnTo>
                  <a:lnTo>
                    <a:pt x="0" y="516896"/>
                  </a:lnTo>
                  <a:lnTo>
                    <a:pt x="1434910" y="516896"/>
                  </a:lnTo>
                  <a:lnTo>
                    <a:pt x="1638110" y="258448"/>
                  </a:lnTo>
                  <a:lnTo>
                    <a:pt x="1434910" y="0"/>
                  </a:lnTo>
                  <a:close/>
                </a:path>
              </a:pathLst>
            </a:custGeom>
            <a:solidFill>
              <a:srgbClr val="A60404"/>
            </a:solidFill>
          </p:spPr>
        </p:sp>
        <p:sp>
          <p:nvSpPr>
            <p:cNvPr name="TextBox 27" id="27"/>
            <p:cNvSpPr txBox="true"/>
            <p:nvPr/>
          </p:nvSpPr>
          <p:spPr>
            <a:xfrm>
              <a:off x="0" y="-66675"/>
              <a:ext cx="1523810" cy="583571"/>
            </a:xfrm>
            <a:prstGeom prst="rect">
              <a:avLst/>
            </a:prstGeom>
          </p:spPr>
          <p:txBody>
            <a:bodyPr anchor="ctr" rtlCol="false" tIns="50800" lIns="50800" bIns="50800" rIns="50800"/>
            <a:lstStyle/>
            <a:p>
              <a:pPr algn="ctr">
                <a:lnSpc>
                  <a:spcPts val="3354"/>
                </a:lnSpc>
              </a:pPr>
            </a:p>
          </p:txBody>
        </p:sp>
      </p:grpSp>
      <p:sp>
        <p:nvSpPr>
          <p:cNvPr name="TextBox 28" id="28"/>
          <p:cNvSpPr txBox="true"/>
          <p:nvPr/>
        </p:nvSpPr>
        <p:spPr>
          <a:xfrm rot="0">
            <a:off x="10716269" y="1372228"/>
            <a:ext cx="4137671" cy="761619"/>
          </a:xfrm>
          <a:prstGeom prst="rect">
            <a:avLst/>
          </a:prstGeom>
        </p:spPr>
        <p:txBody>
          <a:bodyPr anchor="t" rtlCol="false" tIns="0" lIns="0" bIns="0" rIns="0">
            <a:spAutoFit/>
          </a:bodyPr>
          <a:lstStyle/>
          <a:p>
            <a:pPr algn="ctr">
              <a:lnSpc>
                <a:spcPts val="5643"/>
              </a:lnSpc>
            </a:pPr>
            <a:r>
              <a:rPr lang="en-US" b="true" sz="5700">
                <a:solidFill>
                  <a:srgbClr val="A60404"/>
                </a:solidFill>
                <a:latin typeface="Garet Bold"/>
                <a:ea typeface="Garet Bold"/>
                <a:cs typeface="Garet Bold"/>
                <a:sym typeface="Garet Bold"/>
              </a:rPr>
              <a:t>ABOUT US</a:t>
            </a:r>
          </a:p>
        </p:txBody>
      </p:sp>
      <p:sp>
        <p:nvSpPr>
          <p:cNvPr name="TextBox 29" id="29"/>
          <p:cNvSpPr txBox="true"/>
          <p:nvPr/>
        </p:nvSpPr>
        <p:spPr>
          <a:xfrm rot="0">
            <a:off x="7609014" y="3335811"/>
            <a:ext cx="10529189" cy="4181671"/>
          </a:xfrm>
          <a:prstGeom prst="rect">
            <a:avLst/>
          </a:prstGeom>
        </p:spPr>
        <p:txBody>
          <a:bodyPr anchor="t" rtlCol="false" tIns="0" lIns="0" bIns="0" rIns="0">
            <a:spAutoFit/>
          </a:bodyPr>
          <a:lstStyle/>
          <a:p>
            <a:pPr algn="l">
              <a:lnSpc>
                <a:spcPts val="4189"/>
              </a:lnSpc>
              <a:spcBef>
                <a:spcPct val="0"/>
              </a:spcBef>
            </a:pPr>
            <a:r>
              <a:rPr lang="en-US" sz="2992">
                <a:solidFill>
                  <a:srgbClr val="A60404"/>
                </a:solidFill>
                <a:latin typeface="Didot LP"/>
                <a:ea typeface="Didot LP"/>
                <a:cs typeface="Didot LP"/>
                <a:sym typeface="Didot LP"/>
              </a:rPr>
              <a:t>Adinn Outdoor owns over 550 outdoor ad spaces across Tamil Nadu and extends even outside the state. Our media network spans diverse formats from billboards to police booths and we have successfully amplified brand visibility and achieved tangible results. We make sure your brand is visible to the right people at the ideal time. With 25 Years of Excellence, we know where to put your ads to get the most impact. If you want to reach more people and expand the visibility of your ads, we’re here to help.</a:t>
            </a:r>
          </a:p>
        </p:txBody>
      </p:sp>
      <p:sp>
        <p:nvSpPr>
          <p:cNvPr name="TextBox 30" id="30"/>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31" id="31"/>
          <p:cNvSpPr/>
          <p:nvPr/>
        </p:nvSpPr>
        <p:spPr>
          <a:xfrm flipH="false" flipV="false" rot="0">
            <a:off x="10361814" y="700037"/>
            <a:ext cx="4783852" cy="2058376"/>
          </a:xfrm>
          <a:custGeom>
            <a:avLst/>
            <a:gdLst/>
            <a:ahLst/>
            <a:cxnLst/>
            <a:rect r="r" b="b" t="t" l="l"/>
            <a:pathLst>
              <a:path h="2058376" w="4783852">
                <a:moveTo>
                  <a:pt x="0" y="0"/>
                </a:moveTo>
                <a:lnTo>
                  <a:pt x="4783852" y="0"/>
                </a:lnTo>
                <a:lnTo>
                  <a:pt x="4783852" y="2058376"/>
                </a:lnTo>
                <a:lnTo>
                  <a:pt x="0" y="2058376"/>
                </a:lnTo>
                <a:lnTo>
                  <a:pt x="0" y="0"/>
                </a:lnTo>
                <a:close/>
              </a:path>
            </a:pathLst>
          </a:custGeom>
          <a:blipFill>
            <a:blip r:embed="rId9">
              <a:alphaModFix amt="25000"/>
            </a:blip>
            <a:stretch>
              <a:fillRect l="-2031" t="-5759" r="-2031" b="-7608"/>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380382" y="1694572"/>
            <a:ext cx="1739903" cy="1340965"/>
            <a:chOff x="0" y="0"/>
            <a:chExt cx="458246" cy="353176"/>
          </a:xfrm>
        </p:grpSpPr>
        <p:sp>
          <p:nvSpPr>
            <p:cNvPr name="Freeform 4" id="4"/>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5" id="5"/>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grpSp>
        <p:nvGrpSpPr>
          <p:cNvPr name="Group 6" id="6"/>
          <p:cNvGrpSpPr/>
          <p:nvPr/>
        </p:nvGrpSpPr>
        <p:grpSpPr>
          <a:xfrm rot="0">
            <a:off x="10436986" y="3707285"/>
            <a:ext cx="6822314" cy="1340965"/>
            <a:chOff x="0" y="0"/>
            <a:chExt cx="1796824" cy="353176"/>
          </a:xfrm>
        </p:grpSpPr>
        <p:sp>
          <p:nvSpPr>
            <p:cNvPr name="Freeform 7" id="7"/>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8" id="8"/>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10436986" y="5762625"/>
            <a:ext cx="6822314" cy="1340965"/>
            <a:chOff x="0" y="0"/>
            <a:chExt cx="1796824" cy="353176"/>
          </a:xfrm>
        </p:grpSpPr>
        <p:sp>
          <p:nvSpPr>
            <p:cNvPr name="Freeform 10" id="10"/>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11" id="11"/>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10436986" y="7813438"/>
            <a:ext cx="6822314" cy="1340965"/>
            <a:chOff x="0" y="0"/>
            <a:chExt cx="1796824" cy="353176"/>
          </a:xfrm>
        </p:grpSpPr>
        <p:sp>
          <p:nvSpPr>
            <p:cNvPr name="Freeform 13" id="13"/>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14" id="14"/>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8380382" y="3707285"/>
            <a:ext cx="1739903" cy="1340965"/>
            <a:chOff x="0" y="0"/>
            <a:chExt cx="458246" cy="353176"/>
          </a:xfrm>
        </p:grpSpPr>
        <p:sp>
          <p:nvSpPr>
            <p:cNvPr name="Freeform 16" id="16"/>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17" id="17"/>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8380382" y="5762625"/>
            <a:ext cx="1739903" cy="1340965"/>
            <a:chOff x="0" y="0"/>
            <a:chExt cx="458246" cy="353176"/>
          </a:xfrm>
        </p:grpSpPr>
        <p:sp>
          <p:nvSpPr>
            <p:cNvPr name="Freeform 19" id="19"/>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20" id="20"/>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8380382" y="7813438"/>
            <a:ext cx="1739903" cy="1340965"/>
            <a:chOff x="0" y="0"/>
            <a:chExt cx="458246" cy="353176"/>
          </a:xfrm>
        </p:grpSpPr>
        <p:sp>
          <p:nvSpPr>
            <p:cNvPr name="Freeform 22" id="22"/>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23" id="23"/>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sp>
        <p:nvSpPr>
          <p:cNvPr name="Freeform 24" id="24"/>
          <p:cNvSpPr/>
          <p:nvPr/>
        </p:nvSpPr>
        <p:spPr>
          <a:xfrm flipH="false" flipV="false" rot="0">
            <a:off x="8492748" y="1911987"/>
            <a:ext cx="1512588" cy="985673"/>
          </a:xfrm>
          <a:custGeom>
            <a:avLst/>
            <a:gdLst/>
            <a:ahLst/>
            <a:cxnLst/>
            <a:rect r="r" b="b" t="t" l="l"/>
            <a:pathLst>
              <a:path h="985673" w="1512588">
                <a:moveTo>
                  <a:pt x="0" y="0"/>
                </a:moveTo>
                <a:lnTo>
                  <a:pt x="1512589" y="0"/>
                </a:lnTo>
                <a:lnTo>
                  <a:pt x="1512589" y="985673"/>
                </a:lnTo>
                <a:lnTo>
                  <a:pt x="0" y="985673"/>
                </a:lnTo>
                <a:lnTo>
                  <a:pt x="0" y="0"/>
                </a:lnTo>
                <a:close/>
              </a:path>
            </a:pathLst>
          </a:custGeom>
          <a:blipFill>
            <a:blip r:embed="rId3"/>
            <a:stretch>
              <a:fillRect l="0" t="0" r="0" b="0"/>
            </a:stretch>
          </a:blipFill>
        </p:spPr>
      </p:sp>
      <p:sp>
        <p:nvSpPr>
          <p:cNvPr name="Freeform 25" id="25"/>
          <p:cNvSpPr/>
          <p:nvPr/>
        </p:nvSpPr>
        <p:spPr>
          <a:xfrm flipH="false" flipV="false" rot="0">
            <a:off x="8678041" y="3885194"/>
            <a:ext cx="1085773" cy="1063539"/>
          </a:xfrm>
          <a:custGeom>
            <a:avLst/>
            <a:gdLst/>
            <a:ahLst/>
            <a:cxnLst/>
            <a:rect r="r" b="b" t="t" l="l"/>
            <a:pathLst>
              <a:path h="1063539" w="1085773">
                <a:moveTo>
                  <a:pt x="0" y="0"/>
                </a:moveTo>
                <a:lnTo>
                  <a:pt x="1085773" y="0"/>
                </a:lnTo>
                <a:lnTo>
                  <a:pt x="1085773" y="1063539"/>
                </a:lnTo>
                <a:lnTo>
                  <a:pt x="0" y="1063539"/>
                </a:lnTo>
                <a:lnTo>
                  <a:pt x="0" y="0"/>
                </a:lnTo>
                <a:close/>
              </a:path>
            </a:pathLst>
          </a:custGeom>
          <a:blipFill>
            <a:blip r:embed="rId4"/>
            <a:stretch>
              <a:fillRect l="0" t="0" r="0" b="0"/>
            </a:stretch>
          </a:blipFill>
        </p:spPr>
      </p:sp>
      <p:sp>
        <p:nvSpPr>
          <p:cNvPr name="Freeform 26" id="26"/>
          <p:cNvSpPr/>
          <p:nvPr/>
        </p:nvSpPr>
        <p:spPr>
          <a:xfrm flipH="false" flipV="false" rot="0">
            <a:off x="8762765" y="6048801"/>
            <a:ext cx="892527" cy="896119"/>
          </a:xfrm>
          <a:custGeom>
            <a:avLst/>
            <a:gdLst/>
            <a:ahLst/>
            <a:cxnLst/>
            <a:rect r="r" b="b" t="t" l="l"/>
            <a:pathLst>
              <a:path h="896119" w="892527">
                <a:moveTo>
                  <a:pt x="0" y="0"/>
                </a:moveTo>
                <a:lnTo>
                  <a:pt x="892528" y="0"/>
                </a:lnTo>
                <a:lnTo>
                  <a:pt x="892528" y="896118"/>
                </a:lnTo>
                <a:lnTo>
                  <a:pt x="0" y="896118"/>
                </a:lnTo>
                <a:lnTo>
                  <a:pt x="0" y="0"/>
                </a:lnTo>
                <a:close/>
              </a:path>
            </a:pathLst>
          </a:custGeom>
          <a:blipFill>
            <a:blip r:embed="rId5"/>
            <a:stretch>
              <a:fillRect l="0" t="0" r="0" b="0"/>
            </a:stretch>
          </a:blipFill>
        </p:spPr>
      </p:sp>
      <p:grpSp>
        <p:nvGrpSpPr>
          <p:cNvPr name="Group 27" id="27"/>
          <p:cNvGrpSpPr/>
          <p:nvPr/>
        </p:nvGrpSpPr>
        <p:grpSpPr>
          <a:xfrm rot="-10800000">
            <a:off x="9711543" y="9810750"/>
            <a:ext cx="6045787" cy="1275686"/>
            <a:chOff x="0" y="0"/>
            <a:chExt cx="1804702" cy="380800"/>
          </a:xfrm>
        </p:grpSpPr>
        <p:sp>
          <p:nvSpPr>
            <p:cNvPr name="Freeform 28" id="28"/>
            <p:cNvSpPr/>
            <p:nvPr/>
          </p:nvSpPr>
          <p:spPr>
            <a:xfrm flipH="false" flipV="false" rot="0">
              <a:off x="0" y="0"/>
              <a:ext cx="1804702" cy="380800"/>
            </a:xfrm>
            <a:custGeom>
              <a:avLst/>
              <a:gdLst/>
              <a:ahLst/>
              <a:cxnLst/>
              <a:rect r="r" b="b" t="t" l="l"/>
              <a:pathLst>
                <a:path h="380800" w="1804702">
                  <a:moveTo>
                    <a:pt x="1601502" y="0"/>
                  </a:moveTo>
                  <a:lnTo>
                    <a:pt x="0" y="0"/>
                  </a:lnTo>
                  <a:lnTo>
                    <a:pt x="0" y="380800"/>
                  </a:lnTo>
                  <a:lnTo>
                    <a:pt x="1601502" y="380800"/>
                  </a:lnTo>
                  <a:lnTo>
                    <a:pt x="1804702" y="190400"/>
                  </a:lnTo>
                  <a:lnTo>
                    <a:pt x="1601502" y="0"/>
                  </a:lnTo>
                  <a:close/>
                </a:path>
              </a:pathLst>
            </a:custGeom>
            <a:solidFill>
              <a:srgbClr val="C2221E"/>
            </a:solidFill>
          </p:spPr>
        </p:sp>
        <p:sp>
          <p:nvSpPr>
            <p:cNvPr name="TextBox 29" id="29"/>
            <p:cNvSpPr txBox="true"/>
            <p:nvPr/>
          </p:nvSpPr>
          <p:spPr>
            <a:xfrm>
              <a:off x="0" y="-66675"/>
              <a:ext cx="1690402" cy="447475"/>
            </a:xfrm>
            <a:prstGeom prst="rect">
              <a:avLst/>
            </a:prstGeom>
          </p:spPr>
          <p:txBody>
            <a:bodyPr anchor="ctr" rtlCol="false" tIns="50800" lIns="50800" bIns="50800" rIns="50800"/>
            <a:lstStyle/>
            <a:p>
              <a:pPr algn="ctr">
                <a:lnSpc>
                  <a:spcPts val="3354"/>
                </a:lnSpc>
              </a:pPr>
            </a:p>
          </p:txBody>
        </p:sp>
      </p:grpSp>
      <p:grpSp>
        <p:nvGrpSpPr>
          <p:cNvPr name="Group 30" id="30"/>
          <p:cNvGrpSpPr/>
          <p:nvPr/>
        </p:nvGrpSpPr>
        <p:grpSpPr>
          <a:xfrm rot="-10800000">
            <a:off x="14261422" y="9810750"/>
            <a:ext cx="5487701" cy="1275686"/>
            <a:chOff x="0" y="0"/>
            <a:chExt cx="1638110" cy="380800"/>
          </a:xfrm>
        </p:grpSpPr>
        <p:sp>
          <p:nvSpPr>
            <p:cNvPr name="Freeform 31" id="31"/>
            <p:cNvSpPr/>
            <p:nvPr/>
          </p:nvSpPr>
          <p:spPr>
            <a:xfrm flipH="false" flipV="false" rot="0">
              <a:off x="0" y="0"/>
              <a:ext cx="1638110" cy="380800"/>
            </a:xfrm>
            <a:custGeom>
              <a:avLst/>
              <a:gdLst/>
              <a:ahLst/>
              <a:cxnLst/>
              <a:rect r="r" b="b" t="t" l="l"/>
              <a:pathLst>
                <a:path h="380800" w="1638110">
                  <a:moveTo>
                    <a:pt x="1434910" y="0"/>
                  </a:moveTo>
                  <a:lnTo>
                    <a:pt x="0" y="0"/>
                  </a:lnTo>
                  <a:lnTo>
                    <a:pt x="0" y="380800"/>
                  </a:lnTo>
                  <a:lnTo>
                    <a:pt x="1434910" y="380800"/>
                  </a:lnTo>
                  <a:lnTo>
                    <a:pt x="1638110" y="190400"/>
                  </a:lnTo>
                  <a:lnTo>
                    <a:pt x="1434910" y="0"/>
                  </a:lnTo>
                  <a:close/>
                </a:path>
              </a:pathLst>
            </a:custGeom>
            <a:solidFill>
              <a:srgbClr val="A60404"/>
            </a:solidFill>
          </p:spPr>
        </p:sp>
        <p:sp>
          <p:nvSpPr>
            <p:cNvPr name="TextBox 32" id="32"/>
            <p:cNvSpPr txBox="true"/>
            <p:nvPr/>
          </p:nvSpPr>
          <p:spPr>
            <a:xfrm>
              <a:off x="0" y="-66675"/>
              <a:ext cx="1523810" cy="447475"/>
            </a:xfrm>
            <a:prstGeom prst="rect">
              <a:avLst/>
            </a:prstGeom>
          </p:spPr>
          <p:txBody>
            <a:bodyPr anchor="ctr" rtlCol="false" tIns="50800" lIns="50800" bIns="50800" rIns="50800"/>
            <a:lstStyle/>
            <a:p>
              <a:pPr algn="ctr">
                <a:lnSpc>
                  <a:spcPts val="3354"/>
                </a:lnSpc>
              </a:pPr>
            </a:p>
          </p:txBody>
        </p:sp>
      </p:grpSp>
      <p:grpSp>
        <p:nvGrpSpPr>
          <p:cNvPr name="Group 33" id="33"/>
          <p:cNvGrpSpPr/>
          <p:nvPr/>
        </p:nvGrpSpPr>
        <p:grpSpPr>
          <a:xfrm rot="0">
            <a:off x="10436986" y="1694572"/>
            <a:ext cx="6822314" cy="1340965"/>
            <a:chOff x="0" y="0"/>
            <a:chExt cx="1796824" cy="353176"/>
          </a:xfrm>
        </p:grpSpPr>
        <p:sp>
          <p:nvSpPr>
            <p:cNvPr name="Freeform 34" id="34"/>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35" id="35"/>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sp>
        <p:nvSpPr>
          <p:cNvPr name="Freeform 36" id="36"/>
          <p:cNvSpPr/>
          <p:nvPr/>
        </p:nvSpPr>
        <p:spPr>
          <a:xfrm flipH="false" flipV="false" rot="0">
            <a:off x="8659899" y="7956703"/>
            <a:ext cx="1122057" cy="1103823"/>
          </a:xfrm>
          <a:custGeom>
            <a:avLst/>
            <a:gdLst/>
            <a:ahLst/>
            <a:cxnLst/>
            <a:rect r="r" b="b" t="t" l="l"/>
            <a:pathLst>
              <a:path h="1103823" w="1122057">
                <a:moveTo>
                  <a:pt x="0" y="0"/>
                </a:moveTo>
                <a:lnTo>
                  <a:pt x="1122057" y="0"/>
                </a:lnTo>
                <a:lnTo>
                  <a:pt x="1122057" y="1103824"/>
                </a:lnTo>
                <a:lnTo>
                  <a:pt x="0" y="11038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88678" y="2443359"/>
            <a:ext cx="7977379" cy="6138377"/>
          </a:xfrm>
          <a:custGeom>
            <a:avLst/>
            <a:gdLst/>
            <a:ahLst/>
            <a:cxnLst/>
            <a:rect r="r" b="b" t="t" l="l"/>
            <a:pathLst>
              <a:path h="6138377" w="7977379">
                <a:moveTo>
                  <a:pt x="0" y="0"/>
                </a:moveTo>
                <a:lnTo>
                  <a:pt x="7977379" y="0"/>
                </a:lnTo>
                <a:lnTo>
                  <a:pt x="7977379" y="6138378"/>
                </a:lnTo>
                <a:lnTo>
                  <a:pt x="0" y="6138378"/>
                </a:lnTo>
                <a:lnTo>
                  <a:pt x="0" y="0"/>
                </a:lnTo>
                <a:close/>
              </a:path>
            </a:pathLst>
          </a:custGeom>
          <a:blipFill>
            <a:blip r:embed="rId8">
              <a:alphaModFix amt="65000"/>
            </a:blip>
            <a:stretch>
              <a:fillRect l="0" t="0" r="-3940" b="0"/>
            </a:stretch>
          </a:blipFill>
        </p:spPr>
      </p:sp>
      <p:sp>
        <p:nvSpPr>
          <p:cNvPr name="TextBox 38" id="38"/>
          <p:cNvSpPr txBox="true"/>
          <p:nvPr/>
        </p:nvSpPr>
        <p:spPr>
          <a:xfrm rot="0">
            <a:off x="2604685" y="569555"/>
            <a:ext cx="13291298" cy="803989"/>
          </a:xfrm>
          <a:prstGeom prst="rect">
            <a:avLst/>
          </a:prstGeom>
        </p:spPr>
        <p:txBody>
          <a:bodyPr anchor="t" rtlCol="false" tIns="0" lIns="0" bIns="0" rIns="0">
            <a:spAutoFit/>
          </a:bodyPr>
          <a:lstStyle/>
          <a:p>
            <a:pPr algn="l" marL="0" indent="0" lvl="0">
              <a:lnSpc>
                <a:spcPts val="6231"/>
              </a:lnSpc>
            </a:pPr>
            <a:r>
              <a:rPr lang="en-US" sz="5281" spc="327">
                <a:gradFill>
                  <a:gsLst>
                    <a:gs pos="0">
                      <a:srgbClr val="731919">
                        <a:alpha val="85000"/>
                      </a:srgbClr>
                    </a:gs>
                    <a:gs pos="100000">
                      <a:srgbClr val="E52B2B">
                        <a:alpha val="85000"/>
                      </a:srgbClr>
                    </a:gs>
                  </a:gsLst>
                  <a:lin ang="5400000"/>
                </a:gradFill>
                <a:latin typeface="Futura Display"/>
                <a:ea typeface="Futura Display"/>
                <a:cs typeface="Futura Display"/>
                <a:sym typeface="Futura Display"/>
              </a:rPr>
              <a:t>Why Leading Brands Choose Adinn Advertising</a:t>
            </a:r>
          </a:p>
        </p:txBody>
      </p:sp>
      <p:sp>
        <p:nvSpPr>
          <p:cNvPr name="TextBox 39" id="39"/>
          <p:cNvSpPr txBox="true"/>
          <p:nvPr/>
        </p:nvSpPr>
        <p:spPr>
          <a:xfrm rot="0">
            <a:off x="10853971" y="3923780"/>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End-to-End Expertise</a:t>
            </a:r>
          </a:p>
          <a:p>
            <a:pPr algn="l" marL="0" indent="0" lvl="0">
              <a:lnSpc>
                <a:spcPts val="2410"/>
              </a:lnSpc>
            </a:pPr>
            <a:r>
              <a:rPr lang="en-US" sz="1721">
                <a:solidFill>
                  <a:srgbClr val="FFFFFF"/>
                </a:solidFill>
                <a:latin typeface="Roboto"/>
                <a:ea typeface="Roboto"/>
                <a:cs typeface="Roboto"/>
                <a:sym typeface="Roboto"/>
              </a:rPr>
              <a:t>Seamless handling from planning and approvals to execution and maintenance.</a:t>
            </a:r>
          </a:p>
        </p:txBody>
      </p:sp>
      <p:sp>
        <p:nvSpPr>
          <p:cNvPr name="TextBox 40" id="40"/>
          <p:cNvSpPr txBox="true"/>
          <p:nvPr/>
        </p:nvSpPr>
        <p:spPr>
          <a:xfrm rot="0">
            <a:off x="10853971" y="6003415"/>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Uncompromising Quality Standards</a:t>
            </a:r>
          </a:p>
          <a:p>
            <a:pPr algn="l" marL="0" indent="0" lvl="0">
              <a:lnSpc>
                <a:spcPts val="2410"/>
              </a:lnSpc>
            </a:pPr>
            <a:r>
              <a:rPr lang="en-US" sz="1721">
                <a:solidFill>
                  <a:srgbClr val="FFFFFF"/>
                </a:solidFill>
                <a:latin typeface="Roboto"/>
                <a:ea typeface="Roboto"/>
                <a:cs typeface="Roboto"/>
                <a:sym typeface="Roboto"/>
              </a:rPr>
              <a:t>Premium materials and consistent upkeep that protect brand image.</a:t>
            </a:r>
          </a:p>
        </p:txBody>
      </p:sp>
      <p:sp>
        <p:nvSpPr>
          <p:cNvPr name="TextBox 41" id="41"/>
          <p:cNvSpPr txBox="true"/>
          <p:nvPr/>
        </p:nvSpPr>
        <p:spPr>
          <a:xfrm rot="0">
            <a:off x="10853971" y="8054228"/>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Trusted Partnership</a:t>
            </a:r>
          </a:p>
          <a:p>
            <a:pPr algn="l" marL="0" indent="0" lvl="0">
              <a:lnSpc>
                <a:spcPts val="2410"/>
              </a:lnSpc>
            </a:pPr>
            <a:r>
              <a:rPr lang="en-US" sz="1721">
                <a:solidFill>
                  <a:srgbClr val="FFFFFF"/>
                </a:solidFill>
                <a:latin typeface="Roboto"/>
                <a:ea typeface="Roboto"/>
                <a:cs typeface="Roboto"/>
                <a:sym typeface="Roboto"/>
              </a:rPr>
              <a:t>Clear pricing, timely delivery, and reliable communication throughout the campaign</a:t>
            </a:r>
          </a:p>
        </p:txBody>
      </p:sp>
      <p:sp>
        <p:nvSpPr>
          <p:cNvPr name="TextBox 42" id="42"/>
          <p:cNvSpPr txBox="true"/>
          <p:nvPr/>
        </p:nvSpPr>
        <p:spPr>
          <a:xfrm rot="0">
            <a:off x="10853971" y="1868316"/>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Prime, High-Impact Locations</a:t>
            </a:r>
          </a:p>
          <a:p>
            <a:pPr algn="l" marL="0" indent="0" lvl="0">
              <a:lnSpc>
                <a:spcPts val="2410"/>
              </a:lnSpc>
            </a:pPr>
            <a:r>
              <a:rPr lang="en-US" sz="1721">
                <a:solidFill>
                  <a:srgbClr val="FFFFFF"/>
                </a:solidFill>
                <a:latin typeface="Roboto"/>
                <a:ea typeface="Roboto"/>
                <a:cs typeface="Roboto"/>
                <a:sym typeface="Roboto"/>
              </a:rPr>
              <a:t>Strategically positioned sites that maximize visibility and audience reach.</a:t>
            </a:r>
          </a:p>
        </p:txBody>
      </p:sp>
      <p:sp>
        <p:nvSpPr>
          <p:cNvPr name="Freeform 43" id="43"/>
          <p:cNvSpPr/>
          <p:nvPr/>
        </p:nvSpPr>
        <p:spPr>
          <a:xfrm flipH="true" flipV="false" rot="312138">
            <a:off x="-1634302" y="6664138"/>
            <a:ext cx="6968721" cy="4616778"/>
          </a:xfrm>
          <a:custGeom>
            <a:avLst/>
            <a:gdLst/>
            <a:ahLst/>
            <a:cxnLst/>
            <a:rect r="r" b="b" t="t" l="l"/>
            <a:pathLst>
              <a:path h="4616778" w="6968721">
                <a:moveTo>
                  <a:pt x="6968721" y="0"/>
                </a:moveTo>
                <a:lnTo>
                  <a:pt x="0" y="0"/>
                </a:lnTo>
                <a:lnTo>
                  <a:pt x="0" y="4616778"/>
                </a:lnTo>
                <a:lnTo>
                  <a:pt x="6968721" y="4616778"/>
                </a:lnTo>
                <a:lnTo>
                  <a:pt x="6968721"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4" id="44"/>
          <p:cNvGrpSpPr/>
          <p:nvPr/>
        </p:nvGrpSpPr>
        <p:grpSpPr>
          <a:xfrm rot="0">
            <a:off x="2534461" y="9810750"/>
            <a:ext cx="6045787" cy="1275686"/>
            <a:chOff x="0" y="0"/>
            <a:chExt cx="1804702" cy="380800"/>
          </a:xfrm>
        </p:grpSpPr>
        <p:sp>
          <p:nvSpPr>
            <p:cNvPr name="Freeform 45" id="45"/>
            <p:cNvSpPr/>
            <p:nvPr/>
          </p:nvSpPr>
          <p:spPr>
            <a:xfrm flipH="false" flipV="false" rot="0">
              <a:off x="0" y="0"/>
              <a:ext cx="1804702" cy="380800"/>
            </a:xfrm>
            <a:custGeom>
              <a:avLst/>
              <a:gdLst/>
              <a:ahLst/>
              <a:cxnLst/>
              <a:rect r="r" b="b" t="t" l="l"/>
              <a:pathLst>
                <a:path h="380800" w="1804702">
                  <a:moveTo>
                    <a:pt x="1601502" y="0"/>
                  </a:moveTo>
                  <a:lnTo>
                    <a:pt x="0" y="0"/>
                  </a:lnTo>
                  <a:lnTo>
                    <a:pt x="0" y="380800"/>
                  </a:lnTo>
                  <a:lnTo>
                    <a:pt x="1601502" y="380800"/>
                  </a:lnTo>
                  <a:lnTo>
                    <a:pt x="1804702" y="190400"/>
                  </a:lnTo>
                  <a:lnTo>
                    <a:pt x="1601502" y="0"/>
                  </a:lnTo>
                  <a:close/>
                </a:path>
              </a:pathLst>
            </a:custGeom>
            <a:solidFill>
              <a:srgbClr val="C2221E"/>
            </a:solidFill>
          </p:spPr>
        </p:sp>
        <p:sp>
          <p:nvSpPr>
            <p:cNvPr name="TextBox 46" id="46"/>
            <p:cNvSpPr txBox="true"/>
            <p:nvPr/>
          </p:nvSpPr>
          <p:spPr>
            <a:xfrm>
              <a:off x="0" y="-66675"/>
              <a:ext cx="1690402" cy="447475"/>
            </a:xfrm>
            <a:prstGeom prst="rect">
              <a:avLst/>
            </a:prstGeom>
          </p:spPr>
          <p:txBody>
            <a:bodyPr anchor="ctr" rtlCol="false" tIns="50800" lIns="50800" bIns="50800" rIns="50800"/>
            <a:lstStyle/>
            <a:p>
              <a:pPr algn="ctr">
                <a:lnSpc>
                  <a:spcPts val="3354"/>
                </a:lnSpc>
              </a:pPr>
            </a:p>
          </p:txBody>
        </p:sp>
      </p:grpSp>
      <p:grpSp>
        <p:nvGrpSpPr>
          <p:cNvPr name="Group 47" id="47"/>
          <p:cNvGrpSpPr/>
          <p:nvPr/>
        </p:nvGrpSpPr>
        <p:grpSpPr>
          <a:xfrm rot="0">
            <a:off x="-1457333" y="9810750"/>
            <a:ext cx="5487701" cy="1275686"/>
            <a:chOff x="0" y="0"/>
            <a:chExt cx="1638110" cy="380800"/>
          </a:xfrm>
        </p:grpSpPr>
        <p:sp>
          <p:nvSpPr>
            <p:cNvPr name="Freeform 48" id="48"/>
            <p:cNvSpPr/>
            <p:nvPr/>
          </p:nvSpPr>
          <p:spPr>
            <a:xfrm flipH="false" flipV="false" rot="0">
              <a:off x="0" y="0"/>
              <a:ext cx="1638110" cy="380800"/>
            </a:xfrm>
            <a:custGeom>
              <a:avLst/>
              <a:gdLst/>
              <a:ahLst/>
              <a:cxnLst/>
              <a:rect r="r" b="b" t="t" l="l"/>
              <a:pathLst>
                <a:path h="380800" w="1638110">
                  <a:moveTo>
                    <a:pt x="1434910" y="0"/>
                  </a:moveTo>
                  <a:lnTo>
                    <a:pt x="0" y="0"/>
                  </a:lnTo>
                  <a:lnTo>
                    <a:pt x="0" y="380800"/>
                  </a:lnTo>
                  <a:lnTo>
                    <a:pt x="1434910" y="380800"/>
                  </a:lnTo>
                  <a:lnTo>
                    <a:pt x="1638110" y="190400"/>
                  </a:lnTo>
                  <a:lnTo>
                    <a:pt x="1434910" y="0"/>
                  </a:lnTo>
                  <a:close/>
                </a:path>
              </a:pathLst>
            </a:custGeom>
            <a:solidFill>
              <a:srgbClr val="A60404"/>
            </a:solidFill>
          </p:spPr>
        </p:sp>
        <p:sp>
          <p:nvSpPr>
            <p:cNvPr name="TextBox 49" id="49"/>
            <p:cNvSpPr txBox="true"/>
            <p:nvPr/>
          </p:nvSpPr>
          <p:spPr>
            <a:xfrm>
              <a:off x="0" y="-66675"/>
              <a:ext cx="1523810" cy="447475"/>
            </a:xfrm>
            <a:prstGeom prst="rect">
              <a:avLst/>
            </a:prstGeom>
          </p:spPr>
          <p:txBody>
            <a:bodyPr anchor="ctr" rtlCol="false" tIns="50800" lIns="50800" bIns="50800" rIns="50800"/>
            <a:lstStyle/>
            <a:p>
              <a:pPr algn="ctr">
                <a:lnSpc>
                  <a:spcPts val="3354"/>
                </a:lnSpc>
              </a:pPr>
            </a:p>
          </p:txBody>
        </p:sp>
      </p:grpSp>
      <p:sp>
        <p:nvSpPr>
          <p:cNvPr name="Freeform 50" id="50"/>
          <p:cNvSpPr/>
          <p:nvPr/>
        </p:nvSpPr>
        <p:spPr>
          <a:xfrm flipH="false" flipV="false" rot="0">
            <a:off x="6128553" y="8763050"/>
            <a:ext cx="1652649" cy="594954"/>
          </a:xfrm>
          <a:custGeom>
            <a:avLst/>
            <a:gdLst/>
            <a:ahLst/>
            <a:cxnLst/>
            <a:rect r="r" b="b" t="t" l="l"/>
            <a:pathLst>
              <a:path h="594954" w="1652649">
                <a:moveTo>
                  <a:pt x="0" y="0"/>
                </a:moveTo>
                <a:lnTo>
                  <a:pt x="1652650" y="0"/>
                </a:lnTo>
                <a:lnTo>
                  <a:pt x="1652650" y="594953"/>
                </a:lnTo>
                <a:lnTo>
                  <a:pt x="0" y="59495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1" id="51"/>
          <p:cNvSpPr/>
          <p:nvPr/>
        </p:nvSpPr>
        <p:spPr>
          <a:xfrm flipH="false" flipV="false" rot="-2700000">
            <a:off x="-1401161" y="708211"/>
            <a:ext cx="4953339" cy="674892"/>
          </a:xfrm>
          <a:custGeom>
            <a:avLst/>
            <a:gdLst/>
            <a:ahLst/>
            <a:cxnLst/>
            <a:rect r="r" b="b" t="t" l="l"/>
            <a:pathLst>
              <a:path h="674892" w="4953339">
                <a:moveTo>
                  <a:pt x="0" y="0"/>
                </a:moveTo>
                <a:lnTo>
                  <a:pt x="4953339" y="0"/>
                </a:lnTo>
                <a:lnTo>
                  <a:pt x="4953339" y="674892"/>
                </a:lnTo>
                <a:lnTo>
                  <a:pt x="0" y="674892"/>
                </a:lnTo>
                <a:lnTo>
                  <a:pt x="0" y="0"/>
                </a:lnTo>
                <a:close/>
              </a:path>
            </a:pathLst>
          </a:custGeom>
          <a:blipFill>
            <a:blip r:embed="rId13">
              <a:alphaModFix amt="58000"/>
            </a:blip>
            <a:stretch>
              <a:fillRect l="0" t="0" r="0" b="0"/>
            </a:stretch>
          </a:blipFill>
        </p:spPr>
      </p:sp>
      <p:sp>
        <p:nvSpPr>
          <p:cNvPr name="Freeform 52" id="52"/>
          <p:cNvSpPr/>
          <p:nvPr/>
        </p:nvSpPr>
        <p:spPr>
          <a:xfrm flipH="false" flipV="false" rot="-2700000">
            <a:off x="-1047505" y="343322"/>
            <a:ext cx="3181450" cy="433473"/>
          </a:xfrm>
          <a:custGeom>
            <a:avLst/>
            <a:gdLst/>
            <a:ahLst/>
            <a:cxnLst/>
            <a:rect r="r" b="b" t="t" l="l"/>
            <a:pathLst>
              <a:path h="433473" w="3181450">
                <a:moveTo>
                  <a:pt x="0" y="0"/>
                </a:moveTo>
                <a:lnTo>
                  <a:pt x="3181450" y="0"/>
                </a:lnTo>
                <a:lnTo>
                  <a:pt x="3181450" y="433473"/>
                </a:lnTo>
                <a:lnTo>
                  <a:pt x="0" y="433473"/>
                </a:lnTo>
                <a:lnTo>
                  <a:pt x="0" y="0"/>
                </a:lnTo>
                <a:close/>
              </a:path>
            </a:pathLst>
          </a:custGeom>
          <a:blipFill>
            <a:blip r:embed="rId13">
              <a:alphaModFix amt="58000"/>
            </a:blip>
            <a:stretch>
              <a:fillRect l="0" t="0" r="0" b="0"/>
            </a:stretch>
          </a:blipFill>
        </p:spPr>
      </p:sp>
      <p:grpSp>
        <p:nvGrpSpPr>
          <p:cNvPr name="Group 53" id="53"/>
          <p:cNvGrpSpPr/>
          <p:nvPr/>
        </p:nvGrpSpPr>
        <p:grpSpPr>
          <a:xfrm rot="2700000">
            <a:off x="548811" y="-1083809"/>
            <a:ext cx="658929" cy="4088628"/>
            <a:chOff x="0" y="0"/>
            <a:chExt cx="384452" cy="2385506"/>
          </a:xfrm>
        </p:grpSpPr>
        <p:sp>
          <p:nvSpPr>
            <p:cNvPr name="Freeform 54" id="54"/>
            <p:cNvSpPr/>
            <p:nvPr/>
          </p:nvSpPr>
          <p:spPr>
            <a:xfrm flipH="false" flipV="false" rot="0">
              <a:off x="0" y="0"/>
              <a:ext cx="384452" cy="2385506"/>
            </a:xfrm>
            <a:custGeom>
              <a:avLst/>
              <a:gdLst/>
              <a:ahLst/>
              <a:cxnLst/>
              <a:rect r="r" b="b" t="t" l="l"/>
              <a:pathLst>
                <a:path h="2385506" w="384452">
                  <a:moveTo>
                    <a:pt x="0" y="0"/>
                  </a:moveTo>
                  <a:lnTo>
                    <a:pt x="384452" y="0"/>
                  </a:lnTo>
                  <a:lnTo>
                    <a:pt x="384452" y="2385506"/>
                  </a:lnTo>
                  <a:lnTo>
                    <a:pt x="0" y="2385506"/>
                  </a:lnTo>
                  <a:close/>
                </a:path>
              </a:pathLst>
            </a:custGeom>
            <a:solidFill>
              <a:srgbClr val="C2221E"/>
            </a:solidFill>
          </p:spPr>
        </p:sp>
        <p:sp>
          <p:nvSpPr>
            <p:cNvPr name="TextBox 55" id="55"/>
            <p:cNvSpPr txBox="true"/>
            <p:nvPr/>
          </p:nvSpPr>
          <p:spPr>
            <a:xfrm>
              <a:off x="0" y="-66675"/>
              <a:ext cx="384452" cy="2452181"/>
            </a:xfrm>
            <a:prstGeom prst="rect">
              <a:avLst/>
            </a:prstGeom>
          </p:spPr>
          <p:txBody>
            <a:bodyPr anchor="ctr" rtlCol="false" tIns="50800" lIns="50800" bIns="50800" rIns="50800"/>
            <a:lstStyle/>
            <a:p>
              <a:pPr algn="ctr">
                <a:lnSpc>
                  <a:spcPts val="3354"/>
                </a:lnSpc>
              </a:pPr>
            </a:p>
          </p:txBody>
        </p:sp>
      </p:grpSp>
      <p:grpSp>
        <p:nvGrpSpPr>
          <p:cNvPr name="Group 56" id="56"/>
          <p:cNvGrpSpPr/>
          <p:nvPr/>
        </p:nvGrpSpPr>
        <p:grpSpPr>
          <a:xfrm rot="2700000">
            <a:off x="-75796" y="-1849187"/>
            <a:ext cx="786047" cy="4233166"/>
            <a:chOff x="0" y="0"/>
            <a:chExt cx="458618" cy="2469837"/>
          </a:xfrm>
        </p:grpSpPr>
        <p:sp>
          <p:nvSpPr>
            <p:cNvPr name="Freeform 57" id="57"/>
            <p:cNvSpPr/>
            <p:nvPr/>
          </p:nvSpPr>
          <p:spPr>
            <a:xfrm flipH="false" flipV="false" rot="0">
              <a:off x="0" y="0"/>
              <a:ext cx="458618" cy="2469837"/>
            </a:xfrm>
            <a:custGeom>
              <a:avLst/>
              <a:gdLst/>
              <a:ahLst/>
              <a:cxnLst/>
              <a:rect r="r" b="b" t="t" l="l"/>
              <a:pathLst>
                <a:path h="2469837" w="458618">
                  <a:moveTo>
                    <a:pt x="0" y="0"/>
                  </a:moveTo>
                  <a:lnTo>
                    <a:pt x="458618" y="0"/>
                  </a:lnTo>
                  <a:lnTo>
                    <a:pt x="458618" y="2469837"/>
                  </a:lnTo>
                  <a:lnTo>
                    <a:pt x="0" y="2469837"/>
                  </a:lnTo>
                  <a:close/>
                </a:path>
              </a:pathLst>
            </a:custGeom>
            <a:solidFill>
              <a:srgbClr val="C2221E"/>
            </a:solidFill>
          </p:spPr>
        </p:sp>
        <p:sp>
          <p:nvSpPr>
            <p:cNvPr name="TextBox 58" id="58"/>
            <p:cNvSpPr txBox="true"/>
            <p:nvPr/>
          </p:nvSpPr>
          <p:spPr>
            <a:xfrm>
              <a:off x="0" y="-66675"/>
              <a:ext cx="458618" cy="2536512"/>
            </a:xfrm>
            <a:prstGeom prst="rect">
              <a:avLst/>
            </a:prstGeom>
          </p:spPr>
          <p:txBody>
            <a:bodyPr anchor="ctr" rtlCol="false" tIns="50800" lIns="50800" bIns="50800" rIns="50800"/>
            <a:lstStyle/>
            <a:p>
              <a:pPr algn="ctr">
                <a:lnSpc>
                  <a:spcPts val="3354"/>
                </a:lnSpc>
              </a:pPr>
            </a:p>
          </p:txBody>
        </p:sp>
      </p:grpSp>
      <p:sp>
        <p:nvSpPr>
          <p:cNvPr name="Freeform 59" id="59"/>
          <p:cNvSpPr/>
          <p:nvPr/>
        </p:nvSpPr>
        <p:spPr>
          <a:xfrm flipH="false" flipV="false" rot="-2700000">
            <a:off x="-1248761" y="860611"/>
            <a:ext cx="4953339" cy="674892"/>
          </a:xfrm>
          <a:custGeom>
            <a:avLst/>
            <a:gdLst/>
            <a:ahLst/>
            <a:cxnLst/>
            <a:rect r="r" b="b" t="t" l="l"/>
            <a:pathLst>
              <a:path h="674892" w="4953339">
                <a:moveTo>
                  <a:pt x="0" y="0"/>
                </a:moveTo>
                <a:lnTo>
                  <a:pt x="4953339" y="0"/>
                </a:lnTo>
                <a:lnTo>
                  <a:pt x="4953339" y="674892"/>
                </a:lnTo>
                <a:lnTo>
                  <a:pt x="0" y="674892"/>
                </a:lnTo>
                <a:lnTo>
                  <a:pt x="0" y="0"/>
                </a:lnTo>
                <a:close/>
              </a:path>
            </a:pathLst>
          </a:custGeom>
          <a:blipFill>
            <a:blip r:embed="rId13">
              <a:alphaModFix amt="58000"/>
            </a:blip>
            <a:stretch>
              <a:fillRect l="0" t="0" r="0" b="0"/>
            </a:stretch>
          </a:blipFill>
        </p:spPr>
      </p:sp>
      <p:sp>
        <p:nvSpPr>
          <p:cNvPr name="Freeform 60" id="60"/>
          <p:cNvSpPr/>
          <p:nvPr/>
        </p:nvSpPr>
        <p:spPr>
          <a:xfrm flipH="false" flipV="false" rot="-2700000">
            <a:off x="-895105" y="495722"/>
            <a:ext cx="3181450" cy="433473"/>
          </a:xfrm>
          <a:custGeom>
            <a:avLst/>
            <a:gdLst/>
            <a:ahLst/>
            <a:cxnLst/>
            <a:rect r="r" b="b" t="t" l="l"/>
            <a:pathLst>
              <a:path h="433473" w="3181450">
                <a:moveTo>
                  <a:pt x="0" y="0"/>
                </a:moveTo>
                <a:lnTo>
                  <a:pt x="3181450" y="0"/>
                </a:lnTo>
                <a:lnTo>
                  <a:pt x="3181450" y="433473"/>
                </a:lnTo>
                <a:lnTo>
                  <a:pt x="0" y="433473"/>
                </a:lnTo>
                <a:lnTo>
                  <a:pt x="0" y="0"/>
                </a:lnTo>
                <a:close/>
              </a:path>
            </a:pathLst>
          </a:custGeom>
          <a:blipFill>
            <a:blip r:embed="rId13">
              <a:alphaModFix amt="58000"/>
            </a:blip>
            <a:stretch>
              <a:fillRect l="0" t="0" r="0" b="0"/>
            </a:stretch>
          </a:blipFill>
        </p:spPr>
      </p:sp>
      <p:grpSp>
        <p:nvGrpSpPr>
          <p:cNvPr name="Group 61" id="61"/>
          <p:cNvGrpSpPr/>
          <p:nvPr/>
        </p:nvGrpSpPr>
        <p:grpSpPr>
          <a:xfrm rot="2700000">
            <a:off x="701211" y="-931409"/>
            <a:ext cx="658929" cy="4088628"/>
            <a:chOff x="0" y="0"/>
            <a:chExt cx="384452" cy="2385506"/>
          </a:xfrm>
        </p:grpSpPr>
        <p:sp>
          <p:nvSpPr>
            <p:cNvPr name="Freeform 62" id="62"/>
            <p:cNvSpPr/>
            <p:nvPr/>
          </p:nvSpPr>
          <p:spPr>
            <a:xfrm flipH="false" flipV="false" rot="0">
              <a:off x="0" y="0"/>
              <a:ext cx="384452" cy="2385506"/>
            </a:xfrm>
            <a:custGeom>
              <a:avLst/>
              <a:gdLst/>
              <a:ahLst/>
              <a:cxnLst/>
              <a:rect r="r" b="b" t="t" l="l"/>
              <a:pathLst>
                <a:path h="2385506" w="384452">
                  <a:moveTo>
                    <a:pt x="0" y="0"/>
                  </a:moveTo>
                  <a:lnTo>
                    <a:pt x="384452" y="0"/>
                  </a:lnTo>
                  <a:lnTo>
                    <a:pt x="384452" y="2385506"/>
                  </a:lnTo>
                  <a:lnTo>
                    <a:pt x="0" y="2385506"/>
                  </a:lnTo>
                  <a:close/>
                </a:path>
              </a:pathLst>
            </a:custGeom>
            <a:solidFill>
              <a:srgbClr val="C2221E"/>
            </a:solidFill>
          </p:spPr>
        </p:sp>
        <p:sp>
          <p:nvSpPr>
            <p:cNvPr name="TextBox 63" id="63"/>
            <p:cNvSpPr txBox="true"/>
            <p:nvPr/>
          </p:nvSpPr>
          <p:spPr>
            <a:xfrm>
              <a:off x="0" y="-66675"/>
              <a:ext cx="384452" cy="2452181"/>
            </a:xfrm>
            <a:prstGeom prst="rect">
              <a:avLst/>
            </a:prstGeom>
          </p:spPr>
          <p:txBody>
            <a:bodyPr anchor="ctr" rtlCol="false" tIns="50800" lIns="50800" bIns="50800" rIns="50800"/>
            <a:lstStyle/>
            <a:p>
              <a:pPr algn="ctr">
                <a:lnSpc>
                  <a:spcPts val="3354"/>
                </a:lnSpc>
              </a:pPr>
            </a:p>
          </p:txBody>
        </p:sp>
      </p:grpSp>
      <p:grpSp>
        <p:nvGrpSpPr>
          <p:cNvPr name="Group 64" id="64"/>
          <p:cNvGrpSpPr/>
          <p:nvPr/>
        </p:nvGrpSpPr>
        <p:grpSpPr>
          <a:xfrm rot="2700000">
            <a:off x="76604" y="-1696787"/>
            <a:ext cx="786047" cy="4233166"/>
            <a:chOff x="0" y="0"/>
            <a:chExt cx="458618" cy="2469837"/>
          </a:xfrm>
        </p:grpSpPr>
        <p:sp>
          <p:nvSpPr>
            <p:cNvPr name="Freeform 65" id="65"/>
            <p:cNvSpPr/>
            <p:nvPr/>
          </p:nvSpPr>
          <p:spPr>
            <a:xfrm flipH="false" flipV="false" rot="0">
              <a:off x="0" y="0"/>
              <a:ext cx="458618" cy="2469837"/>
            </a:xfrm>
            <a:custGeom>
              <a:avLst/>
              <a:gdLst/>
              <a:ahLst/>
              <a:cxnLst/>
              <a:rect r="r" b="b" t="t" l="l"/>
              <a:pathLst>
                <a:path h="2469837" w="458618">
                  <a:moveTo>
                    <a:pt x="0" y="0"/>
                  </a:moveTo>
                  <a:lnTo>
                    <a:pt x="458618" y="0"/>
                  </a:lnTo>
                  <a:lnTo>
                    <a:pt x="458618" y="2469837"/>
                  </a:lnTo>
                  <a:lnTo>
                    <a:pt x="0" y="2469837"/>
                  </a:lnTo>
                  <a:close/>
                </a:path>
              </a:pathLst>
            </a:custGeom>
            <a:solidFill>
              <a:srgbClr val="C2221E"/>
            </a:solidFill>
          </p:spPr>
        </p:sp>
        <p:sp>
          <p:nvSpPr>
            <p:cNvPr name="TextBox 66" id="66"/>
            <p:cNvSpPr txBox="true"/>
            <p:nvPr/>
          </p:nvSpPr>
          <p:spPr>
            <a:xfrm>
              <a:off x="0" y="-66675"/>
              <a:ext cx="458618" cy="2536512"/>
            </a:xfrm>
            <a:prstGeom prst="rect">
              <a:avLst/>
            </a:prstGeom>
          </p:spPr>
          <p:txBody>
            <a:bodyPr anchor="ctr" rtlCol="false" tIns="50800" lIns="50800" bIns="50800" rIns="50800"/>
            <a:lstStyle/>
            <a:p>
              <a:pPr algn="ctr">
                <a:lnSpc>
                  <a:spcPts val="3354"/>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uZ459Wa5fqahfEF96"/>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sp>
        <p:nvSpPr>
          <p:cNvPr name="TextBox 29" id="29"/>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0" id="30"/>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1" id="31"/>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2" id="32"/>
          <p:cNvSpPr txBox="true"/>
          <p:nvPr/>
        </p:nvSpPr>
        <p:spPr>
          <a:xfrm rot="0">
            <a:off x="12635198" y="7020816"/>
            <a:ext cx="1696522"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Illumination:</a:t>
            </a:r>
          </a:p>
        </p:txBody>
      </p:sp>
      <p:sp>
        <p:nvSpPr>
          <p:cNvPr name="TextBox 33" id="33"/>
          <p:cNvSpPr txBox="true"/>
          <p:nvPr/>
        </p:nvSpPr>
        <p:spPr>
          <a:xfrm rot="0">
            <a:off x="12635198" y="8414641"/>
            <a:ext cx="681276"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Unit:</a:t>
            </a:r>
          </a:p>
        </p:txBody>
      </p:sp>
      <p:sp>
        <p:nvSpPr>
          <p:cNvPr name="TextBox 34" id="34"/>
          <p:cNvSpPr txBox="true"/>
          <p:nvPr/>
        </p:nvSpPr>
        <p:spPr>
          <a:xfrm rot="0">
            <a:off x="15377227" y="8408521"/>
            <a:ext cx="158829"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name="TextBox 35" id="35"/>
          <p:cNvSpPr txBox="true"/>
          <p:nvPr/>
        </p:nvSpPr>
        <p:spPr>
          <a:xfrm rot="0">
            <a:off x="15377227" y="7020816"/>
            <a:ext cx="106799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Frontlit</a:t>
            </a:r>
          </a:p>
        </p:txBody>
      </p:sp>
      <p:sp>
        <p:nvSpPr>
          <p:cNvPr name="TextBox 36" id="36"/>
          <p:cNvSpPr txBox="true"/>
          <p:nvPr/>
        </p:nvSpPr>
        <p:spPr>
          <a:xfrm rot="0">
            <a:off x="15377227" y="4233166"/>
            <a:ext cx="79367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40x30</a:t>
            </a:r>
          </a:p>
        </p:txBody>
      </p:sp>
      <p:sp>
        <p:nvSpPr>
          <p:cNvPr name="TextBox 37" id="37"/>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Hoarding</a:t>
            </a:r>
          </a:p>
        </p:txBody>
      </p:sp>
      <p:sp>
        <p:nvSpPr>
          <p:cNvPr name="TextBox 38" id="38"/>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Chennai</a:t>
            </a:r>
          </a:p>
        </p:txBody>
      </p:sp>
      <p:sp>
        <p:nvSpPr>
          <p:cNvPr name="TextBox 39" id="39"/>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40" id="40"/>
          <p:cNvSpPr txBox="true"/>
          <p:nvPr/>
        </p:nvSpPr>
        <p:spPr>
          <a:xfrm rot="0">
            <a:off x="0" y="721678"/>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Periyanayakanpalayam bridge towards Mettupalayam 40x30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0" y="777369"/>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Periyanayakanpalayam bridge towards Mettupalayam 40x30</a:t>
            </a:r>
          </a:p>
        </p:txBody>
      </p:sp>
      <p:sp>
        <p:nvSpPr>
          <p:cNvPr name="Freeform 4" id="4"/>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1605227" y="1587800"/>
            <a:ext cx="6508010" cy="7646052"/>
            <a:chOff x="0" y="0"/>
            <a:chExt cx="747505" cy="878219"/>
          </a:xfrm>
        </p:grpSpPr>
        <p:sp>
          <p:nvSpPr>
            <p:cNvPr name="Freeform 6" id="6"/>
            <p:cNvSpPr/>
            <p:nvPr/>
          </p:nvSpPr>
          <p:spPr>
            <a:xfrm flipH="false" flipV="false" rot="0">
              <a:off x="0" y="0"/>
              <a:ext cx="747505" cy="878219"/>
            </a:xfrm>
            <a:custGeom>
              <a:avLst/>
              <a:gdLst/>
              <a:ahLst/>
              <a:cxnLst/>
              <a:rect r="r" b="b" t="t" l="l"/>
              <a:pathLst>
                <a:path h="878219" w="747505">
                  <a:moveTo>
                    <a:pt x="0" y="0"/>
                  </a:moveTo>
                  <a:lnTo>
                    <a:pt x="747505" y="0"/>
                  </a:lnTo>
                  <a:lnTo>
                    <a:pt x="747505" y="878219"/>
                  </a:lnTo>
                  <a:lnTo>
                    <a:pt x="0" y="878219"/>
                  </a:lnTo>
                  <a:close/>
                </a:path>
              </a:pathLst>
            </a:custGeom>
            <a:blipFill>
              <a:blip r:embed="rId5"/>
              <a:stretch>
                <a:fillRect l="-21129" t="0" r="-21129" b="0"/>
              </a:stretch>
            </a:blipFill>
            <a:ln w="38100" cap="sq">
              <a:solidFill>
                <a:srgbClr val="000000"/>
              </a:solidFill>
              <a:prstDash val="solid"/>
              <a:miter/>
            </a:ln>
          </p:spPr>
        </p:sp>
      </p:grpSp>
      <p:grpSp>
        <p:nvGrpSpPr>
          <p:cNvPr name="Group 7" id="7"/>
          <p:cNvGrpSpPr>
            <a:grpSpLocks noChangeAspect="true"/>
          </p:cNvGrpSpPr>
          <p:nvPr/>
        </p:nvGrpSpPr>
        <p:grpSpPr>
          <a:xfrm rot="72749">
            <a:off x="16069855" y="4364398"/>
            <a:ext cx="859386" cy="1037451"/>
            <a:chOff x="0" y="0"/>
            <a:chExt cx="6350000" cy="7665720"/>
          </a:xfrm>
        </p:grpSpPr>
        <p:sp>
          <p:nvSpPr>
            <p:cNvPr name="Freeform 8" id="8"/>
            <p:cNvSpPr/>
            <p:nvPr/>
          </p:nvSpPr>
          <p:spPr>
            <a:xfrm flipH="false" flipV="false" rot="0">
              <a:off x="0" y="0"/>
              <a:ext cx="6350000" cy="7665720"/>
            </a:xfrm>
            <a:custGeom>
              <a:avLst/>
              <a:gdLst/>
              <a:ahLst/>
              <a:cxnLst/>
              <a:rect r="r" b="b" t="t" l="l"/>
              <a:pathLst>
                <a:path h="7665720" w="6350000">
                  <a:moveTo>
                    <a:pt x="929640" y="929640"/>
                  </a:moveTo>
                  <a:cubicBezTo>
                    <a:pt x="-309880" y="2169160"/>
                    <a:pt x="-309880" y="4179570"/>
                    <a:pt x="929640" y="5420360"/>
                  </a:cubicBezTo>
                  <a:lnTo>
                    <a:pt x="3175000" y="7665720"/>
                  </a:lnTo>
                  <a:lnTo>
                    <a:pt x="5420360" y="5420360"/>
                  </a:lnTo>
                  <a:cubicBezTo>
                    <a:pt x="6659880" y="4180840"/>
                    <a:pt x="6659880" y="2170430"/>
                    <a:pt x="5420360" y="929640"/>
                  </a:cubicBezTo>
                  <a:cubicBezTo>
                    <a:pt x="4179570" y="-309880"/>
                    <a:pt x="2170430" y="-309880"/>
                    <a:pt x="929640" y="929640"/>
                  </a:cubicBezTo>
                  <a:close/>
                </a:path>
              </a:pathLst>
            </a:custGeom>
            <a:solidFill>
              <a:srgbClr val="E1322D"/>
            </a:solidFill>
          </p:spPr>
        </p:sp>
        <p:sp>
          <p:nvSpPr>
            <p:cNvPr name="Freeform 9" id="9"/>
            <p:cNvSpPr/>
            <p:nvPr/>
          </p:nvSpPr>
          <p:spPr>
            <a:xfrm flipH="false" flipV="false" rot="0">
              <a:off x="372219" y="384782"/>
              <a:ext cx="5643663" cy="5618536"/>
            </a:xfrm>
            <a:custGeom>
              <a:avLst/>
              <a:gdLst/>
              <a:ahLst/>
              <a:cxnLst/>
              <a:rect r="r" b="b" t="t" l="l"/>
              <a:pathLst>
                <a:path h="5618536" w="5643663">
                  <a:moveTo>
                    <a:pt x="2821831" y="28"/>
                  </a:moveTo>
                  <a:cubicBezTo>
                    <a:pt x="1815193" y="-4474"/>
                    <a:pt x="883090" y="529977"/>
                    <a:pt x="378467" y="1401009"/>
                  </a:cubicBezTo>
                  <a:cubicBezTo>
                    <a:pt x="-126156" y="2272040"/>
                    <a:pt x="-126156" y="3346496"/>
                    <a:pt x="378467" y="4217527"/>
                  </a:cubicBezTo>
                  <a:cubicBezTo>
                    <a:pt x="883090" y="5088558"/>
                    <a:pt x="1815193" y="5623009"/>
                    <a:pt x="2821831" y="5618508"/>
                  </a:cubicBezTo>
                  <a:cubicBezTo>
                    <a:pt x="3828469" y="5623009"/>
                    <a:pt x="4760572" y="5088558"/>
                    <a:pt x="5265195" y="4217527"/>
                  </a:cubicBezTo>
                  <a:cubicBezTo>
                    <a:pt x="5769818" y="3346496"/>
                    <a:pt x="5769818" y="2272040"/>
                    <a:pt x="5265195" y="1401009"/>
                  </a:cubicBezTo>
                  <a:cubicBezTo>
                    <a:pt x="4760572" y="529977"/>
                    <a:pt x="3828469" y="-4474"/>
                    <a:pt x="2821831" y="28"/>
                  </a:cubicBezTo>
                  <a:close/>
                </a:path>
              </a:pathLst>
            </a:custGeom>
            <a:blipFill>
              <a:blip r:embed="rId6"/>
              <a:stretch>
                <a:fillRect l="-38762" t="-13" r="-38762" b="-13"/>
              </a:stretch>
            </a:blipFill>
          </p:spPr>
        </p:sp>
      </p:grpSp>
      <p:grpSp>
        <p:nvGrpSpPr>
          <p:cNvPr name="Group 10" id="10"/>
          <p:cNvGrpSpPr>
            <a:grpSpLocks noChangeAspect="true"/>
          </p:cNvGrpSpPr>
          <p:nvPr/>
        </p:nvGrpSpPr>
        <p:grpSpPr>
          <a:xfrm rot="-10800000">
            <a:off x="12759426" y="3523453"/>
            <a:ext cx="874258" cy="1055404"/>
            <a:chOff x="0" y="0"/>
            <a:chExt cx="6350000" cy="7665720"/>
          </a:xfrm>
        </p:grpSpPr>
        <p:sp>
          <p:nvSpPr>
            <p:cNvPr name="Freeform 11" id="11"/>
            <p:cNvSpPr/>
            <p:nvPr/>
          </p:nvSpPr>
          <p:spPr>
            <a:xfrm flipH="false" flipV="false" rot="0">
              <a:off x="0" y="0"/>
              <a:ext cx="6350000" cy="7665561"/>
            </a:xfrm>
            <a:custGeom>
              <a:avLst/>
              <a:gdLst/>
              <a:ahLst/>
              <a:cxnLst/>
              <a:rect r="r" b="b" t="t" l="l"/>
              <a:pathLst>
                <a:path h="7665561" w="6350000">
                  <a:moveTo>
                    <a:pt x="5420360" y="6734810"/>
                  </a:moveTo>
                  <a:cubicBezTo>
                    <a:pt x="6659880" y="5495290"/>
                    <a:pt x="6659880" y="3484880"/>
                    <a:pt x="5420360" y="2244090"/>
                  </a:cubicBezTo>
                  <a:lnTo>
                    <a:pt x="3175000" y="0"/>
                  </a:lnTo>
                  <a:lnTo>
                    <a:pt x="929640" y="2245360"/>
                  </a:lnTo>
                  <a:cubicBezTo>
                    <a:pt x="-309880" y="3484880"/>
                    <a:pt x="-309880" y="5495290"/>
                    <a:pt x="929640" y="6736080"/>
                  </a:cubicBezTo>
                  <a:cubicBezTo>
                    <a:pt x="2170430" y="7975600"/>
                    <a:pt x="4179570" y="7975600"/>
                    <a:pt x="5420360" y="6734811"/>
                  </a:cubicBezTo>
                  <a:close/>
                </a:path>
              </a:pathLst>
            </a:custGeom>
            <a:solidFill>
              <a:srgbClr val="85A11F"/>
            </a:solidFill>
          </p:spPr>
        </p:sp>
        <p:sp>
          <p:nvSpPr>
            <p:cNvPr name="Freeform 12" id="12"/>
            <p:cNvSpPr/>
            <p:nvPr/>
          </p:nvSpPr>
          <p:spPr>
            <a:xfrm flipH="false" flipV="false" rot="0">
              <a:off x="334119" y="1661132"/>
              <a:ext cx="5643663" cy="5618537"/>
            </a:xfrm>
            <a:custGeom>
              <a:avLst/>
              <a:gdLst/>
              <a:ahLst/>
              <a:cxnLst/>
              <a:rect r="r" b="b" t="t" l="l"/>
              <a:pathLst>
                <a:path h="5618537" w="5643663">
                  <a:moveTo>
                    <a:pt x="2821831" y="28"/>
                  </a:moveTo>
                  <a:cubicBezTo>
                    <a:pt x="1815193" y="-4474"/>
                    <a:pt x="883090" y="529978"/>
                    <a:pt x="378467" y="1401009"/>
                  </a:cubicBezTo>
                  <a:cubicBezTo>
                    <a:pt x="-126156" y="2272040"/>
                    <a:pt x="-126156" y="3346496"/>
                    <a:pt x="378467" y="4217527"/>
                  </a:cubicBezTo>
                  <a:cubicBezTo>
                    <a:pt x="883090" y="5088558"/>
                    <a:pt x="1815193" y="5623010"/>
                    <a:pt x="2821831" y="5618508"/>
                  </a:cubicBezTo>
                  <a:cubicBezTo>
                    <a:pt x="3828469" y="5623010"/>
                    <a:pt x="4760572" y="5088558"/>
                    <a:pt x="5265195" y="4217527"/>
                  </a:cubicBezTo>
                  <a:cubicBezTo>
                    <a:pt x="5769818" y="3346496"/>
                    <a:pt x="5769818" y="2272040"/>
                    <a:pt x="5265195" y="1401009"/>
                  </a:cubicBezTo>
                  <a:cubicBezTo>
                    <a:pt x="4760572" y="529978"/>
                    <a:pt x="3828469" y="-4474"/>
                    <a:pt x="2821831" y="28"/>
                  </a:cubicBezTo>
                  <a:close/>
                </a:path>
              </a:pathLst>
            </a:custGeom>
            <a:blipFill>
              <a:blip r:embed="rId7"/>
              <a:stretch>
                <a:fillRect l="-123935" t="-29565" r="-124610" b="-6871"/>
              </a:stretch>
            </a:blipFill>
          </p:spPr>
        </p:sp>
      </p:grpSp>
      <p:grpSp>
        <p:nvGrpSpPr>
          <p:cNvPr name="Group 13" id="13"/>
          <p:cNvGrpSpPr/>
          <p:nvPr/>
        </p:nvGrpSpPr>
        <p:grpSpPr>
          <a:xfrm rot="-10800000">
            <a:off x="6964275" y="9610725"/>
            <a:ext cx="6852228" cy="1542386"/>
            <a:chOff x="0" y="0"/>
            <a:chExt cx="1804702" cy="406225"/>
          </a:xfrm>
        </p:grpSpPr>
        <p:sp>
          <p:nvSpPr>
            <p:cNvPr name="Freeform 14" id="14"/>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15" id="15"/>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16" id="16"/>
          <p:cNvGrpSpPr/>
          <p:nvPr/>
        </p:nvGrpSpPr>
        <p:grpSpPr>
          <a:xfrm rot="-10800000">
            <a:off x="12121058" y="9610725"/>
            <a:ext cx="6219700" cy="1542386"/>
            <a:chOff x="0" y="0"/>
            <a:chExt cx="1638110" cy="406225"/>
          </a:xfrm>
        </p:grpSpPr>
        <p:sp>
          <p:nvSpPr>
            <p:cNvPr name="Freeform 17" id="17"/>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18" id="18"/>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19" id="19"/>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8">
              <a:alphaModFix amt="58000"/>
            </a:blip>
            <a:stretch>
              <a:fillRect l="0" t="0" r="0" b="0"/>
            </a:stretch>
          </a:blipFill>
        </p:spPr>
      </p:sp>
      <p:grpSp>
        <p:nvGrpSpPr>
          <p:cNvPr name="Group 20" id="20"/>
          <p:cNvGrpSpPr/>
          <p:nvPr/>
        </p:nvGrpSpPr>
        <p:grpSpPr>
          <a:xfrm rot="-10800000">
            <a:off x="11605227" y="-580983"/>
            <a:ext cx="4056912" cy="1035961"/>
            <a:chOff x="0" y="0"/>
            <a:chExt cx="1804702" cy="460843"/>
          </a:xfrm>
        </p:grpSpPr>
        <p:sp>
          <p:nvSpPr>
            <p:cNvPr name="Freeform 21" id="21"/>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22" id="22"/>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grpSp>
        <p:nvGrpSpPr>
          <p:cNvPr name="Group 23" id="23"/>
          <p:cNvGrpSpPr/>
          <p:nvPr/>
        </p:nvGrpSpPr>
        <p:grpSpPr>
          <a:xfrm rot="-10800000">
            <a:off x="14658339" y="-580983"/>
            <a:ext cx="3682419" cy="1035961"/>
            <a:chOff x="0" y="0"/>
            <a:chExt cx="1638110" cy="460843"/>
          </a:xfrm>
        </p:grpSpPr>
        <p:sp>
          <p:nvSpPr>
            <p:cNvPr name="Freeform 24" id="24"/>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25" id="25"/>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Freeform 26" id="26"/>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8">
              <a:alphaModFix amt="58000"/>
            </a:blip>
            <a:stretch>
              <a:fillRect l="0" t="0" r="0" b="0"/>
            </a:stretch>
          </a:blipFill>
        </p:spPr>
      </p:sp>
      <p:sp>
        <p:nvSpPr>
          <p:cNvPr name="Freeform 27" id="2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8">
              <a:alphaModFix amt="58000"/>
            </a:blip>
            <a:stretch>
              <a:fillRect l="0" t="0" r="0" b="0"/>
            </a:stretch>
          </a:blipFill>
        </p:spPr>
      </p:sp>
      <p:grpSp>
        <p:nvGrpSpPr>
          <p:cNvPr name="Group 28" id="28"/>
          <p:cNvGrpSpPr/>
          <p:nvPr/>
        </p:nvGrpSpPr>
        <p:grpSpPr>
          <a:xfrm rot="8100000">
            <a:off x="9882" y="-713534"/>
            <a:ext cx="1489966" cy="6332908"/>
            <a:chOff x="0" y="0"/>
            <a:chExt cx="392419" cy="1667926"/>
          </a:xfrm>
        </p:grpSpPr>
        <p:sp>
          <p:nvSpPr>
            <p:cNvPr name="Freeform 29" id="29"/>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30" id="30"/>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31" id="31"/>
          <p:cNvGrpSpPr/>
          <p:nvPr/>
        </p:nvGrpSpPr>
        <p:grpSpPr>
          <a:xfrm rot="8100000">
            <a:off x="739329" y="2667185"/>
            <a:ext cx="1345714" cy="5485156"/>
            <a:chOff x="0" y="0"/>
            <a:chExt cx="458618" cy="1869336"/>
          </a:xfrm>
        </p:grpSpPr>
        <p:sp>
          <p:nvSpPr>
            <p:cNvPr name="Freeform 32" id="32"/>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33" id="33"/>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34" id="34"/>
          <p:cNvGrpSpPr/>
          <p:nvPr/>
        </p:nvGrpSpPr>
        <p:grpSpPr>
          <a:xfrm rot="0">
            <a:off x="878690" y="1587800"/>
            <a:ext cx="10484172" cy="7646052"/>
            <a:chOff x="0" y="0"/>
            <a:chExt cx="1204203" cy="878219"/>
          </a:xfrm>
        </p:grpSpPr>
        <p:sp>
          <p:nvSpPr>
            <p:cNvPr name="Freeform 35" id="35"/>
            <p:cNvSpPr/>
            <p:nvPr/>
          </p:nvSpPr>
          <p:spPr>
            <a:xfrm flipH="false" flipV="false" rot="0">
              <a:off x="0" y="0"/>
              <a:ext cx="1204203" cy="878219"/>
            </a:xfrm>
            <a:custGeom>
              <a:avLst/>
              <a:gdLst/>
              <a:ahLst/>
              <a:cxnLst/>
              <a:rect r="r" b="b" t="t" l="l"/>
              <a:pathLst>
                <a:path h="878219" w="1204203">
                  <a:moveTo>
                    <a:pt x="0" y="0"/>
                  </a:moveTo>
                  <a:lnTo>
                    <a:pt x="1204203" y="0"/>
                  </a:lnTo>
                  <a:lnTo>
                    <a:pt x="1204203" y="878219"/>
                  </a:lnTo>
                  <a:lnTo>
                    <a:pt x="0" y="878219"/>
                  </a:lnTo>
                  <a:close/>
                </a:path>
              </a:pathLst>
            </a:custGeom>
            <a:blipFill>
              <a:blip r:embed="rId9"/>
              <a:stretch>
                <a:fillRect l="-6480" t="0" r="-6480" b="0"/>
              </a:stretch>
            </a:blipFill>
            <a:ln w="38100" cap="sq">
              <a:solidFill>
                <a:srgbClr val="000000"/>
              </a:solid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780216">
            <a:off x="16950682" y="5766170"/>
            <a:ext cx="2412654" cy="2639798"/>
            <a:chOff x="0" y="0"/>
            <a:chExt cx="745158" cy="815350"/>
          </a:xfrm>
        </p:grpSpPr>
        <p:sp>
          <p:nvSpPr>
            <p:cNvPr name="Freeform 4" id="4"/>
            <p:cNvSpPr/>
            <p:nvPr/>
          </p:nvSpPr>
          <p:spPr>
            <a:xfrm flipH="false" flipV="false" rot="0">
              <a:off x="0" y="2115"/>
              <a:ext cx="745158" cy="809837"/>
            </a:xfrm>
            <a:custGeom>
              <a:avLst/>
              <a:gdLst/>
              <a:ahLst/>
              <a:cxnLst/>
              <a:rect r="r" b="b" t="t" l="l"/>
              <a:pathLst>
                <a:path h="809837" w="745158">
                  <a:moveTo>
                    <a:pt x="379837" y="1856"/>
                  </a:moveTo>
                  <a:lnTo>
                    <a:pt x="737900" y="197752"/>
                  </a:lnTo>
                  <a:cubicBezTo>
                    <a:pt x="742375" y="200200"/>
                    <a:pt x="745158" y="204894"/>
                    <a:pt x="745158" y="209995"/>
                  </a:cubicBezTo>
                  <a:lnTo>
                    <a:pt x="745158" y="599842"/>
                  </a:lnTo>
                  <a:cubicBezTo>
                    <a:pt x="745158" y="604943"/>
                    <a:pt x="742375" y="609638"/>
                    <a:pt x="737900" y="612086"/>
                  </a:cubicBezTo>
                  <a:lnTo>
                    <a:pt x="379837" y="807982"/>
                  </a:lnTo>
                  <a:cubicBezTo>
                    <a:pt x="375315" y="810456"/>
                    <a:pt x="369844" y="810456"/>
                    <a:pt x="365321" y="807982"/>
                  </a:cubicBezTo>
                  <a:lnTo>
                    <a:pt x="7258" y="612086"/>
                  </a:lnTo>
                  <a:cubicBezTo>
                    <a:pt x="2783" y="609638"/>
                    <a:pt x="0" y="604943"/>
                    <a:pt x="0" y="599842"/>
                  </a:cubicBezTo>
                  <a:lnTo>
                    <a:pt x="0" y="209995"/>
                  </a:lnTo>
                  <a:cubicBezTo>
                    <a:pt x="0" y="204894"/>
                    <a:pt x="2783" y="200200"/>
                    <a:pt x="7258" y="197752"/>
                  </a:cubicBezTo>
                  <a:lnTo>
                    <a:pt x="365321" y="1856"/>
                  </a:lnTo>
                  <a:cubicBezTo>
                    <a:pt x="369844" y="-618"/>
                    <a:pt x="375315" y="-618"/>
                    <a:pt x="379837" y="1856"/>
                  </a:cubicBezTo>
                  <a:close/>
                </a:path>
              </a:pathLst>
            </a:custGeom>
            <a:solidFill>
              <a:srgbClr val="FFF2EE">
                <a:alpha val="40000"/>
              </a:srgbClr>
            </a:solidFill>
            <a:ln cap="sq">
              <a:noFill/>
              <a:prstDash val="solid"/>
              <a:miter/>
            </a:ln>
          </p:spPr>
        </p:sp>
        <p:sp>
          <p:nvSpPr>
            <p:cNvPr name="TextBox 5" id="5"/>
            <p:cNvSpPr txBox="true"/>
            <p:nvPr/>
          </p:nvSpPr>
          <p:spPr>
            <a:xfrm>
              <a:off x="99976" y="111041"/>
              <a:ext cx="545206" cy="55392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780216">
            <a:off x="-1030509" y="2278197"/>
            <a:ext cx="2412654" cy="2639798"/>
            <a:chOff x="0" y="0"/>
            <a:chExt cx="745158" cy="815350"/>
          </a:xfrm>
        </p:grpSpPr>
        <p:sp>
          <p:nvSpPr>
            <p:cNvPr name="Freeform 7" id="7"/>
            <p:cNvSpPr/>
            <p:nvPr/>
          </p:nvSpPr>
          <p:spPr>
            <a:xfrm flipH="false" flipV="false" rot="0">
              <a:off x="0" y="2115"/>
              <a:ext cx="745158" cy="809837"/>
            </a:xfrm>
            <a:custGeom>
              <a:avLst/>
              <a:gdLst/>
              <a:ahLst/>
              <a:cxnLst/>
              <a:rect r="r" b="b" t="t" l="l"/>
              <a:pathLst>
                <a:path h="809837" w="745158">
                  <a:moveTo>
                    <a:pt x="379837" y="1856"/>
                  </a:moveTo>
                  <a:lnTo>
                    <a:pt x="737900" y="197752"/>
                  </a:lnTo>
                  <a:cubicBezTo>
                    <a:pt x="742375" y="200200"/>
                    <a:pt x="745158" y="204894"/>
                    <a:pt x="745158" y="209995"/>
                  </a:cubicBezTo>
                  <a:lnTo>
                    <a:pt x="745158" y="599842"/>
                  </a:lnTo>
                  <a:cubicBezTo>
                    <a:pt x="745158" y="604943"/>
                    <a:pt x="742375" y="609638"/>
                    <a:pt x="737900" y="612086"/>
                  </a:cubicBezTo>
                  <a:lnTo>
                    <a:pt x="379837" y="807982"/>
                  </a:lnTo>
                  <a:cubicBezTo>
                    <a:pt x="375315" y="810456"/>
                    <a:pt x="369844" y="810456"/>
                    <a:pt x="365321" y="807982"/>
                  </a:cubicBezTo>
                  <a:lnTo>
                    <a:pt x="7258" y="612086"/>
                  </a:lnTo>
                  <a:cubicBezTo>
                    <a:pt x="2783" y="609638"/>
                    <a:pt x="0" y="604943"/>
                    <a:pt x="0" y="599842"/>
                  </a:cubicBezTo>
                  <a:lnTo>
                    <a:pt x="0" y="209995"/>
                  </a:lnTo>
                  <a:cubicBezTo>
                    <a:pt x="0" y="204894"/>
                    <a:pt x="2783" y="200200"/>
                    <a:pt x="7258" y="197752"/>
                  </a:cubicBezTo>
                  <a:lnTo>
                    <a:pt x="365321" y="1856"/>
                  </a:lnTo>
                  <a:cubicBezTo>
                    <a:pt x="369844" y="-618"/>
                    <a:pt x="375315" y="-618"/>
                    <a:pt x="379837" y="1856"/>
                  </a:cubicBezTo>
                  <a:close/>
                </a:path>
              </a:pathLst>
            </a:custGeom>
            <a:solidFill>
              <a:srgbClr val="FFF2EE">
                <a:alpha val="40000"/>
              </a:srgbClr>
            </a:solidFill>
            <a:ln cap="sq">
              <a:noFill/>
              <a:prstDash val="solid"/>
              <a:miter/>
            </a:ln>
          </p:spPr>
        </p:sp>
        <p:sp>
          <p:nvSpPr>
            <p:cNvPr name="TextBox 8" id="8"/>
            <p:cNvSpPr txBox="true"/>
            <p:nvPr/>
          </p:nvSpPr>
          <p:spPr>
            <a:xfrm>
              <a:off x="99976" y="111041"/>
              <a:ext cx="545206" cy="55392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6477751" y="9472910"/>
            <a:ext cx="1211283" cy="662902"/>
          </a:xfrm>
          <a:custGeom>
            <a:avLst/>
            <a:gdLst/>
            <a:ahLst/>
            <a:cxnLst/>
            <a:rect r="r" b="b" t="t" l="l"/>
            <a:pathLst>
              <a:path h="662902" w="1211283">
                <a:moveTo>
                  <a:pt x="0" y="0"/>
                </a:moveTo>
                <a:lnTo>
                  <a:pt x="1211283" y="0"/>
                </a:lnTo>
                <a:lnTo>
                  <a:pt x="1211283" y="662902"/>
                </a:lnTo>
                <a:lnTo>
                  <a:pt x="0" y="66290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999586" y="123527"/>
            <a:ext cx="1211283" cy="662902"/>
          </a:xfrm>
          <a:custGeom>
            <a:avLst/>
            <a:gdLst/>
            <a:ahLst/>
            <a:cxnLst/>
            <a:rect r="r" b="b" t="t" l="l"/>
            <a:pathLst>
              <a:path h="662902" w="1211283">
                <a:moveTo>
                  <a:pt x="0" y="0"/>
                </a:moveTo>
                <a:lnTo>
                  <a:pt x="1211283" y="0"/>
                </a:lnTo>
                <a:lnTo>
                  <a:pt x="1211283" y="662902"/>
                </a:lnTo>
                <a:lnTo>
                  <a:pt x="0" y="66290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6253981" y="4128274"/>
            <a:ext cx="6861144" cy="1793239"/>
          </a:xfrm>
          <a:prstGeom prst="rect">
            <a:avLst/>
          </a:prstGeom>
        </p:spPr>
        <p:txBody>
          <a:bodyPr anchor="t" rtlCol="false" tIns="0" lIns="0" bIns="0" rIns="0">
            <a:spAutoFit/>
          </a:bodyPr>
          <a:lstStyle/>
          <a:p>
            <a:pPr algn="ctr">
              <a:lnSpc>
                <a:spcPts val="14560"/>
              </a:lnSpc>
              <a:spcBef>
                <a:spcPct val="0"/>
              </a:spcBef>
            </a:pPr>
            <a:r>
              <a:rPr lang="en-US" sz="10400">
                <a:solidFill>
                  <a:srgbClr val="000000"/>
                </a:solidFill>
                <a:latin typeface="Didot LP"/>
                <a:ea typeface="Didot LP"/>
                <a:cs typeface="Didot LP"/>
                <a:sym typeface="Didot LP"/>
              </a:rPr>
              <a:t>Thank You</a:t>
            </a:r>
            <a:r>
              <a:rPr lang="en-US" sz="10400">
                <a:solidFill>
                  <a:srgbClr val="CC0000"/>
                </a:solidFill>
                <a:latin typeface="Didot LP"/>
                <a:ea typeface="Didot LP"/>
                <a:cs typeface="Didot LP"/>
                <a:sym typeface="Didot LP"/>
              </a:rPr>
              <a:t>!</a:t>
            </a:r>
          </a:p>
        </p:txBody>
      </p:sp>
      <p:sp>
        <p:nvSpPr>
          <p:cNvPr name="TextBox 12" id="12"/>
          <p:cNvSpPr txBox="true"/>
          <p:nvPr/>
        </p:nvSpPr>
        <p:spPr>
          <a:xfrm rot="0">
            <a:off x="960120" y="8386499"/>
            <a:ext cx="1677948" cy="382270"/>
          </a:xfrm>
          <a:prstGeom prst="rect">
            <a:avLst/>
          </a:prstGeom>
        </p:spPr>
        <p:txBody>
          <a:bodyPr anchor="t" rtlCol="false" tIns="0" lIns="0" bIns="0" rIns="0">
            <a:spAutoFit/>
          </a:bodyPr>
          <a:lstStyle/>
          <a:p>
            <a:pPr algn="ctr">
              <a:lnSpc>
                <a:spcPts val="3079"/>
              </a:lnSpc>
              <a:spcBef>
                <a:spcPct val="0"/>
              </a:spcBef>
            </a:pPr>
            <a:r>
              <a:rPr lang="en-US" sz="2199" u="sng">
                <a:solidFill>
                  <a:srgbClr val="000000"/>
                </a:solidFill>
                <a:latin typeface="Didot LP"/>
                <a:ea typeface="Didot LP"/>
                <a:cs typeface="Didot LP"/>
                <a:sym typeface="Didot LP"/>
              </a:rPr>
              <a:t>With Regards </a:t>
            </a:r>
          </a:p>
        </p:txBody>
      </p:sp>
      <p:sp>
        <p:nvSpPr>
          <p:cNvPr name="TextBox 13" id="13"/>
          <p:cNvSpPr txBox="true"/>
          <p:nvPr/>
        </p:nvSpPr>
        <p:spPr>
          <a:xfrm rot="0">
            <a:off x="960120" y="8984728"/>
            <a:ext cx="3179088" cy="382270"/>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Didot LP"/>
                <a:ea typeface="Didot LP"/>
                <a:cs typeface="Didot LP"/>
                <a:sym typeface="Didot LP"/>
              </a:rPr>
              <a:t>Adinn Outdoor Advertising</a:t>
            </a:r>
          </a:p>
        </p:txBody>
      </p:sp>
      <p:sp>
        <p:nvSpPr>
          <p:cNvPr name="Freeform 14" id="14"/>
          <p:cNvSpPr/>
          <p:nvPr/>
        </p:nvSpPr>
        <p:spPr>
          <a:xfrm flipH="false" flipV="false" rot="0">
            <a:off x="10024975" y="1854109"/>
            <a:ext cx="3608708" cy="608969"/>
          </a:xfrm>
          <a:custGeom>
            <a:avLst/>
            <a:gdLst/>
            <a:ahLst/>
            <a:cxnLst/>
            <a:rect r="r" b="b" t="t" l="l"/>
            <a:pathLst>
              <a:path h="608969" w="3608708">
                <a:moveTo>
                  <a:pt x="0" y="0"/>
                </a:moveTo>
                <a:lnTo>
                  <a:pt x="3608708" y="0"/>
                </a:lnTo>
                <a:lnTo>
                  <a:pt x="3608708" y="608969"/>
                </a:lnTo>
                <a:lnTo>
                  <a:pt x="0" y="6089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42183" y="9521866"/>
            <a:ext cx="4188538" cy="382370"/>
          </a:xfrm>
          <a:prstGeom prst="rect">
            <a:avLst/>
          </a:prstGeom>
        </p:spPr>
        <p:txBody>
          <a:bodyPr anchor="t" rtlCol="false" tIns="0" lIns="0" bIns="0" rIns="0">
            <a:spAutoFit/>
          </a:bodyPr>
          <a:lstStyle/>
          <a:p>
            <a:pPr algn="l">
              <a:lnSpc>
                <a:spcPts val="3074"/>
              </a:lnSpc>
            </a:pPr>
            <a:r>
              <a:rPr lang="en-US" b="true" sz="2196" u="sng">
                <a:solidFill>
                  <a:srgbClr val="5170FF"/>
                </a:solidFill>
                <a:latin typeface="Public Sans Bold"/>
                <a:ea typeface="Public Sans Bold"/>
                <a:cs typeface="Public Sans Bold"/>
                <a:sym typeface="Public Sans Bold"/>
                <a:hlinkClick r:id="rId7" tooltip="https://adinnoutdoors.com"/>
              </a:rPr>
              <a:t>www.adinnoutdoors.com</a:t>
            </a:r>
          </a:p>
        </p:txBody>
      </p:sp>
      <p:sp>
        <p:nvSpPr>
          <p:cNvPr name="Freeform 16" id="16"/>
          <p:cNvSpPr/>
          <p:nvPr/>
        </p:nvSpPr>
        <p:spPr>
          <a:xfrm flipH="false" flipV="false" rot="0">
            <a:off x="885807" y="9554382"/>
            <a:ext cx="400086" cy="393539"/>
          </a:xfrm>
          <a:custGeom>
            <a:avLst/>
            <a:gdLst/>
            <a:ahLst/>
            <a:cxnLst/>
            <a:rect r="r" b="b" t="t" l="l"/>
            <a:pathLst>
              <a:path h="393539" w="400086">
                <a:moveTo>
                  <a:pt x="0" y="0"/>
                </a:moveTo>
                <a:lnTo>
                  <a:pt x="400086" y="0"/>
                </a:lnTo>
                <a:lnTo>
                  <a:pt x="400086" y="393539"/>
                </a:lnTo>
                <a:lnTo>
                  <a:pt x="0" y="3935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4977808" y="4533437"/>
            <a:ext cx="1220125" cy="1220125"/>
          </a:xfrm>
          <a:custGeom>
            <a:avLst/>
            <a:gdLst/>
            <a:ahLst/>
            <a:cxnLst/>
            <a:rect r="r" b="b" t="t" l="l"/>
            <a:pathLst>
              <a:path h="1220125" w="1220125">
                <a:moveTo>
                  <a:pt x="0" y="0"/>
                </a:moveTo>
                <a:lnTo>
                  <a:pt x="1220126" y="0"/>
                </a:lnTo>
                <a:lnTo>
                  <a:pt x="1220126" y="1220126"/>
                </a:lnTo>
                <a:lnTo>
                  <a:pt x="0" y="1220126"/>
                </a:lnTo>
                <a:lnTo>
                  <a:pt x="0" y="0"/>
                </a:lnTo>
                <a:close/>
              </a:path>
            </a:pathLst>
          </a:custGeom>
          <a:blipFill>
            <a:blip r:embed="rId10">
              <a:alphaModFix amt="7000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642408" y="684530"/>
            <a:ext cx="6321867" cy="1893571"/>
          </a:xfrm>
          <a:prstGeom prst="rect">
            <a:avLst/>
          </a:prstGeom>
        </p:spPr>
        <p:txBody>
          <a:bodyPr anchor="t" rtlCol="false" tIns="0" lIns="0" bIns="0" rIns="0">
            <a:spAutoFit/>
          </a:bodyPr>
          <a:lstStyle/>
          <a:p>
            <a:pPr algn="l">
              <a:lnSpc>
                <a:spcPts val="3779"/>
              </a:lnSpc>
            </a:pPr>
            <a:r>
              <a:rPr lang="en-US" sz="2699">
                <a:solidFill>
                  <a:srgbClr val="000000"/>
                </a:solidFill>
                <a:latin typeface="Didot LP"/>
                <a:ea typeface="Didot LP"/>
                <a:cs typeface="Didot LP"/>
                <a:sym typeface="Didot LP"/>
              </a:rPr>
              <a:t>Our team is dedicated to providing the best</a:t>
            </a:r>
          </a:p>
          <a:p>
            <a:pPr algn="l">
              <a:lnSpc>
                <a:spcPts val="3779"/>
              </a:lnSpc>
            </a:pPr>
            <a:r>
              <a:rPr lang="en-US" sz="2699">
                <a:solidFill>
                  <a:srgbClr val="000000"/>
                </a:solidFill>
                <a:latin typeface="Didot LP"/>
                <a:ea typeface="Didot LP"/>
                <a:cs typeface="Didot LP"/>
                <a:sym typeface="Didot LP"/>
              </a:rPr>
              <a:t>A swift response will help us ensure timely campaign execution.</a:t>
            </a:r>
          </a:p>
          <a:p>
            <a:pPr algn="l">
              <a:lnSpc>
                <a:spcPts val="3779"/>
              </a:lnSpc>
              <a:spcBef>
                <a:spcPct val="0"/>
              </a:spcBef>
            </a:pPr>
            <a:r>
              <a:rPr lang="en-US" sz="2699">
                <a:solidFill>
                  <a:srgbClr val="000000"/>
                </a:solidFill>
                <a:latin typeface="Didot LP"/>
                <a:ea typeface="Didot LP"/>
                <a:cs typeface="Didot LP"/>
                <a:sym typeface="Didot LP"/>
              </a:rPr>
              <a:t>Awaiting Your Approval...</a:t>
            </a:r>
          </a:p>
        </p:txBody>
      </p:sp>
      <p:grpSp>
        <p:nvGrpSpPr>
          <p:cNvPr name="Group 19" id="19"/>
          <p:cNvGrpSpPr/>
          <p:nvPr/>
        </p:nvGrpSpPr>
        <p:grpSpPr>
          <a:xfrm rot="-10800000">
            <a:off x="6964275" y="9610725"/>
            <a:ext cx="6852228" cy="1542386"/>
            <a:chOff x="0" y="0"/>
            <a:chExt cx="1804702" cy="406225"/>
          </a:xfrm>
        </p:grpSpPr>
        <p:sp>
          <p:nvSpPr>
            <p:cNvPr name="Freeform 20" id="20"/>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1" id="21"/>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2" id="22"/>
          <p:cNvGrpSpPr/>
          <p:nvPr/>
        </p:nvGrpSpPr>
        <p:grpSpPr>
          <a:xfrm rot="-10800000">
            <a:off x="12121058" y="9610725"/>
            <a:ext cx="6219700" cy="1542386"/>
            <a:chOff x="0" y="0"/>
            <a:chExt cx="1638110" cy="406225"/>
          </a:xfrm>
        </p:grpSpPr>
        <p:sp>
          <p:nvSpPr>
            <p:cNvPr name="Freeform 23" id="23"/>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4" id="24"/>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1605227" y="-580983"/>
            <a:ext cx="4056912" cy="1035961"/>
            <a:chOff x="0" y="0"/>
            <a:chExt cx="1804702" cy="460843"/>
          </a:xfrm>
        </p:grpSpPr>
        <p:sp>
          <p:nvSpPr>
            <p:cNvPr name="Freeform 26" id="26"/>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27" id="27"/>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grpSp>
        <p:nvGrpSpPr>
          <p:cNvPr name="Group 28" id="28"/>
          <p:cNvGrpSpPr/>
          <p:nvPr/>
        </p:nvGrpSpPr>
        <p:grpSpPr>
          <a:xfrm rot="-10800000">
            <a:off x="14658339" y="-580983"/>
            <a:ext cx="3682419" cy="1035961"/>
            <a:chOff x="0" y="0"/>
            <a:chExt cx="1638110" cy="460843"/>
          </a:xfrm>
        </p:grpSpPr>
        <p:sp>
          <p:nvSpPr>
            <p:cNvPr name="Freeform 29" id="29"/>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30" id="30"/>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Freeform 31" id="31"/>
          <p:cNvSpPr/>
          <p:nvPr/>
        </p:nvSpPr>
        <p:spPr>
          <a:xfrm flipH="false" flipV="false" rot="0">
            <a:off x="15498430" y="8285897"/>
            <a:ext cx="2658580" cy="1244163"/>
          </a:xfrm>
          <a:custGeom>
            <a:avLst/>
            <a:gdLst/>
            <a:ahLst/>
            <a:cxnLst/>
            <a:rect r="r" b="b" t="t" l="l"/>
            <a:pathLst>
              <a:path h="1244163" w="2658580">
                <a:moveTo>
                  <a:pt x="0" y="0"/>
                </a:moveTo>
                <a:lnTo>
                  <a:pt x="2658580" y="0"/>
                </a:lnTo>
                <a:lnTo>
                  <a:pt x="2658580" y="1244163"/>
                </a:lnTo>
                <a:lnTo>
                  <a:pt x="0" y="1244163"/>
                </a:lnTo>
                <a:lnTo>
                  <a:pt x="0" y="0"/>
                </a:lnTo>
                <a:close/>
              </a:path>
            </a:pathLst>
          </a:custGeom>
          <a:blipFill>
            <a:blip r:embed="rId12"/>
            <a:stretch>
              <a:fillRect l="0" t="0" r="0" b="0"/>
            </a:stretch>
          </a:blipFill>
        </p:spPr>
      </p:sp>
    </p:spTree>
  </p:cSld>
  <p:clrMapOvr>
    <a:masterClrMapping/>
  </p:clrMapOvr>
</p:sld>
</file>

<file path=ppt/slides/slide_gen_900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uZ459Wa5fqahfEF96"/>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sp>
        <p:nvSpPr>
          <p:cNvPr name="TextBox 29" id="29"/>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0" id="30"/>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1" id="31"/>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2" id="32"/>
          <p:cNvSpPr txBox="true"/>
          <p:nvPr/>
        </p:nvSpPr>
        <p:spPr>
          <a:xfrm rot="0">
            <a:off x="12635198" y="7020816"/>
            <a:ext cx="1696522"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Illumination:</a:t>
            </a:r>
          </a:p>
        </p:txBody>
      </p:sp>
      <p:sp>
        <p:nvSpPr>
          <p:cNvPr name="TextBox 33" id="33"/>
          <p:cNvSpPr txBox="true"/>
          <p:nvPr/>
        </p:nvSpPr>
        <p:spPr>
          <a:xfrm rot="0">
            <a:off x="12635198" y="8414641"/>
            <a:ext cx="681276"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Unit:</a:t>
            </a:r>
          </a:p>
        </p:txBody>
      </p:sp>
      <p:sp>
        <p:nvSpPr>
          <p:cNvPr name="TextBox 34" id="34"/>
          <p:cNvSpPr txBox="true"/>
          <p:nvPr/>
        </p:nvSpPr>
        <p:spPr>
          <a:xfrm rot="0">
            <a:off x="15377227" y="8408521"/>
            <a:ext cx="158829"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name="TextBox 35" id="35"/>
          <p:cNvSpPr txBox="true"/>
          <p:nvPr/>
        </p:nvSpPr>
        <p:spPr>
          <a:xfrm rot="0">
            <a:off x="15377227" y="7020816"/>
            <a:ext cx="106799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Not Lit</a:t>
            </a:r>
          </a:p>
        </p:txBody>
      </p:sp>
      <p:sp>
        <p:nvSpPr>
          <p:cNvPr name="TextBox 36" id="36"/>
          <p:cNvSpPr txBox="true"/>
          <p:nvPr/>
        </p:nvSpPr>
        <p:spPr>
          <a:xfrm rot="0">
            <a:off x="15377227" y="4233166"/>
            <a:ext cx="79367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40x25</a:t>
            </a:r>
          </a:p>
        </p:txBody>
      </p:sp>
      <p:sp>
        <p:nvSpPr>
          <p:cNvPr name="TextBox 37" id="37"/>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Unipole</a:t>
            </a:r>
          </a:p>
        </p:txBody>
      </p:sp>
      <p:sp>
        <p:nvSpPr>
          <p:cNvPr name="TextBox 38" id="38"/>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Sattur</a:t>
            </a:r>
          </a:p>
        </p:txBody>
      </p:sp>
      <p:sp>
        <p:nvSpPr>
          <p:cNvPr name="TextBox 39" id="39"/>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40" id="40"/>
          <p:cNvSpPr txBox="true"/>
          <p:nvPr/>
        </p:nvSpPr>
        <p:spPr>
          <a:xfrm rot="0">
            <a:off x="0" y="721678"/>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Sattur towards Madurai 40x25</a:t>
            </a:r>
          </a:p>
        </p:txBody>
      </p:sp>
    </p:spTree>
  </p:cSld>
  <p:clrMapOvr>
    <a:masterClrMapping/>
  </p:clrMapOvr>
</p:sld>
</file>

<file path=ppt/slides/slide_gen_900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uZ459Wa5fqahfEF96"/>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sp>
        <p:nvSpPr>
          <p:cNvPr name="TextBox 29" id="29"/>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0" id="30"/>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1" id="31"/>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2" id="32"/>
          <p:cNvSpPr txBox="true"/>
          <p:nvPr/>
        </p:nvSpPr>
        <p:spPr>
          <a:xfrm rot="0">
            <a:off x="12635198" y="7020816"/>
            <a:ext cx="1696522"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Illumination:</a:t>
            </a:r>
          </a:p>
        </p:txBody>
      </p:sp>
      <p:sp>
        <p:nvSpPr>
          <p:cNvPr name="TextBox 33" id="33"/>
          <p:cNvSpPr txBox="true"/>
          <p:nvPr/>
        </p:nvSpPr>
        <p:spPr>
          <a:xfrm rot="0">
            <a:off x="12635198" y="8414641"/>
            <a:ext cx="681276"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Unit:</a:t>
            </a:r>
          </a:p>
        </p:txBody>
      </p:sp>
      <p:sp>
        <p:nvSpPr>
          <p:cNvPr name="TextBox 34" id="34"/>
          <p:cNvSpPr txBox="true"/>
          <p:nvPr/>
        </p:nvSpPr>
        <p:spPr>
          <a:xfrm rot="0">
            <a:off x="15377227" y="8408521"/>
            <a:ext cx="158829"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name="TextBox 35" id="35"/>
          <p:cNvSpPr txBox="true"/>
          <p:nvPr/>
        </p:nvSpPr>
        <p:spPr>
          <a:xfrm rot="0">
            <a:off x="15377227" y="7020816"/>
            <a:ext cx="106799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Not Lit</a:t>
            </a:r>
          </a:p>
        </p:txBody>
      </p:sp>
      <p:sp>
        <p:nvSpPr>
          <p:cNvPr name="TextBox 36" id="36"/>
          <p:cNvSpPr txBox="true"/>
          <p:nvPr/>
        </p:nvSpPr>
        <p:spPr>
          <a:xfrm rot="0">
            <a:off x="15377227" y="4233166"/>
            <a:ext cx="79367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40x25</a:t>
            </a:r>
          </a:p>
        </p:txBody>
      </p:sp>
      <p:sp>
        <p:nvSpPr>
          <p:cNvPr name="TextBox 37" id="37"/>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Unipole</a:t>
            </a:r>
          </a:p>
        </p:txBody>
      </p:sp>
      <p:sp>
        <p:nvSpPr>
          <p:cNvPr name="TextBox 38" id="38"/>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Sattur</a:t>
            </a:r>
          </a:p>
        </p:txBody>
      </p:sp>
      <p:sp>
        <p:nvSpPr>
          <p:cNvPr name="TextBox 39" id="39"/>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40" id="40"/>
          <p:cNvSpPr txBox="true"/>
          <p:nvPr/>
        </p:nvSpPr>
        <p:spPr>
          <a:xfrm rot="0">
            <a:off x="0" y="721678"/>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Sattur towards Tirunelveli 40x25</a:t>
            </a:r>
          </a:p>
        </p:txBody>
      </p:sp>
    </p:spTree>
  </p:cSld>
  <p:clrMapOvr>
    <a:masterClrMapping/>
  </p:clrMapOvr>
</p:sld>
</file>

<file path=ppt/slides/slide_gen_900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uZ459Wa5fqahfEF96"/>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sp>
        <p:nvSpPr>
          <p:cNvPr name="TextBox 29" id="29"/>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0" id="30"/>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1" id="31"/>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2" id="32"/>
          <p:cNvSpPr txBox="true"/>
          <p:nvPr/>
        </p:nvSpPr>
        <p:spPr>
          <a:xfrm rot="0">
            <a:off x="12635198" y="7020816"/>
            <a:ext cx="1696522"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Illumination:</a:t>
            </a:r>
          </a:p>
        </p:txBody>
      </p:sp>
      <p:sp>
        <p:nvSpPr>
          <p:cNvPr name="TextBox 33" id="33"/>
          <p:cNvSpPr txBox="true"/>
          <p:nvPr/>
        </p:nvSpPr>
        <p:spPr>
          <a:xfrm rot="0">
            <a:off x="12635198" y="8414641"/>
            <a:ext cx="681276"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Unit:</a:t>
            </a:r>
          </a:p>
        </p:txBody>
      </p:sp>
      <p:sp>
        <p:nvSpPr>
          <p:cNvPr name="TextBox 34" id="34"/>
          <p:cNvSpPr txBox="true"/>
          <p:nvPr/>
        </p:nvSpPr>
        <p:spPr>
          <a:xfrm rot="0">
            <a:off x="15377227" y="8408521"/>
            <a:ext cx="158829"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name="TextBox 35" id="35"/>
          <p:cNvSpPr txBox="true"/>
          <p:nvPr/>
        </p:nvSpPr>
        <p:spPr>
          <a:xfrm rot="0">
            <a:off x="15377227" y="7020816"/>
            <a:ext cx="106799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Not Lit</a:t>
            </a:r>
          </a:p>
        </p:txBody>
      </p:sp>
      <p:sp>
        <p:nvSpPr>
          <p:cNvPr name="TextBox 36" id="36"/>
          <p:cNvSpPr txBox="true"/>
          <p:nvPr/>
        </p:nvSpPr>
        <p:spPr>
          <a:xfrm rot="0">
            <a:off x="15377227" y="4233166"/>
            <a:ext cx="79367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40x25</a:t>
            </a:r>
          </a:p>
        </p:txBody>
      </p:sp>
      <p:sp>
        <p:nvSpPr>
          <p:cNvPr name="TextBox 37" id="37"/>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Hoarding</a:t>
            </a:r>
          </a:p>
        </p:txBody>
      </p:sp>
      <p:sp>
        <p:nvSpPr>
          <p:cNvPr name="TextBox 38" id="38"/>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Pondicherry</a:t>
            </a:r>
          </a:p>
        </p:txBody>
      </p:sp>
      <p:sp>
        <p:nvSpPr>
          <p:cNvPr name="TextBox 39" id="39"/>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40" id="40"/>
          <p:cNvSpPr txBox="true"/>
          <p:nvPr/>
        </p:nvSpPr>
        <p:spPr>
          <a:xfrm rot="0">
            <a:off x="0" y="721678"/>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ECR Road near Sri Sankars Vidayalaya Hr.Sec.School 40x25</a:t>
            </a:r>
          </a:p>
        </p:txBody>
      </p:sp>
    </p:spTree>
  </p:cSld>
  <p:clrMapOvr>
    <a:masterClrMapping/>
  </p:clrMapOvr>
</p:sld>
</file>

<file path=ppt/slides/slide_gen_900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uZ459Wa5fqahfEF96"/>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sp>
        <p:nvSpPr>
          <p:cNvPr name="TextBox 29" id="29"/>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0" id="30"/>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1" id="31"/>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2" id="32"/>
          <p:cNvSpPr txBox="true"/>
          <p:nvPr/>
        </p:nvSpPr>
        <p:spPr>
          <a:xfrm rot="0">
            <a:off x="12635198" y="7020816"/>
            <a:ext cx="1696522"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Illumination:</a:t>
            </a:r>
          </a:p>
        </p:txBody>
      </p:sp>
      <p:sp>
        <p:nvSpPr>
          <p:cNvPr name="TextBox 33" id="33"/>
          <p:cNvSpPr txBox="true"/>
          <p:nvPr/>
        </p:nvSpPr>
        <p:spPr>
          <a:xfrm rot="0">
            <a:off x="12635198" y="8414641"/>
            <a:ext cx="681276"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Unit:</a:t>
            </a:r>
          </a:p>
        </p:txBody>
      </p:sp>
      <p:sp>
        <p:nvSpPr>
          <p:cNvPr name="TextBox 34" id="34"/>
          <p:cNvSpPr txBox="true"/>
          <p:nvPr/>
        </p:nvSpPr>
        <p:spPr>
          <a:xfrm rot="0">
            <a:off x="15377227" y="8408521"/>
            <a:ext cx="158829"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name="TextBox 35" id="35"/>
          <p:cNvSpPr txBox="true"/>
          <p:nvPr/>
        </p:nvSpPr>
        <p:spPr>
          <a:xfrm rot="0">
            <a:off x="15377227" y="7020816"/>
            <a:ext cx="106799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Not Lit</a:t>
            </a:r>
          </a:p>
        </p:txBody>
      </p:sp>
      <p:sp>
        <p:nvSpPr>
          <p:cNvPr name="TextBox 36" id="36"/>
          <p:cNvSpPr txBox="true"/>
          <p:nvPr/>
        </p:nvSpPr>
        <p:spPr>
          <a:xfrm rot="0">
            <a:off x="15377227" y="4233166"/>
            <a:ext cx="79367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20x20</a:t>
            </a:r>
          </a:p>
        </p:txBody>
      </p:sp>
      <p:sp>
        <p:nvSpPr>
          <p:cNvPr name="TextBox 37" id="37"/>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Hoarding</a:t>
            </a:r>
          </a:p>
        </p:txBody>
      </p:sp>
      <p:sp>
        <p:nvSpPr>
          <p:cNvPr name="TextBox 38" id="38"/>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Panrutti</a:t>
            </a:r>
          </a:p>
        </p:txBody>
      </p:sp>
      <p:sp>
        <p:nvSpPr>
          <p:cNvPr name="TextBox 39" id="39"/>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40" id="40"/>
          <p:cNvSpPr txBox="true"/>
          <p:nvPr/>
        </p:nvSpPr>
        <p:spPr>
          <a:xfrm rot="0">
            <a:off x="0" y="721678"/>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Inside bus stand- Panrutti 20x20</a:t>
            </a:r>
          </a:p>
        </p:txBody>
      </p:sp>
    </p:spTree>
  </p:cSld>
  <p:clrMapOvr>
    <a:masterClrMapping/>
  </p:clrMapOvr>
</p:sld>
</file>

<file path=ppt/slides/slide_gen_900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uZ459Wa5fqahfEF96"/>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sp>
        <p:nvSpPr>
          <p:cNvPr name="TextBox 29" id="29"/>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0" id="30"/>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1" id="31"/>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2" id="32"/>
          <p:cNvSpPr txBox="true"/>
          <p:nvPr/>
        </p:nvSpPr>
        <p:spPr>
          <a:xfrm rot="0">
            <a:off x="12635198" y="7020816"/>
            <a:ext cx="1696522"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Illumination:</a:t>
            </a:r>
          </a:p>
        </p:txBody>
      </p:sp>
      <p:sp>
        <p:nvSpPr>
          <p:cNvPr name="TextBox 33" id="33"/>
          <p:cNvSpPr txBox="true"/>
          <p:nvPr/>
        </p:nvSpPr>
        <p:spPr>
          <a:xfrm rot="0">
            <a:off x="12635198" y="8414641"/>
            <a:ext cx="681276"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Unit:</a:t>
            </a:r>
          </a:p>
        </p:txBody>
      </p:sp>
      <p:sp>
        <p:nvSpPr>
          <p:cNvPr name="TextBox 34" id="34"/>
          <p:cNvSpPr txBox="true"/>
          <p:nvPr/>
        </p:nvSpPr>
        <p:spPr>
          <a:xfrm rot="0">
            <a:off x="15377227" y="8408521"/>
            <a:ext cx="158829"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name="TextBox 35" id="35"/>
          <p:cNvSpPr txBox="true"/>
          <p:nvPr/>
        </p:nvSpPr>
        <p:spPr>
          <a:xfrm rot="0">
            <a:off x="15377227" y="7020816"/>
            <a:ext cx="106799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Not Lit</a:t>
            </a:r>
          </a:p>
        </p:txBody>
      </p:sp>
      <p:sp>
        <p:nvSpPr>
          <p:cNvPr name="TextBox 36" id="36"/>
          <p:cNvSpPr txBox="true"/>
          <p:nvPr/>
        </p:nvSpPr>
        <p:spPr>
          <a:xfrm rot="0">
            <a:off x="15377227" y="4233166"/>
            <a:ext cx="79367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30x20</a:t>
            </a:r>
          </a:p>
        </p:txBody>
      </p:sp>
      <p:sp>
        <p:nvSpPr>
          <p:cNvPr name="TextBox 37" id="37"/>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Hoarding</a:t>
            </a:r>
          </a:p>
        </p:txBody>
      </p:sp>
      <p:sp>
        <p:nvSpPr>
          <p:cNvPr name="TextBox 38" id="38"/>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Dharmapuri</a:t>
            </a:r>
          </a:p>
        </p:txBody>
      </p:sp>
      <p:sp>
        <p:nvSpPr>
          <p:cNvPr name="TextBox 39" id="39"/>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40" id="40"/>
          <p:cNvSpPr txBox="true"/>
          <p:nvPr/>
        </p:nvSpPr>
        <p:spPr>
          <a:xfrm rot="0">
            <a:off x="0" y="721678"/>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Palakodu 30x20</a:t>
            </a:r>
          </a:p>
        </p:txBody>
      </p:sp>
    </p:spTree>
  </p:cSld>
  <p:clrMapOvr>
    <a:masterClrMapping/>
  </p:clrMapOvr>
</p:sld>
</file>

<file path=ppt/slides/slide_gen_900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uZ459Wa5fqahfEF96"/>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sp>
        <p:nvSpPr>
          <p:cNvPr name="TextBox 29" id="29"/>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0" id="30"/>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1" id="31"/>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2" id="32"/>
          <p:cNvSpPr txBox="true"/>
          <p:nvPr/>
        </p:nvSpPr>
        <p:spPr>
          <a:xfrm rot="0">
            <a:off x="12635198" y="7020816"/>
            <a:ext cx="1696522"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Illumination:</a:t>
            </a:r>
          </a:p>
        </p:txBody>
      </p:sp>
      <p:sp>
        <p:nvSpPr>
          <p:cNvPr name="TextBox 33" id="33"/>
          <p:cNvSpPr txBox="true"/>
          <p:nvPr/>
        </p:nvSpPr>
        <p:spPr>
          <a:xfrm rot="0">
            <a:off x="12635198" y="8414641"/>
            <a:ext cx="681276"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Unit:</a:t>
            </a:r>
          </a:p>
        </p:txBody>
      </p:sp>
      <p:sp>
        <p:nvSpPr>
          <p:cNvPr name="TextBox 34" id="34"/>
          <p:cNvSpPr txBox="true"/>
          <p:nvPr/>
        </p:nvSpPr>
        <p:spPr>
          <a:xfrm rot="0">
            <a:off x="15377227" y="8408521"/>
            <a:ext cx="158829"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name="TextBox 35" id="35"/>
          <p:cNvSpPr txBox="true"/>
          <p:nvPr/>
        </p:nvSpPr>
        <p:spPr>
          <a:xfrm rot="0">
            <a:off x="15377227" y="7020816"/>
            <a:ext cx="106799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Not Lit</a:t>
            </a:r>
          </a:p>
        </p:txBody>
      </p:sp>
      <p:sp>
        <p:nvSpPr>
          <p:cNvPr name="TextBox 36" id="36"/>
          <p:cNvSpPr txBox="true"/>
          <p:nvPr/>
        </p:nvSpPr>
        <p:spPr>
          <a:xfrm rot="0">
            <a:off x="15377227" y="4233166"/>
            <a:ext cx="79367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40x25</a:t>
            </a:r>
          </a:p>
        </p:txBody>
      </p:sp>
      <p:sp>
        <p:nvSpPr>
          <p:cNvPr name="TextBox 37" id="37"/>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Unipole</a:t>
            </a:r>
          </a:p>
        </p:txBody>
      </p:sp>
      <p:sp>
        <p:nvSpPr>
          <p:cNvPr name="TextBox 38" id="38"/>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Krishnagiri</a:t>
            </a:r>
          </a:p>
        </p:txBody>
      </p:sp>
      <p:sp>
        <p:nvSpPr>
          <p:cNvPr name="TextBox 39" id="39"/>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40" id="40"/>
          <p:cNvSpPr txBox="true"/>
          <p:nvPr/>
        </p:nvSpPr>
        <p:spPr>
          <a:xfrm rot="0">
            <a:off x="0" y="721678"/>
            <a:ext cx="18288000"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idot LP"/>
                <a:ea typeface="Didot LP"/>
                <a:cs typeface="Didot LP"/>
                <a:sym typeface="Didot LP"/>
              </a:rPr>
              <a:t>Junjupalli Flyover towards Hosur 40x25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DAHR3jF5rqE</dc:identifier>
  <dcterms:modified xsi:type="dcterms:W3CDTF">2011-08-01T06:04:30Z</dcterms:modified>
  <cp:revision>1</cp:revision>
  <dc:title>1.Adinn New Template</dc:title>
</cp:coreProperties>
</file>