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Didot LP" panose="020B0604020202020204" charset="0"/>
      <p:regular r:id="rId8"/>
    </p:embeddedFont>
    <p:embeddedFont>
      <p:font typeface="Futura Display" panose="020B0604020202020204" charset="0"/>
      <p:regular r:id="rId9"/>
    </p:embeddedFont>
    <p:embeddedFont>
      <p:font typeface="Garet Bold" panose="020B0604020202020204" charset="0"/>
      <p:regular r:id="rId10"/>
    </p:embeddedFont>
    <p:embeddedFont>
      <p:font typeface="Poppins Bold" panose="020B0604020202020204" charset="0"/>
      <p:regular r:id="rId11"/>
    </p:embeddedFont>
    <p:embeddedFont>
      <p:font typeface="Public Sans" panose="020B0604020202020204" charset="0"/>
      <p:regular r:id="rId12"/>
    </p:embeddedFont>
    <p:embeddedFont>
      <p:font typeface="Public Sans Bold" panose="020B0604020202020204" charset="0"/>
      <p:regular r:id="rId13"/>
    </p:embeddedFont>
    <p:embeddedFont>
      <p:font typeface="Roboto" panose="02000000000000000000" pitchFamily="2" charset="0"/>
      <p:regular r:id="rId14"/>
    </p:embeddedFont>
    <p:embeddedFont>
      <p:font typeface="Times New Roman MT" panose="020B0604020202020204" charset="0"/>
      <p:regular r:id="rId15"/>
    </p:embeddedFont>
    <p:embeddedFont>
      <p:font typeface="Times New Roman MT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2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6"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9.jpe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hyperlink" Target="https://adinnoutdoors.com"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6.pn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7.svg"/><Relationship Id="rId9"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6.png"/><Relationship Id="rId3" Type="http://schemas.openxmlformats.org/officeDocument/2006/relationships/image" Target="../media/image21.png"/><Relationship Id="rId7" Type="http://schemas.openxmlformats.org/officeDocument/2006/relationships/image" Target="../media/image25.svg"/><Relationship Id="rId12" Type="http://schemas.openxmlformats.org/officeDocument/2006/relationships/image" Target="../media/image11.svg"/><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10.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png"/><Relationship Id="rId9"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6.png"/><Relationship Id="rId7" Type="http://schemas.openxmlformats.org/officeDocument/2006/relationships/hyperlink" Target="https://maps.app.goo.gl/uZ459Wa5fqahfEF96" TargetMode="External"/><Relationship Id="rId2" Type="http://schemas.openxmlformats.org/officeDocument/2006/relationships/image" Target="../media/image29.jpe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8.sv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2.png"/><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3.png"/><Relationship Id="rId7" Type="http://schemas.openxmlformats.org/officeDocument/2006/relationships/hyperlink" Target="https://adinnoutdoors.com" TargetMode="External"/><Relationship Id="rId12"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svg"/><Relationship Id="rId11" Type="http://schemas.openxmlformats.org/officeDocument/2006/relationships/image" Target="../media/image38.svg"/><Relationship Id="rId5" Type="http://schemas.openxmlformats.org/officeDocument/2006/relationships/image" Target="../media/image35.png"/><Relationship Id="rId10" Type="http://schemas.openxmlformats.org/officeDocument/2006/relationships/image" Target="../media/image37.png"/><Relationship Id="rId4" Type="http://schemas.openxmlformats.org/officeDocument/2006/relationships/image" Target="../media/image34.svg"/><Relationship Id="rId9"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flipH="1">
            <a:off x="9716854" y="710272"/>
            <a:ext cx="10181599" cy="9659792"/>
          </a:xfrm>
          <a:custGeom>
            <a:avLst/>
            <a:gdLst/>
            <a:ahLst/>
            <a:cxnLst/>
            <a:rect l="l" t="t" r="r" b="b"/>
            <a:pathLst>
              <a:path w="10181599" h="9659792">
                <a:moveTo>
                  <a:pt x="10181599" y="0"/>
                </a:moveTo>
                <a:lnTo>
                  <a:pt x="0" y="0"/>
                </a:lnTo>
                <a:lnTo>
                  <a:pt x="0" y="9659792"/>
                </a:lnTo>
                <a:lnTo>
                  <a:pt x="10181599" y="9659792"/>
                </a:lnTo>
                <a:lnTo>
                  <a:pt x="10181599"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991634" y="8140197"/>
            <a:ext cx="400086" cy="393539"/>
          </a:xfrm>
          <a:custGeom>
            <a:avLst/>
            <a:gdLst/>
            <a:ahLst/>
            <a:cxnLst/>
            <a:rect l="l" t="t" r="r" b="b"/>
            <a:pathLst>
              <a:path w="400086" h="393539">
                <a:moveTo>
                  <a:pt x="0" y="0"/>
                </a:moveTo>
                <a:lnTo>
                  <a:pt x="400086" y="0"/>
                </a:lnTo>
                <a:lnTo>
                  <a:pt x="400086" y="393539"/>
                </a:lnTo>
                <a:lnTo>
                  <a:pt x="0" y="3935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8258874">
            <a:off x="12211145" y="747392"/>
            <a:ext cx="7047814" cy="960265"/>
          </a:xfrm>
          <a:custGeom>
            <a:avLst/>
            <a:gdLst/>
            <a:ahLst/>
            <a:cxnLst/>
            <a:rect l="l" t="t" r="r" b="b"/>
            <a:pathLst>
              <a:path w="7047814" h="960265">
                <a:moveTo>
                  <a:pt x="0" y="0"/>
                </a:moveTo>
                <a:lnTo>
                  <a:pt x="7047814" y="0"/>
                </a:lnTo>
                <a:lnTo>
                  <a:pt x="7047814" y="960265"/>
                </a:lnTo>
                <a:lnTo>
                  <a:pt x="0" y="960265"/>
                </a:lnTo>
                <a:lnTo>
                  <a:pt x="0" y="0"/>
                </a:lnTo>
                <a:close/>
              </a:path>
            </a:pathLst>
          </a:custGeom>
          <a:blipFill>
            <a:blip r:embed="rId7">
              <a:alphaModFix amt="58000"/>
            </a:blip>
            <a:stretch>
              <a:fillRect/>
            </a:stretch>
          </a:blipFill>
        </p:spPr>
      </p:sp>
      <p:sp>
        <p:nvSpPr>
          <p:cNvPr id="6" name="Freeform 6"/>
          <p:cNvSpPr/>
          <p:nvPr/>
        </p:nvSpPr>
        <p:spPr>
          <a:xfrm rot="8258874">
            <a:off x="13548200" y="2172227"/>
            <a:ext cx="7047814" cy="960265"/>
          </a:xfrm>
          <a:custGeom>
            <a:avLst/>
            <a:gdLst/>
            <a:ahLst/>
            <a:cxnLst/>
            <a:rect l="l" t="t" r="r" b="b"/>
            <a:pathLst>
              <a:path w="7047814" h="960265">
                <a:moveTo>
                  <a:pt x="0" y="0"/>
                </a:moveTo>
                <a:lnTo>
                  <a:pt x="7047814" y="0"/>
                </a:lnTo>
                <a:lnTo>
                  <a:pt x="7047814" y="960264"/>
                </a:lnTo>
                <a:lnTo>
                  <a:pt x="0" y="960264"/>
                </a:lnTo>
                <a:lnTo>
                  <a:pt x="0" y="0"/>
                </a:lnTo>
                <a:close/>
              </a:path>
            </a:pathLst>
          </a:custGeom>
          <a:blipFill>
            <a:blip r:embed="rId7">
              <a:alphaModFix amt="58000"/>
            </a:blip>
            <a:stretch>
              <a:fillRect/>
            </a:stretch>
          </a:blipFill>
        </p:spPr>
      </p:sp>
      <p:grpSp>
        <p:nvGrpSpPr>
          <p:cNvPr id="7" name="Group 7"/>
          <p:cNvGrpSpPr/>
          <p:nvPr/>
        </p:nvGrpSpPr>
        <p:grpSpPr>
          <a:xfrm rot="2700000">
            <a:off x="14326128" y="-1556233"/>
            <a:ext cx="1741316" cy="9057469"/>
            <a:chOff x="0" y="0"/>
            <a:chExt cx="458618" cy="2385506"/>
          </a:xfrm>
        </p:grpSpPr>
        <p:sp>
          <p:nvSpPr>
            <p:cNvPr id="8" name="Freeform 8"/>
            <p:cNvSpPr/>
            <p:nvPr/>
          </p:nvSpPr>
          <p:spPr>
            <a:xfrm>
              <a:off x="0" y="0"/>
              <a:ext cx="458618" cy="2385506"/>
            </a:xfrm>
            <a:custGeom>
              <a:avLst/>
              <a:gdLst/>
              <a:ahLst/>
              <a:cxnLst/>
              <a:rect l="l" t="t" r="r" b="b"/>
              <a:pathLst>
                <a:path w="458618" h="2385506">
                  <a:moveTo>
                    <a:pt x="0" y="0"/>
                  </a:moveTo>
                  <a:lnTo>
                    <a:pt x="458618" y="0"/>
                  </a:lnTo>
                  <a:lnTo>
                    <a:pt x="458618" y="2385506"/>
                  </a:lnTo>
                  <a:lnTo>
                    <a:pt x="0" y="2385506"/>
                  </a:lnTo>
                  <a:close/>
                </a:path>
              </a:pathLst>
            </a:custGeom>
            <a:solidFill>
              <a:srgbClr val="C2221E"/>
            </a:solidFill>
          </p:spPr>
        </p:sp>
        <p:sp>
          <p:nvSpPr>
            <p:cNvPr id="9" name="TextBox 9"/>
            <p:cNvSpPr txBox="1"/>
            <p:nvPr/>
          </p:nvSpPr>
          <p:spPr>
            <a:xfrm>
              <a:off x="0" y="-66675"/>
              <a:ext cx="458618" cy="2452181"/>
            </a:xfrm>
            <a:prstGeom prst="rect">
              <a:avLst/>
            </a:prstGeom>
          </p:spPr>
          <p:txBody>
            <a:bodyPr lIns="50800" tIns="50800" rIns="50800" bIns="50800" rtlCol="0" anchor="ctr"/>
            <a:lstStyle/>
            <a:p>
              <a:pPr algn="ctr">
                <a:lnSpc>
                  <a:spcPts val="3354"/>
                </a:lnSpc>
              </a:pPr>
              <a:endParaRPr/>
            </a:p>
          </p:txBody>
        </p:sp>
      </p:grpSp>
      <p:sp>
        <p:nvSpPr>
          <p:cNvPr id="10" name="Freeform 10"/>
          <p:cNvSpPr/>
          <p:nvPr/>
        </p:nvSpPr>
        <p:spPr>
          <a:xfrm rot="2700000">
            <a:off x="12659543" y="9239267"/>
            <a:ext cx="7047814" cy="960265"/>
          </a:xfrm>
          <a:custGeom>
            <a:avLst/>
            <a:gdLst/>
            <a:ahLst/>
            <a:cxnLst/>
            <a:rect l="l" t="t" r="r" b="b"/>
            <a:pathLst>
              <a:path w="7047814" h="960265">
                <a:moveTo>
                  <a:pt x="0" y="0"/>
                </a:moveTo>
                <a:lnTo>
                  <a:pt x="7047814" y="0"/>
                </a:lnTo>
                <a:lnTo>
                  <a:pt x="7047814" y="960265"/>
                </a:lnTo>
                <a:lnTo>
                  <a:pt x="0" y="960265"/>
                </a:lnTo>
                <a:lnTo>
                  <a:pt x="0" y="0"/>
                </a:lnTo>
                <a:close/>
              </a:path>
            </a:pathLst>
          </a:custGeom>
          <a:blipFill>
            <a:blip r:embed="rId7">
              <a:alphaModFix amt="58000"/>
            </a:blip>
            <a:stretch>
              <a:fillRect/>
            </a:stretch>
          </a:blipFill>
        </p:spPr>
      </p:sp>
      <p:sp>
        <p:nvSpPr>
          <p:cNvPr id="11" name="Freeform 11"/>
          <p:cNvSpPr/>
          <p:nvPr/>
        </p:nvSpPr>
        <p:spPr>
          <a:xfrm rot="2700000">
            <a:off x="13871065" y="7494651"/>
            <a:ext cx="7047814" cy="960265"/>
          </a:xfrm>
          <a:custGeom>
            <a:avLst/>
            <a:gdLst/>
            <a:ahLst/>
            <a:cxnLst/>
            <a:rect l="l" t="t" r="r" b="b"/>
            <a:pathLst>
              <a:path w="7047814" h="960265">
                <a:moveTo>
                  <a:pt x="0" y="0"/>
                </a:moveTo>
                <a:lnTo>
                  <a:pt x="7047814" y="0"/>
                </a:lnTo>
                <a:lnTo>
                  <a:pt x="7047814" y="960265"/>
                </a:lnTo>
                <a:lnTo>
                  <a:pt x="0" y="960265"/>
                </a:lnTo>
                <a:lnTo>
                  <a:pt x="0" y="0"/>
                </a:lnTo>
                <a:close/>
              </a:path>
            </a:pathLst>
          </a:custGeom>
          <a:blipFill>
            <a:blip r:embed="rId7">
              <a:alphaModFix amt="58000"/>
            </a:blip>
            <a:stretch>
              <a:fillRect/>
            </a:stretch>
          </a:blipFill>
        </p:spPr>
      </p:sp>
      <p:grpSp>
        <p:nvGrpSpPr>
          <p:cNvPr id="12" name="Group 12"/>
          <p:cNvGrpSpPr/>
          <p:nvPr/>
        </p:nvGrpSpPr>
        <p:grpSpPr>
          <a:xfrm rot="2700000">
            <a:off x="16090327" y="-591108"/>
            <a:ext cx="1741316" cy="9057469"/>
            <a:chOff x="0" y="0"/>
            <a:chExt cx="458618" cy="2385506"/>
          </a:xfrm>
        </p:grpSpPr>
        <p:sp>
          <p:nvSpPr>
            <p:cNvPr id="13" name="Freeform 13"/>
            <p:cNvSpPr/>
            <p:nvPr/>
          </p:nvSpPr>
          <p:spPr>
            <a:xfrm>
              <a:off x="0" y="0"/>
              <a:ext cx="458618" cy="2385506"/>
            </a:xfrm>
            <a:custGeom>
              <a:avLst/>
              <a:gdLst/>
              <a:ahLst/>
              <a:cxnLst/>
              <a:rect l="l" t="t" r="r" b="b"/>
              <a:pathLst>
                <a:path w="458618" h="2385506">
                  <a:moveTo>
                    <a:pt x="0" y="0"/>
                  </a:moveTo>
                  <a:lnTo>
                    <a:pt x="458618" y="0"/>
                  </a:lnTo>
                  <a:lnTo>
                    <a:pt x="458618" y="2385506"/>
                  </a:lnTo>
                  <a:lnTo>
                    <a:pt x="0" y="2385506"/>
                  </a:lnTo>
                  <a:close/>
                </a:path>
              </a:pathLst>
            </a:custGeom>
            <a:solidFill>
              <a:srgbClr val="C2221E"/>
            </a:solidFill>
          </p:spPr>
        </p:sp>
        <p:sp>
          <p:nvSpPr>
            <p:cNvPr id="14" name="TextBox 14"/>
            <p:cNvSpPr txBox="1"/>
            <p:nvPr/>
          </p:nvSpPr>
          <p:spPr>
            <a:xfrm>
              <a:off x="0" y="-66675"/>
              <a:ext cx="458618" cy="2452181"/>
            </a:xfrm>
            <a:prstGeom prst="rect">
              <a:avLst/>
            </a:prstGeom>
          </p:spPr>
          <p:txBody>
            <a:bodyPr lIns="50800" tIns="50800" rIns="50800" bIns="50800" rtlCol="0" anchor="ctr"/>
            <a:lstStyle/>
            <a:p>
              <a:pPr algn="ctr">
                <a:lnSpc>
                  <a:spcPts val="3354"/>
                </a:lnSpc>
              </a:pPr>
              <a:endParaRPr/>
            </a:p>
          </p:txBody>
        </p:sp>
      </p:grpSp>
      <p:grpSp>
        <p:nvGrpSpPr>
          <p:cNvPr id="15" name="Group 15"/>
          <p:cNvGrpSpPr/>
          <p:nvPr/>
        </p:nvGrpSpPr>
        <p:grpSpPr>
          <a:xfrm rot="8100000">
            <a:off x="14326128" y="2897446"/>
            <a:ext cx="1741316" cy="9057469"/>
            <a:chOff x="0" y="0"/>
            <a:chExt cx="458618" cy="2385506"/>
          </a:xfrm>
        </p:grpSpPr>
        <p:sp>
          <p:nvSpPr>
            <p:cNvPr id="16" name="Freeform 16"/>
            <p:cNvSpPr/>
            <p:nvPr/>
          </p:nvSpPr>
          <p:spPr>
            <a:xfrm>
              <a:off x="0" y="0"/>
              <a:ext cx="458618" cy="2385506"/>
            </a:xfrm>
            <a:custGeom>
              <a:avLst/>
              <a:gdLst/>
              <a:ahLst/>
              <a:cxnLst/>
              <a:rect l="l" t="t" r="r" b="b"/>
              <a:pathLst>
                <a:path w="458618" h="2385506">
                  <a:moveTo>
                    <a:pt x="0" y="0"/>
                  </a:moveTo>
                  <a:lnTo>
                    <a:pt x="458618" y="0"/>
                  </a:lnTo>
                  <a:lnTo>
                    <a:pt x="458618" y="2385506"/>
                  </a:lnTo>
                  <a:lnTo>
                    <a:pt x="0" y="2385506"/>
                  </a:lnTo>
                  <a:close/>
                </a:path>
              </a:pathLst>
            </a:custGeom>
            <a:solidFill>
              <a:srgbClr val="C2221E"/>
            </a:solidFill>
          </p:spPr>
        </p:sp>
        <p:sp>
          <p:nvSpPr>
            <p:cNvPr id="17" name="TextBox 17"/>
            <p:cNvSpPr txBox="1"/>
            <p:nvPr/>
          </p:nvSpPr>
          <p:spPr>
            <a:xfrm>
              <a:off x="0" y="-66675"/>
              <a:ext cx="458618" cy="2452181"/>
            </a:xfrm>
            <a:prstGeom prst="rect">
              <a:avLst/>
            </a:prstGeom>
          </p:spPr>
          <p:txBody>
            <a:bodyPr lIns="50800" tIns="50800" rIns="50800" bIns="50800" rtlCol="0" anchor="ctr"/>
            <a:lstStyle/>
            <a:p>
              <a:pPr algn="ctr">
                <a:lnSpc>
                  <a:spcPts val="3354"/>
                </a:lnSpc>
              </a:pPr>
              <a:endParaRPr/>
            </a:p>
          </p:txBody>
        </p:sp>
      </p:grpSp>
      <p:grpSp>
        <p:nvGrpSpPr>
          <p:cNvPr id="18" name="Group 18"/>
          <p:cNvGrpSpPr/>
          <p:nvPr/>
        </p:nvGrpSpPr>
        <p:grpSpPr>
          <a:xfrm rot="8100000">
            <a:off x="15847918" y="1684371"/>
            <a:ext cx="1741316" cy="9057469"/>
            <a:chOff x="0" y="0"/>
            <a:chExt cx="458618" cy="2385506"/>
          </a:xfrm>
        </p:grpSpPr>
        <p:sp>
          <p:nvSpPr>
            <p:cNvPr id="19" name="Freeform 19"/>
            <p:cNvSpPr/>
            <p:nvPr/>
          </p:nvSpPr>
          <p:spPr>
            <a:xfrm>
              <a:off x="0" y="0"/>
              <a:ext cx="458618" cy="2385506"/>
            </a:xfrm>
            <a:custGeom>
              <a:avLst/>
              <a:gdLst/>
              <a:ahLst/>
              <a:cxnLst/>
              <a:rect l="l" t="t" r="r" b="b"/>
              <a:pathLst>
                <a:path w="458618" h="2385506">
                  <a:moveTo>
                    <a:pt x="0" y="0"/>
                  </a:moveTo>
                  <a:lnTo>
                    <a:pt x="458618" y="0"/>
                  </a:lnTo>
                  <a:lnTo>
                    <a:pt x="458618" y="2385506"/>
                  </a:lnTo>
                  <a:lnTo>
                    <a:pt x="0" y="2385506"/>
                  </a:lnTo>
                  <a:close/>
                </a:path>
              </a:pathLst>
            </a:custGeom>
            <a:solidFill>
              <a:srgbClr val="C2221E"/>
            </a:solidFill>
          </p:spPr>
        </p:sp>
        <p:sp>
          <p:nvSpPr>
            <p:cNvPr id="20" name="TextBox 20"/>
            <p:cNvSpPr txBox="1"/>
            <p:nvPr/>
          </p:nvSpPr>
          <p:spPr>
            <a:xfrm>
              <a:off x="0" y="-66675"/>
              <a:ext cx="458618" cy="2452181"/>
            </a:xfrm>
            <a:prstGeom prst="rect">
              <a:avLst/>
            </a:prstGeom>
          </p:spPr>
          <p:txBody>
            <a:bodyPr lIns="50800" tIns="50800" rIns="50800" bIns="50800" rtlCol="0" anchor="ctr"/>
            <a:lstStyle/>
            <a:p>
              <a:pPr algn="ctr">
                <a:lnSpc>
                  <a:spcPts val="3354"/>
                </a:lnSpc>
              </a:pPr>
              <a:endParaRPr/>
            </a:p>
          </p:txBody>
        </p:sp>
      </p:grpSp>
      <p:sp>
        <p:nvSpPr>
          <p:cNvPr id="21" name="Freeform 21"/>
          <p:cNvSpPr/>
          <p:nvPr/>
        </p:nvSpPr>
        <p:spPr>
          <a:xfrm>
            <a:off x="8917851" y="-83064"/>
            <a:ext cx="10453128" cy="10453128"/>
          </a:xfrm>
          <a:custGeom>
            <a:avLst/>
            <a:gdLst/>
            <a:ahLst/>
            <a:cxnLst/>
            <a:rect l="l" t="t" r="r" b="b"/>
            <a:pathLst>
              <a:path w="10453128" h="10453128">
                <a:moveTo>
                  <a:pt x="0" y="0"/>
                </a:moveTo>
                <a:lnTo>
                  <a:pt x="10453128" y="0"/>
                </a:lnTo>
                <a:lnTo>
                  <a:pt x="10453128" y="10453128"/>
                </a:lnTo>
                <a:lnTo>
                  <a:pt x="0" y="10453128"/>
                </a:lnTo>
                <a:lnTo>
                  <a:pt x="0" y="0"/>
                </a:lnTo>
                <a:close/>
              </a:path>
            </a:pathLst>
          </a:custGeom>
          <a:blipFill>
            <a:blip r:embed="rId8">
              <a:alphaModFix amt="64000"/>
              <a:extLst>
                <a:ext uri="{96DAC541-7B7A-43D3-8B79-37D633B846F1}">
                  <asvg:svgBlip xmlns:asvg="http://schemas.microsoft.com/office/drawing/2016/SVG/main" r:embed="rId9"/>
                </a:ext>
              </a:extLst>
            </a:blip>
            <a:stretch>
              <a:fillRect/>
            </a:stretch>
          </a:blipFill>
        </p:spPr>
      </p:sp>
      <p:grpSp>
        <p:nvGrpSpPr>
          <p:cNvPr id="22" name="Group 22"/>
          <p:cNvGrpSpPr/>
          <p:nvPr/>
        </p:nvGrpSpPr>
        <p:grpSpPr>
          <a:xfrm>
            <a:off x="10157952" y="1157037"/>
            <a:ext cx="7972925" cy="797292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10"/>
              <a:stretch>
                <a:fillRect l="-14559" t="-442" b="-42756"/>
              </a:stretch>
            </a:blipFill>
            <a:ln w="123825" cap="sq">
              <a:solidFill>
                <a:srgbClr val="FFFFFF"/>
              </a:solidFill>
              <a:prstDash val="solid"/>
              <a:miter/>
            </a:ln>
          </p:spPr>
        </p:sp>
      </p:grpSp>
      <p:grpSp>
        <p:nvGrpSpPr>
          <p:cNvPr id="24" name="Group 24"/>
          <p:cNvGrpSpPr/>
          <p:nvPr/>
        </p:nvGrpSpPr>
        <p:grpSpPr>
          <a:xfrm>
            <a:off x="4319608" y="9438611"/>
            <a:ext cx="6852228" cy="1647825"/>
            <a:chOff x="0" y="0"/>
            <a:chExt cx="1804702" cy="433995"/>
          </a:xfrm>
        </p:grpSpPr>
        <p:sp>
          <p:nvSpPr>
            <p:cNvPr id="25" name="Freeform 25"/>
            <p:cNvSpPr/>
            <p:nvPr/>
          </p:nvSpPr>
          <p:spPr>
            <a:xfrm>
              <a:off x="0" y="0"/>
              <a:ext cx="1804702" cy="433995"/>
            </a:xfrm>
            <a:custGeom>
              <a:avLst/>
              <a:gdLst/>
              <a:ahLst/>
              <a:cxnLst/>
              <a:rect l="l" t="t" r="r" b="b"/>
              <a:pathLst>
                <a:path w="1804702" h="433995">
                  <a:moveTo>
                    <a:pt x="1601502" y="0"/>
                  </a:moveTo>
                  <a:lnTo>
                    <a:pt x="0" y="0"/>
                  </a:lnTo>
                  <a:lnTo>
                    <a:pt x="0" y="433995"/>
                  </a:lnTo>
                  <a:lnTo>
                    <a:pt x="1601502" y="433995"/>
                  </a:lnTo>
                  <a:lnTo>
                    <a:pt x="1804702" y="216998"/>
                  </a:lnTo>
                  <a:lnTo>
                    <a:pt x="1601502" y="0"/>
                  </a:lnTo>
                  <a:close/>
                </a:path>
              </a:pathLst>
            </a:custGeom>
            <a:solidFill>
              <a:srgbClr val="C2221E"/>
            </a:solidFill>
          </p:spPr>
        </p:sp>
        <p:sp>
          <p:nvSpPr>
            <p:cNvPr id="26" name="TextBox 26"/>
            <p:cNvSpPr txBox="1"/>
            <p:nvPr/>
          </p:nvSpPr>
          <p:spPr>
            <a:xfrm>
              <a:off x="0" y="-66675"/>
              <a:ext cx="1690402" cy="500670"/>
            </a:xfrm>
            <a:prstGeom prst="rect">
              <a:avLst/>
            </a:prstGeom>
          </p:spPr>
          <p:txBody>
            <a:bodyPr lIns="50800" tIns="50800" rIns="50800" bIns="50800" rtlCol="0" anchor="ctr"/>
            <a:lstStyle/>
            <a:p>
              <a:pPr algn="ctr">
                <a:lnSpc>
                  <a:spcPts val="3354"/>
                </a:lnSpc>
              </a:pPr>
              <a:endParaRPr/>
            </a:p>
          </p:txBody>
        </p:sp>
      </p:grpSp>
      <p:grpSp>
        <p:nvGrpSpPr>
          <p:cNvPr id="27" name="Group 27"/>
          <p:cNvGrpSpPr/>
          <p:nvPr/>
        </p:nvGrpSpPr>
        <p:grpSpPr>
          <a:xfrm>
            <a:off x="2299202" y="-487803"/>
            <a:ext cx="4056912" cy="975607"/>
            <a:chOff x="0" y="0"/>
            <a:chExt cx="1804702" cy="433995"/>
          </a:xfrm>
        </p:grpSpPr>
        <p:sp>
          <p:nvSpPr>
            <p:cNvPr id="28" name="Freeform 28"/>
            <p:cNvSpPr/>
            <p:nvPr/>
          </p:nvSpPr>
          <p:spPr>
            <a:xfrm>
              <a:off x="0" y="0"/>
              <a:ext cx="1804702" cy="433995"/>
            </a:xfrm>
            <a:custGeom>
              <a:avLst/>
              <a:gdLst/>
              <a:ahLst/>
              <a:cxnLst/>
              <a:rect l="l" t="t" r="r" b="b"/>
              <a:pathLst>
                <a:path w="1804702" h="433995">
                  <a:moveTo>
                    <a:pt x="1601502" y="0"/>
                  </a:moveTo>
                  <a:lnTo>
                    <a:pt x="0" y="0"/>
                  </a:lnTo>
                  <a:lnTo>
                    <a:pt x="0" y="433995"/>
                  </a:lnTo>
                  <a:lnTo>
                    <a:pt x="1601502" y="433995"/>
                  </a:lnTo>
                  <a:lnTo>
                    <a:pt x="1804702" y="216998"/>
                  </a:lnTo>
                  <a:lnTo>
                    <a:pt x="1601502" y="0"/>
                  </a:lnTo>
                  <a:close/>
                </a:path>
              </a:pathLst>
            </a:custGeom>
            <a:solidFill>
              <a:srgbClr val="C2221E"/>
            </a:solidFill>
          </p:spPr>
        </p:sp>
        <p:sp>
          <p:nvSpPr>
            <p:cNvPr id="29" name="TextBox 29"/>
            <p:cNvSpPr txBox="1"/>
            <p:nvPr/>
          </p:nvSpPr>
          <p:spPr>
            <a:xfrm>
              <a:off x="0" y="-66675"/>
              <a:ext cx="1690402" cy="500670"/>
            </a:xfrm>
            <a:prstGeom prst="rect">
              <a:avLst/>
            </a:prstGeom>
          </p:spPr>
          <p:txBody>
            <a:bodyPr lIns="50800" tIns="50800" rIns="50800" bIns="50800" rtlCol="0" anchor="ctr"/>
            <a:lstStyle/>
            <a:p>
              <a:pPr algn="ctr">
                <a:lnSpc>
                  <a:spcPts val="3354"/>
                </a:lnSpc>
              </a:pPr>
              <a:endParaRPr/>
            </a:p>
          </p:txBody>
        </p:sp>
      </p:grpSp>
      <p:grpSp>
        <p:nvGrpSpPr>
          <p:cNvPr id="30" name="Group 30"/>
          <p:cNvGrpSpPr/>
          <p:nvPr/>
        </p:nvGrpSpPr>
        <p:grpSpPr>
          <a:xfrm>
            <a:off x="-204646" y="9438611"/>
            <a:ext cx="6219700" cy="1647825"/>
            <a:chOff x="0" y="0"/>
            <a:chExt cx="1638110" cy="433995"/>
          </a:xfrm>
        </p:grpSpPr>
        <p:sp>
          <p:nvSpPr>
            <p:cNvPr id="31" name="Freeform 31"/>
            <p:cNvSpPr/>
            <p:nvPr/>
          </p:nvSpPr>
          <p:spPr>
            <a:xfrm>
              <a:off x="0" y="0"/>
              <a:ext cx="1638110" cy="433995"/>
            </a:xfrm>
            <a:custGeom>
              <a:avLst/>
              <a:gdLst/>
              <a:ahLst/>
              <a:cxnLst/>
              <a:rect l="l" t="t" r="r" b="b"/>
              <a:pathLst>
                <a:path w="1638110" h="433995">
                  <a:moveTo>
                    <a:pt x="1434910" y="0"/>
                  </a:moveTo>
                  <a:lnTo>
                    <a:pt x="0" y="0"/>
                  </a:lnTo>
                  <a:lnTo>
                    <a:pt x="0" y="433995"/>
                  </a:lnTo>
                  <a:lnTo>
                    <a:pt x="1434910" y="433995"/>
                  </a:lnTo>
                  <a:lnTo>
                    <a:pt x="1638110" y="216998"/>
                  </a:lnTo>
                  <a:lnTo>
                    <a:pt x="1434910" y="0"/>
                  </a:lnTo>
                  <a:close/>
                </a:path>
              </a:pathLst>
            </a:custGeom>
            <a:solidFill>
              <a:srgbClr val="A60404"/>
            </a:solidFill>
          </p:spPr>
        </p:sp>
        <p:sp>
          <p:nvSpPr>
            <p:cNvPr id="32" name="TextBox 32"/>
            <p:cNvSpPr txBox="1"/>
            <p:nvPr/>
          </p:nvSpPr>
          <p:spPr>
            <a:xfrm>
              <a:off x="0" y="-66675"/>
              <a:ext cx="1523810" cy="500670"/>
            </a:xfrm>
            <a:prstGeom prst="rect">
              <a:avLst/>
            </a:prstGeom>
          </p:spPr>
          <p:txBody>
            <a:bodyPr lIns="50800" tIns="50800" rIns="50800" bIns="50800" rtlCol="0" anchor="ctr"/>
            <a:lstStyle/>
            <a:p>
              <a:pPr algn="ctr">
                <a:lnSpc>
                  <a:spcPts val="3354"/>
                </a:lnSpc>
              </a:pPr>
              <a:endParaRPr/>
            </a:p>
          </p:txBody>
        </p:sp>
      </p:grpSp>
      <p:grpSp>
        <p:nvGrpSpPr>
          <p:cNvPr id="33" name="Group 33"/>
          <p:cNvGrpSpPr/>
          <p:nvPr/>
        </p:nvGrpSpPr>
        <p:grpSpPr>
          <a:xfrm>
            <a:off x="-379416" y="-487803"/>
            <a:ext cx="3682419" cy="975607"/>
            <a:chOff x="0" y="0"/>
            <a:chExt cx="1638110" cy="433995"/>
          </a:xfrm>
        </p:grpSpPr>
        <p:sp>
          <p:nvSpPr>
            <p:cNvPr id="34" name="Freeform 34"/>
            <p:cNvSpPr/>
            <p:nvPr/>
          </p:nvSpPr>
          <p:spPr>
            <a:xfrm>
              <a:off x="0" y="0"/>
              <a:ext cx="1638110" cy="433995"/>
            </a:xfrm>
            <a:custGeom>
              <a:avLst/>
              <a:gdLst/>
              <a:ahLst/>
              <a:cxnLst/>
              <a:rect l="l" t="t" r="r" b="b"/>
              <a:pathLst>
                <a:path w="1638110" h="433995">
                  <a:moveTo>
                    <a:pt x="1434910" y="0"/>
                  </a:moveTo>
                  <a:lnTo>
                    <a:pt x="0" y="0"/>
                  </a:lnTo>
                  <a:lnTo>
                    <a:pt x="0" y="433995"/>
                  </a:lnTo>
                  <a:lnTo>
                    <a:pt x="1434910" y="433995"/>
                  </a:lnTo>
                  <a:lnTo>
                    <a:pt x="1638110" y="216998"/>
                  </a:lnTo>
                  <a:lnTo>
                    <a:pt x="1434910" y="0"/>
                  </a:lnTo>
                  <a:close/>
                </a:path>
              </a:pathLst>
            </a:custGeom>
            <a:solidFill>
              <a:srgbClr val="A60404"/>
            </a:solidFill>
          </p:spPr>
        </p:sp>
        <p:sp>
          <p:nvSpPr>
            <p:cNvPr id="35" name="TextBox 35"/>
            <p:cNvSpPr txBox="1"/>
            <p:nvPr/>
          </p:nvSpPr>
          <p:spPr>
            <a:xfrm>
              <a:off x="0" y="-66675"/>
              <a:ext cx="1523810" cy="500670"/>
            </a:xfrm>
            <a:prstGeom prst="rect">
              <a:avLst/>
            </a:prstGeom>
          </p:spPr>
          <p:txBody>
            <a:bodyPr lIns="50800" tIns="50800" rIns="50800" bIns="50800" rtlCol="0" anchor="ctr"/>
            <a:lstStyle/>
            <a:p>
              <a:pPr algn="ctr">
                <a:lnSpc>
                  <a:spcPts val="3354"/>
                </a:lnSpc>
              </a:pPr>
              <a:endParaRPr/>
            </a:p>
          </p:txBody>
        </p:sp>
      </p:grpSp>
      <p:sp>
        <p:nvSpPr>
          <p:cNvPr id="36" name="Freeform 36"/>
          <p:cNvSpPr/>
          <p:nvPr/>
        </p:nvSpPr>
        <p:spPr>
          <a:xfrm>
            <a:off x="9196632" y="1013814"/>
            <a:ext cx="2182207" cy="785595"/>
          </a:xfrm>
          <a:custGeom>
            <a:avLst/>
            <a:gdLst/>
            <a:ahLst/>
            <a:cxnLst/>
            <a:rect l="l" t="t" r="r" b="b"/>
            <a:pathLst>
              <a:path w="2182207" h="785595">
                <a:moveTo>
                  <a:pt x="0" y="0"/>
                </a:moveTo>
                <a:lnTo>
                  <a:pt x="2182207" y="0"/>
                </a:lnTo>
                <a:lnTo>
                  <a:pt x="2182207" y="785595"/>
                </a:lnTo>
                <a:lnTo>
                  <a:pt x="0" y="78559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7" name="AutoShape 37"/>
          <p:cNvSpPr/>
          <p:nvPr/>
        </p:nvSpPr>
        <p:spPr>
          <a:xfrm>
            <a:off x="1991634" y="7287915"/>
            <a:ext cx="7204997" cy="0"/>
          </a:xfrm>
          <a:prstGeom prst="line">
            <a:avLst/>
          </a:prstGeom>
          <a:ln w="38100" cap="flat">
            <a:solidFill>
              <a:srgbClr val="C2221E"/>
            </a:solidFill>
            <a:prstDash val="solid"/>
            <a:headEnd type="none" w="sm" len="sm"/>
            <a:tailEnd type="none" w="sm" len="sm"/>
          </a:ln>
        </p:spPr>
      </p:sp>
      <p:sp>
        <p:nvSpPr>
          <p:cNvPr id="38" name="Freeform 38"/>
          <p:cNvSpPr/>
          <p:nvPr/>
        </p:nvSpPr>
        <p:spPr>
          <a:xfrm>
            <a:off x="862387" y="916316"/>
            <a:ext cx="2658580" cy="1244163"/>
          </a:xfrm>
          <a:custGeom>
            <a:avLst/>
            <a:gdLst/>
            <a:ahLst/>
            <a:cxnLst/>
            <a:rect l="l" t="t" r="r" b="b"/>
            <a:pathLst>
              <a:path w="2658580" h="1244163">
                <a:moveTo>
                  <a:pt x="0" y="0"/>
                </a:moveTo>
                <a:lnTo>
                  <a:pt x="2658580" y="0"/>
                </a:lnTo>
                <a:lnTo>
                  <a:pt x="2658580" y="1244163"/>
                </a:lnTo>
                <a:lnTo>
                  <a:pt x="0" y="1244163"/>
                </a:lnTo>
                <a:lnTo>
                  <a:pt x="0" y="0"/>
                </a:lnTo>
                <a:close/>
              </a:path>
            </a:pathLst>
          </a:custGeom>
          <a:blipFill>
            <a:blip r:embed="rId13"/>
            <a:stretch>
              <a:fillRect/>
            </a:stretch>
          </a:blipFill>
        </p:spPr>
      </p:sp>
      <p:sp>
        <p:nvSpPr>
          <p:cNvPr id="39" name="TextBox 39"/>
          <p:cNvSpPr txBox="1"/>
          <p:nvPr/>
        </p:nvSpPr>
        <p:spPr>
          <a:xfrm>
            <a:off x="1991634" y="2789017"/>
            <a:ext cx="7629970" cy="2618072"/>
          </a:xfrm>
          <a:prstGeom prst="rect">
            <a:avLst/>
          </a:prstGeom>
        </p:spPr>
        <p:txBody>
          <a:bodyPr lIns="0" tIns="0" rIns="0" bIns="0" rtlCol="0" anchor="t">
            <a:spAutoFit/>
          </a:bodyPr>
          <a:lstStyle/>
          <a:p>
            <a:pPr algn="l">
              <a:lnSpc>
                <a:spcPts val="10048"/>
              </a:lnSpc>
            </a:pPr>
            <a:r>
              <a:rPr lang="en-US" sz="10150" b="1">
                <a:solidFill>
                  <a:srgbClr val="A60404"/>
                </a:solidFill>
                <a:latin typeface="Garet Bold"/>
                <a:ea typeface="Garet Bold"/>
                <a:cs typeface="Garet Bold"/>
                <a:sym typeface="Garet Bold"/>
              </a:rPr>
              <a:t>OOH PROPOSAL</a:t>
            </a:r>
          </a:p>
        </p:txBody>
      </p:sp>
      <p:sp>
        <p:nvSpPr>
          <p:cNvPr id="40" name="TextBox 40"/>
          <p:cNvSpPr txBox="1"/>
          <p:nvPr/>
        </p:nvSpPr>
        <p:spPr>
          <a:xfrm>
            <a:off x="1991634" y="5937131"/>
            <a:ext cx="4655948" cy="590016"/>
          </a:xfrm>
          <a:prstGeom prst="rect">
            <a:avLst/>
          </a:prstGeom>
        </p:spPr>
        <p:txBody>
          <a:bodyPr lIns="0" tIns="0" rIns="0" bIns="0" rtlCol="0" anchor="t">
            <a:spAutoFit/>
          </a:bodyPr>
          <a:lstStyle/>
          <a:p>
            <a:pPr algn="l">
              <a:lnSpc>
                <a:spcPts val="4754"/>
              </a:lnSpc>
            </a:pPr>
            <a:r>
              <a:rPr lang="en-US" sz="3396">
                <a:solidFill>
                  <a:srgbClr val="000000"/>
                </a:solidFill>
                <a:latin typeface="Public Sans"/>
                <a:ea typeface="Public Sans"/>
                <a:cs typeface="Public Sans"/>
                <a:sym typeface="Public Sans"/>
              </a:rPr>
              <a:t>Date: Aug 10, 2026</a:t>
            </a:r>
          </a:p>
        </p:txBody>
      </p:sp>
      <p:sp>
        <p:nvSpPr>
          <p:cNvPr id="41" name="TextBox 41"/>
          <p:cNvSpPr txBox="1"/>
          <p:nvPr/>
        </p:nvSpPr>
        <p:spPr>
          <a:xfrm>
            <a:off x="2485585" y="8063997"/>
            <a:ext cx="4188538" cy="415390"/>
          </a:xfrm>
          <a:prstGeom prst="rect">
            <a:avLst/>
          </a:prstGeom>
        </p:spPr>
        <p:txBody>
          <a:bodyPr lIns="0" tIns="0" rIns="0" bIns="0" rtlCol="0" anchor="t">
            <a:spAutoFit/>
          </a:bodyPr>
          <a:lstStyle/>
          <a:p>
            <a:pPr algn="l">
              <a:lnSpc>
                <a:spcPts val="3354"/>
              </a:lnSpc>
            </a:pPr>
            <a:r>
              <a:rPr lang="en-US" sz="2396" u="sng">
                <a:solidFill>
                  <a:srgbClr val="5170FF"/>
                </a:solidFill>
                <a:latin typeface="Public Sans"/>
                <a:ea typeface="Public Sans"/>
                <a:cs typeface="Public Sans"/>
                <a:sym typeface="Public Sans"/>
                <a:hlinkClick r:id="rId14" tooltip="https://adinnoutdoors.com"/>
              </a:rPr>
              <a:t>www.adinnoutdoors.com</a:t>
            </a:r>
          </a:p>
        </p:txBody>
      </p:sp>
      <p:sp>
        <p:nvSpPr>
          <p:cNvPr id="42" name="TextBox 42"/>
          <p:cNvSpPr txBox="1"/>
          <p:nvPr/>
        </p:nvSpPr>
        <p:spPr>
          <a:xfrm>
            <a:off x="2018175" y="6564898"/>
            <a:ext cx="5558696" cy="590016"/>
          </a:xfrm>
          <a:prstGeom prst="rect">
            <a:avLst/>
          </a:prstGeom>
        </p:spPr>
        <p:txBody>
          <a:bodyPr lIns="0" tIns="0" rIns="0" bIns="0" rtlCol="0" anchor="t">
            <a:spAutoFit/>
          </a:bodyPr>
          <a:lstStyle/>
          <a:p>
            <a:pPr algn="l">
              <a:lnSpc>
                <a:spcPts val="4754"/>
              </a:lnSpc>
            </a:pPr>
            <a:r>
              <a:rPr lang="en-US" sz="3396">
                <a:solidFill>
                  <a:srgbClr val="000000"/>
                </a:solidFill>
                <a:latin typeface="Public Sans"/>
                <a:ea typeface="Public Sans"/>
                <a:cs typeface="Public Sans"/>
                <a:sym typeface="Public Sans"/>
              </a:rPr>
              <a:t>Maxi Vision Eye Hospital</a:t>
            </a:r>
          </a:p>
        </p:txBody>
      </p:sp>
      <p:grpSp>
        <p:nvGrpSpPr>
          <p:cNvPr id="43" name="Group 43"/>
          <p:cNvGrpSpPr/>
          <p:nvPr/>
        </p:nvGrpSpPr>
        <p:grpSpPr>
          <a:xfrm>
            <a:off x="5922645" y="2652359"/>
            <a:ext cx="1449875" cy="1396602"/>
            <a:chOff x="0" y="0"/>
            <a:chExt cx="1933167" cy="1862136"/>
          </a:xfrm>
        </p:grpSpPr>
        <p:sp>
          <p:nvSpPr>
            <p:cNvPr id="44" name="Freeform 44"/>
            <p:cNvSpPr/>
            <p:nvPr/>
          </p:nvSpPr>
          <p:spPr>
            <a:xfrm flipV="1">
              <a:off x="0" y="0"/>
              <a:ext cx="1933167" cy="1862136"/>
            </a:xfrm>
            <a:custGeom>
              <a:avLst/>
              <a:gdLst/>
              <a:ahLst/>
              <a:cxnLst/>
              <a:rect l="l" t="t" r="r" b="b"/>
              <a:pathLst>
                <a:path w="1933167" h="1862136">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t="-49815" r="-117454"/>
              </a:stretch>
            </a:blipFill>
          </p:spPr>
        </p:sp>
        <p:sp>
          <p:nvSpPr>
            <p:cNvPr id="45" name="Freeform 45"/>
            <p:cNvSpPr/>
            <p:nvPr/>
          </p:nvSpPr>
          <p:spPr>
            <a:xfrm flipV="1">
              <a:off x="0" y="0"/>
              <a:ext cx="1933167" cy="1862136"/>
            </a:xfrm>
            <a:custGeom>
              <a:avLst/>
              <a:gdLst/>
              <a:ahLst/>
              <a:cxnLst/>
              <a:rect l="l" t="t" r="r" b="b"/>
              <a:pathLst>
                <a:path w="1933167" h="1862136">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t="-49815" r="-117454"/>
              </a:stretch>
            </a:blipFill>
          </p:spPr>
        </p:sp>
        <p:sp>
          <p:nvSpPr>
            <p:cNvPr id="46" name="Freeform 46"/>
            <p:cNvSpPr/>
            <p:nvPr/>
          </p:nvSpPr>
          <p:spPr>
            <a:xfrm flipV="1">
              <a:off x="0" y="0"/>
              <a:ext cx="1933167" cy="1862136"/>
            </a:xfrm>
            <a:custGeom>
              <a:avLst/>
              <a:gdLst/>
              <a:ahLst/>
              <a:cxnLst/>
              <a:rect l="l" t="t" r="r" b="b"/>
              <a:pathLst>
                <a:path w="1933167" h="1862136">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t="-49815" r="-117454"/>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rot="-10800000">
            <a:off x="6964275" y="9438611"/>
            <a:ext cx="6852228" cy="1647825"/>
            <a:chOff x="0" y="0"/>
            <a:chExt cx="1804702" cy="433995"/>
          </a:xfrm>
        </p:grpSpPr>
        <p:sp>
          <p:nvSpPr>
            <p:cNvPr id="4" name="Freeform 4"/>
            <p:cNvSpPr/>
            <p:nvPr/>
          </p:nvSpPr>
          <p:spPr>
            <a:xfrm>
              <a:off x="0" y="0"/>
              <a:ext cx="1804702" cy="433995"/>
            </a:xfrm>
            <a:custGeom>
              <a:avLst/>
              <a:gdLst/>
              <a:ahLst/>
              <a:cxnLst/>
              <a:rect l="l" t="t" r="r" b="b"/>
              <a:pathLst>
                <a:path w="1804702" h="433995">
                  <a:moveTo>
                    <a:pt x="1601502" y="0"/>
                  </a:moveTo>
                  <a:lnTo>
                    <a:pt x="0" y="0"/>
                  </a:lnTo>
                  <a:lnTo>
                    <a:pt x="0" y="433995"/>
                  </a:lnTo>
                  <a:lnTo>
                    <a:pt x="1601502" y="433995"/>
                  </a:lnTo>
                  <a:lnTo>
                    <a:pt x="1804702" y="216998"/>
                  </a:lnTo>
                  <a:lnTo>
                    <a:pt x="1601502" y="0"/>
                  </a:lnTo>
                  <a:close/>
                </a:path>
              </a:pathLst>
            </a:custGeom>
            <a:solidFill>
              <a:srgbClr val="C2221E">
                <a:alpha val="89804"/>
              </a:srgbClr>
            </a:solidFill>
          </p:spPr>
        </p:sp>
        <p:sp>
          <p:nvSpPr>
            <p:cNvPr id="5" name="TextBox 5"/>
            <p:cNvSpPr txBox="1"/>
            <p:nvPr/>
          </p:nvSpPr>
          <p:spPr>
            <a:xfrm>
              <a:off x="0" y="-66675"/>
              <a:ext cx="1690402" cy="500670"/>
            </a:xfrm>
            <a:prstGeom prst="rect">
              <a:avLst/>
            </a:prstGeom>
          </p:spPr>
          <p:txBody>
            <a:bodyPr lIns="50800" tIns="50800" rIns="50800" bIns="50800" rtlCol="0" anchor="ctr"/>
            <a:lstStyle/>
            <a:p>
              <a:pPr algn="ctr">
                <a:lnSpc>
                  <a:spcPts val="3354"/>
                </a:lnSpc>
              </a:pPr>
              <a:endParaRPr/>
            </a:p>
          </p:txBody>
        </p:sp>
      </p:grpSp>
      <p:grpSp>
        <p:nvGrpSpPr>
          <p:cNvPr id="6" name="Group 6"/>
          <p:cNvGrpSpPr/>
          <p:nvPr/>
        </p:nvGrpSpPr>
        <p:grpSpPr>
          <a:xfrm rot="-10800000">
            <a:off x="12121058" y="9438611"/>
            <a:ext cx="6219700" cy="1647825"/>
            <a:chOff x="0" y="0"/>
            <a:chExt cx="1638110" cy="433995"/>
          </a:xfrm>
        </p:grpSpPr>
        <p:sp>
          <p:nvSpPr>
            <p:cNvPr id="7" name="Freeform 7"/>
            <p:cNvSpPr/>
            <p:nvPr/>
          </p:nvSpPr>
          <p:spPr>
            <a:xfrm>
              <a:off x="0" y="0"/>
              <a:ext cx="1638110" cy="433995"/>
            </a:xfrm>
            <a:custGeom>
              <a:avLst/>
              <a:gdLst/>
              <a:ahLst/>
              <a:cxnLst/>
              <a:rect l="l" t="t" r="r" b="b"/>
              <a:pathLst>
                <a:path w="1638110" h="433995">
                  <a:moveTo>
                    <a:pt x="1434910" y="0"/>
                  </a:moveTo>
                  <a:lnTo>
                    <a:pt x="0" y="0"/>
                  </a:lnTo>
                  <a:lnTo>
                    <a:pt x="0" y="433995"/>
                  </a:lnTo>
                  <a:lnTo>
                    <a:pt x="1434910" y="433995"/>
                  </a:lnTo>
                  <a:lnTo>
                    <a:pt x="1638110" y="216998"/>
                  </a:lnTo>
                  <a:lnTo>
                    <a:pt x="1434910" y="0"/>
                  </a:lnTo>
                  <a:close/>
                </a:path>
              </a:pathLst>
            </a:custGeom>
            <a:solidFill>
              <a:srgbClr val="A60404">
                <a:alpha val="94902"/>
              </a:srgbClr>
            </a:solidFill>
          </p:spPr>
        </p:sp>
        <p:sp>
          <p:nvSpPr>
            <p:cNvPr id="8" name="TextBox 8"/>
            <p:cNvSpPr txBox="1"/>
            <p:nvPr/>
          </p:nvSpPr>
          <p:spPr>
            <a:xfrm>
              <a:off x="0" y="-66675"/>
              <a:ext cx="1523810" cy="500670"/>
            </a:xfrm>
            <a:prstGeom prst="rect">
              <a:avLst/>
            </a:prstGeom>
          </p:spPr>
          <p:txBody>
            <a:bodyPr lIns="50800" tIns="50800" rIns="50800" bIns="50800" rtlCol="0" anchor="ctr"/>
            <a:lstStyle/>
            <a:p>
              <a:pPr algn="ctr">
                <a:lnSpc>
                  <a:spcPts val="3354"/>
                </a:lnSpc>
              </a:pPr>
              <a:endParaRPr/>
            </a:p>
          </p:txBody>
        </p:sp>
      </p:grpSp>
      <p:sp>
        <p:nvSpPr>
          <p:cNvPr id="9" name="Freeform 9"/>
          <p:cNvSpPr/>
          <p:nvPr/>
        </p:nvSpPr>
        <p:spPr>
          <a:xfrm>
            <a:off x="0" y="1790700"/>
            <a:ext cx="8343128" cy="8480943"/>
          </a:xfrm>
          <a:custGeom>
            <a:avLst/>
            <a:gdLst/>
            <a:ahLst/>
            <a:cxnLst/>
            <a:rect l="l" t="t" r="r" b="b"/>
            <a:pathLst>
              <a:path w="8343128" h="8480943">
                <a:moveTo>
                  <a:pt x="0" y="0"/>
                </a:moveTo>
                <a:lnTo>
                  <a:pt x="8343128" y="0"/>
                </a:lnTo>
                <a:lnTo>
                  <a:pt x="8343128" y="8480943"/>
                </a:lnTo>
                <a:lnTo>
                  <a:pt x="0" y="84809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4303868" y="8103869"/>
            <a:ext cx="2182207" cy="785595"/>
          </a:xfrm>
          <a:custGeom>
            <a:avLst/>
            <a:gdLst/>
            <a:ahLst/>
            <a:cxnLst/>
            <a:rect l="l" t="t" r="r" b="b"/>
            <a:pathLst>
              <a:path w="2182207" h="785595">
                <a:moveTo>
                  <a:pt x="0" y="0"/>
                </a:moveTo>
                <a:lnTo>
                  <a:pt x="2182207" y="0"/>
                </a:lnTo>
                <a:lnTo>
                  <a:pt x="2182207" y="785595"/>
                </a:lnTo>
                <a:lnTo>
                  <a:pt x="0" y="7855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0849619" y="-290756"/>
            <a:ext cx="9205005" cy="1254182"/>
          </a:xfrm>
          <a:custGeom>
            <a:avLst/>
            <a:gdLst/>
            <a:ahLst/>
            <a:cxnLst/>
            <a:rect l="l" t="t" r="r" b="b"/>
            <a:pathLst>
              <a:path w="9205005" h="1254182">
                <a:moveTo>
                  <a:pt x="0" y="0"/>
                </a:moveTo>
                <a:lnTo>
                  <a:pt x="9205005" y="0"/>
                </a:lnTo>
                <a:lnTo>
                  <a:pt x="9205005" y="1254182"/>
                </a:lnTo>
                <a:lnTo>
                  <a:pt x="0" y="1254182"/>
                </a:lnTo>
                <a:lnTo>
                  <a:pt x="0" y="0"/>
                </a:lnTo>
                <a:close/>
              </a:path>
            </a:pathLst>
          </a:custGeom>
          <a:blipFill>
            <a:blip r:embed="rId7">
              <a:alphaModFix amt="58000"/>
            </a:blip>
            <a:stretch>
              <a:fillRect/>
            </a:stretch>
          </a:blipFill>
        </p:spPr>
      </p:sp>
      <p:grpSp>
        <p:nvGrpSpPr>
          <p:cNvPr id="12" name="Group 12"/>
          <p:cNvGrpSpPr/>
          <p:nvPr/>
        </p:nvGrpSpPr>
        <p:grpSpPr>
          <a:xfrm rot="-10800000">
            <a:off x="11605227" y="-580983"/>
            <a:ext cx="4056912" cy="1161966"/>
            <a:chOff x="0" y="0"/>
            <a:chExt cx="1804702" cy="516896"/>
          </a:xfrm>
        </p:grpSpPr>
        <p:sp>
          <p:nvSpPr>
            <p:cNvPr id="13" name="Freeform 13"/>
            <p:cNvSpPr/>
            <p:nvPr/>
          </p:nvSpPr>
          <p:spPr>
            <a:xfrm>
              <a:off x="0" y="0"/>
              <a:ext cx="1804702" cy="516896"/>
            </a:xfrm>
            <a:custGeom>
              <a:avLst/>
              <a:gdLst/>
              <a:ahLst/>
              <a:cxnLst/>
              <a:rect l="l" t="t" r="r" b="b"/>
              <a:pathLst>
                <a:path w="1804702" h="516896">
                  <a:moveTo>
                    <a:pt x="1601502" y="0"/>
                  </a:moveTo>
                  <a:lnTo>
                    <a:pt x="0" y="0"/>
                  </a:lnTo>
                  <a:lnTo>
                    <a:pt x="0" y="516896"/>
                  </a:lnTo>
                  <a:lnTo>
                    <a:pt x="1601502" y="516896"/>
                  </a:lnTo>
                  <a:lnTo>
                    <a:pt x="1804702" y="258448"/>
                  </a:lnTo>
                  <a:lnTo>
                    <a:pt x="1601502" y="0"/>
                  </a:lnTo>
                  <a:close/>
                </a:path>
              </a:pathLst>
            </a:custGeom>
            <a:solidFill>
              <a:srgbClr val="C2221E"/>
            </a:solidFill>
          </p:spPr>
        </p:sp>
        <p:sp>
          <p:nvSpPr>
            <p:cNvPr id="14" name="TextBox 14"/>
            <p:cNvSpPr txBox="1"/>
            <p:nvPr/>
          </p:nvSpPr>
          <p:spPr>
            <a:xfrm>
              <a:off x="0" y="-66675"/>
              <a:ext cx="1690402" cy="583571"/>
            </a:xfrm>
            <a:prstGeom prst="rect">
              <a:avLst/>
            </a:prstGeom>
          </p:spPr>
          <p:txBody>
            <a:bodyPr lIns="50800" tIns="50800" rIns="50800" bIns="50800" rtlCol="0" anchor="ctr"/>
            <a:lstStyle/>
            <a:p>
              <a:pPr algn="ctr">
                <a:lnSpc>
                  <a:spcPts val="3354"/>
                </a:lnSpc>
              </a:pPr>
              <a:endParaRPr/>
            </a:p>
          </p:txBody>
        </p:sp>
      </p:grpSp>
      <p:sp>
        <p:nvSpPr>
          <p:cNvPr id="15" name="Freeform 15"/>
          <p:cNvSpPr/>
          <p:nvPr/>
        </p:nvSpPr>
        <p:spPr>
          <a:xfrm rot="2700000">
            <a:off x="-3219165" y="2278281"/>
            <a:ext cx="7047814" cy="960265"/>
          </a:xfrm>
          <a:custGeom>
            <a:avLst/>
            <a:gdLst/>
            <a:ahLst/>
            <a:cxnLst/>
            <a:rect l="l" t="t" r="r" b="b"/>
            <a:pathLst>
              <a:path w="7047814" h="960265">
                <a:moveTo>
                  <a:pt x="0" y="0"/>
                </a:moveTo>
                <a:lnTo>
                  <a:pt x="7047814" y="0"/>
                </a:lnTo>
                <a:lnTo>
                  <a:pt x="7047814" y="960265"/>
                </a:lnTo>
                <a:lnTo>
                  <a:pt x="0" y="960265"/>
                </a:lnTo>
                <a:lnTo>
                  <a:pt x="0" y="0"/>
                </a:lnTo>
                <a:close/>
              </a:path>
            </a:pathLst>
          </a:custGeom>
          <a:blipFill>
            <a:blip r:embed="rId7">
              <a:alphaModFix amt="58000"/>
            </a:blip>
            <a:stretch>
              <a:fillRect/>
            </a:stretch>
          </a:blipFill>
        </p:spPr>
      </p:sp>
      <p:sp>
        <p:nvSpPr>
          <p:cNvPr id="16" name="Freeform 16"/>
          <p:cNvSpPr/>
          <p:nvPr/>
        </p:nvSpPr>
        <p:spPr>
          <a:xfrm rot="2700000">
            <a:off x="-1894385" y="5360347"/>
            <a:ext cx="5446652" cy="742106"/>
          </a:xfrm>
          <a:custGeom>
            <a:avLst/>
            <a:gdLst/>
            <a:ahLst/>
            <a:cxnLst/>
            <a:rect l="l" t="t" r="r" b="b"/>
            <a:pathLst>
              <a:path w="5446652" h="742106">
                <a:moveTo>
                  <a:pt x="0" y="0"/>
                </a:moveTo>
                <a:lnTo>
                  <a:pt x="5446651" y="0"/>
                </a:lnTo>
                <a:lnTo>
                  <a:pt x="5446651" y="742106"/>
                </a:lnTo>
                <a:lnTo>
                  <a:pt x="0" y="742106"/>
                </a:lnTo>
                <a:lnTo>
                  <a:pt x="0" y="0"/>
                </a:lnTo>
                <a:close/>
              </a:path>
            </a:pathLst>
          </a:custGeom>
          <a:blipFill>
            <a:blip r:embed="rId7">
              <a:alphaModFix amt="58000"/>
            </a:blip>
            <a:stretch>
              <a:fillRect/>
            </a:stretch>
          </a:blipFill>
        </p:spPr>
      </p:sp>
      <p:grpSp>
        <p:nvGrpSpPr>
          <p:cNvPr id="17" name="Group 17"/>
          <p:cNvGrpSpPr/>
          <p:nvPr/>
        </p:nvGrpSpPr>
        <p:grpSpPr>
          <a:xfrm rot="8100000">
            <a:off x="334442" y="-643781"/>
            <a:ext cx="1489966" cy="6332908"/>
            <a:chOff x="0" y="0"/>
            <a:chExt cx="392419" cy="1667926"/>
          </a:xfrm>
        </p:grpSpPr>
        <p:sp>
          <p:nvSpPr>
            <p:cNvPr id="18" name="Freeform 18"/>
            <p:cNvSpPr/>
            <p:nvPr/>
          </p:nvSpPr>
          <p:spPr>
            <a:xfrm>
              <a:off x="0" y="0"/>
              <a:ext cx="392419" cy="1667926"/>
            </a:xfrm>
            <a:custGeom>
              <a:avLst/>
              <a:gdLst/>
              <a:ahLst/>
              <a:cxnLst/>
              <a:rect l="l" t="t" r="r" b="b"/>
              <a:pathLst>
                <a:path w="392419" h="1667926">
                  <a:moveTo>
                    <a:pt x="0" y="0"/>
                  </a:moveTo>
                  <a:lnTo>
                    <a:pt x="392419" y="0"/>
                  </a:lnTo>
                  <a:lnTo>
                    <a:pt x="392419" y="1667926"/>
                  </a:lnTo>
                  <a:lnTo>
                    <a:pt x="0" y="1667926"/>
                  </a:lnTo>
                  <a:close/>
                </a:path>
              </a:pathLst>
            </a:custGeom>
            <a:solidFill>
              <a:srgbClr val="C2221E"/>
            </a:solidFill>
          </p:spPr>
        </p:sp>
        <p:sp>
          <p:nvSpPr>
            <p:cNvPr id="19" name="TextBox 19"/>
            <p:cNvSpPr txBox="1"/>
            <p:nvPr/>
          </p:nvSpPr>
          <p:spPr>
            <a:xfrm>
              <a:off x="0" y="-66675"/>
              <a:ext cx="392419" cy="1734601"/>
            </a:xfrm>
            <a:prstGeom prst="rect">
              <a:avLst/>
            </a:prstGeom>
          </p:spPr>
          <p:txBody>
            <a:bodyPr lIns="50800" tIns="50800" rIns="50800" bIns="50800" rtlCol="0" anchor="ctr"/>
            <a:lstStyle/>
            <a:p>
              <a:pPr algn="ctr">
                <a:lnSpc>
                  <a:spcPts val="3354"/>
                </a:lnSpc>
              </a:pPr>
              <a:endParaRPr/>
            </a:p>
          </p:txBody>
        </p:sp>
      </p:grpSp>
      <p:grpSp>
        <p:nvGrpSpPr>
          <p:cNvPr id="20" name="Group 20"/>
          <p:cNvGrpSpPr/>
          <p:nvPr/>
        </p:nvGrpSpPr>
        <p:grpSpPr>
          <a:xfrm rot="8100000">
            <a:off x="614499" y="2529015"/>
            <a:ext cx="1345714" cy="5485156"/>
            <a:chOff x="0" y="0"/>
            <a:chExt cx="458618" cy="1869336"/>
          </a:xfrm>
        </p:grpSpPr>
        <p:sp>
          <p:nvSpPr>
            <p:cNvPr id="21" name="Freeform 21"/>
            <p:cNvSpPr/>
            <p:nvPr/>
          </p:nvSpPr>
          <p:spPr>
            <a:xfrm>
              <a:off x="0" y="0"/>
              <a:ext cx="458618" cy="1869336"/>
            </a:xfrm>
            <a:custGeom>
              <a:avLst/>
              <a:gdLst/>
              <a:ahLst/>
              <a:cxnLst/>
              <a:rect l="l" t="t" r="r" b="b"/>
              <a:pathLst>
                <a:path w="458618" h="1869336">
                  <a:moveTo>
                    <a:pt x="0" y="0"/>
                  </a:moveTo>
                  <a:lnTo>
                    <a:pt x="458618" y="0"/>
                  </a:lnTo>
                  <a:lnTo>
                    <a:pt x="458618" y="1869336"/>
                  </a:lnTo>
                  <a:lnTo>
                    <a:pt x="0" y="1869336"/>
                  </a:lnTo>
                  <a:close/>
                </a:path>
              </a:pathLst>
            </a:custGeom>
            <a:solidFill>
              <a:srgbClr val="C2221E"/>
            </a:solidFill>
          </p:spPr>
        </p:sp>
        <p:sp>
          <p:nvSpPr>
            <p:cNvPr id="22" name="TextBox 22"/>
            <p:cNvSpPr txBox="1"/>
            <p:nvPr/>
          </p:nvSpPr>
          <p:spPr>
            <a:xfrm>
              <a:off x="0" y="-66675"/>
              <a:ext cx="458618" cy="1936011"/>
            </a:xfrm>
            <a:prstGeom prst="rect">
              <a:avLst/>
            </a:prstGeom>
          </p:spPr>
          <p:txBody>
            <a:bodyPr lIns="50800" tIns="50800" rIns="50800" bIns="50800" rtlCol="0" anchor="ctr"/>
            <a:lstStyle/>
            <a:p>
              <a:pPr algn="ctr">
                <a:lnSpc>
                  <a:spcPts val="3354"/>
                </a:lnSpc>
              </a:pPr>
              <a:endParaRPr/>
            </a:p>
          </p:txBody>
        </p:sp>
      </p:grpSp>
      <p:grpSp>
        <p:nvGrpSpPr>
          <p:cNvPr id="23" name="Group 23"/>
          <p:cNvGrpSpPr/>
          <p:nvPr/>
        </p:nvGrpSpPr>
        <p:grpSpPr>
          <a:xfrm>
            <a:off x="769637" y="2868292"/>
            <a:ext cx="6676970" cy="5738021"/>
            <a:chOff x="0" y="0"/>
            <a:chExt cx="812800" cy="698500"/>
          </a:xfrm>
        </p:grpSpPr>
        <p:sp>
          <p:nvSpPr>
            <p:cNvPr id="24"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8"/>
              <a:stretch>
                <a:fillRect l="-4162" r="-2196" b="-1883"/>
              </a:stretch>
            </a:blipFill>
            <a:ln w="104775" cap="sq">
              <a:solidFill>
                <a:srgbClr val="FFFFFF"/>
              </a:solidFill>
              <a:prstDash val="solid"/>
              <a:miter/>
            </a:ln>
          </p:spPr>
        </p:sp>
      </p:grpSp>
      <p:grpSp>
        <p:nvGrpSpPr>
          <p:cNvPr id="25" name="Group 25"/>
          <p:cNvGrpSpPr/>
          <p:nvPr/>
        </p:nvGrpSpPr>
        <p:grpSpPr>
          <a:xfrm rot="-10800000">
            <a:off x="14658339" y="-580983"/>
            <a:ext cx="3682419" cy="1161966"/>
            <a:chOff x="0" y="0"/>
            <a:chExt cx="1638110" cy="516896"/>
          </a:xfrm>
        </p:grpSpPr>
        <p:sp>
          <p:nvSpPr>
            <p:cNvPr id="26" name="Freeform 26"/>
            <p:cNvSpPr/>
            <p:nvPr/>
          </p:nvSpPr>
          <p:spPr>
            <a:xfrm>
              <a:off x="0" y="0"/>
              <a:ext cx="1638110" cy="516896"/>
            </a:xfrm>
            <a:custGeom>
              <a:avLst/>
              <a:gdLst/>
              <a:ahLst/>
              <a:cxnLst/>
              <a:rect l="l" t="t" r="r" b="b"/>
              <a:pathLst>
                <a:path w="1638110" h="516896">
                  <a:moveTo>
                    <a:pt x="1434910" y="0"/>
                  </a:moveTo>
                  <a:lnTo>
                    <a:pt x="0" y="0"/>
                  </a:lnTo>
                  <a:lnTo>
                    <a:pt x="0" y="516896"/>
                  </a:lnTo>
                  <a:lnTo>
                    <a:pt x="1434910" y="516896"/>
                  </a:lnTo>
                  <a:lnTo>
                    <a:pt x="1638110" y="258448"/>
                  </a:lnTo>
                  <a:lnTo>
                    <a:pt x="1434910" y="0"/>
                  </a:lnTo>
                  <a:close/>
                </a:path>
              </a:pathLst>
            </a:custGeom>
            <a:solidFill>
              <a:srgbClr val="A60404"/>
            </a:solidFill>
          </p:spPr>
        </p:sp>
        <p:sp>
          <p:nvSpPr>
            <p:cNvPr id="27" name="TextBox 27"/>
            <p:cNvSpPr txBox="1"/>
            <p:nvPr/>
          </p:nvSpPr>
          <p:spPr>
            <a:xfrm>
              <a:off x="0" y="-66675"/>
              <a:ext cx="1523810" cy="583571"/>
            </a:xfrm>
            <a:prstGeom prst="rect">
              <a:avLst/>
            </a:prstGeom>
          </p:spPr>
          <p:txBody>
            <a:bodyPr lIns="50800" tIns="50800" rIns="50800" bIns="50800" rtlCol="0" anchor="ctr"/>
            <a:lstStyle/>
            <a:p>
              <a:pPr algn="ctr">
                <a:lnSpc>
                  <a:spcPts val="3354"/>
                </a:lnSpc>
              </a:pPr>
              <a:endParaRPr/>
            </a:p>
          </p:txBody>
        </p:sp>
      </p:grpSp>
      <p:sp>
        <p:nvSpPr>
          <p:cNvPr id="28" name="TextBox 28"/>
          <p:cNvSpPr txBox="1"/>
          <p:nvPr/>
        </p:nvSpPr>
        <p:spPr>
          <a:xfrm>
            <a:off x="10716269" y="1372228"/>
            <a:ext cx="4137671" cy="761619"/>
          </a:xfrm>
          <a:prstGeom prst="rect">
            <a:avLst/>
          </a:prstGeom>
        </p:spPr>
        <p:txBody>
          <a:bodyPr lIns="0" tIns="0" rIns="0" bIns="0" rtlCol="0" anchor="t">
            <a:spAutoFit/>
          </a:bodyPr>
          <a:lstStyle/>
          <a:p>
            <a:pPr algn="ctr">
              <a:lnSpc>
                <a:spcPts val="5643"/>
              </a:lnSpc>
            </a:pPr>
            <a:r>
              <a:rPr lang="en-US" sz="5700" b="1">
                <a:solidFill>
                  <a:srgbClr val="A60404"/>
                </a:solidFill>
                <a:latin typeface="Garet Bold"/>
                <a:ea typeface="Garet Bold"/>
                <a:cs typeface="Garet Bold"/>
                <a:sym typeface="Garet Bold"/>
              </a:rPr>
              <a:t>ABOUT US</a:t>
            </a:r>
          </a:p>
        </p:txBody>
      </p:sp>
      <p:sp>
        <p:nvSpPr>
          <p:cNvPr id="29" name="TextBox 29"/>
          <p:cNvSpPr txBox="1"/>
          <p:nvPr/>
        </p:nvSpPr>
        <p:spPr>
          <a:xfrm>
            <a:off x="7609014" y="3335811"/>
            <a:ext cx="10529189" cy="4181671"/>
          </a:xfrm>
          <a:prstGeom prst="rect">
            <a:avLst/>
          </a:prstGeom>
        </p:spPr>
        <p:txBody>
          <a:bodyPr lIns="0" tIns="0" rIns="0" bIns="0" rtlCol="0" anchor="t">
            <a:spAutoFit/>
          </a:bodyPr>
          <a:lstStyle/>
          <a:p>
            <a:pPr algn="l">
              <a:lnSpc>
                <a:spcPts val="4189"/>
              </a:lnSpc>
              <a:spcBef>
                <a:spcPct val="0"/>
              </a:spcBef>
            </a:pPr>
            <a:r>
              <a:rPr lang="en-US" sz="2992">
                <a:solidFill>
                  <a:srgbClr val="A60404"/>
                </a:solidFill>
                <a:latin typeface="Didot LP"/>
                <a:ea typeface="Didot LP"/>
                <a:cs typeface="Didot LP"/>
                <a:sym typeface="Didot LP"/>
              </a:rPr>
              <a:t>Adinn Outdoor owns over 550 outdoor ad spaces across Tamil Nadu and extends even outside the state. Our media network spans diverse formats from billboards to police booths and we have successfully amplified brand visibility and achieved tangible results. We make sure your brand is visible to the right people at the ideal time. With 25 Years of Excellence, we know where to put your ads to get the most impact. If you want to reach more people and expand the visibility of your ads, we’re here to help.</a:t>
            </a:r>
          </a:p>
        </p:txBody>
      </p:sp>
      <p:sp>
        <p:nvSpPr>
          <p:cNvPr id="30" name="TextBox 30"/>
          <p:cNvSpPr txBox="1"/>
          <p:nvPr/>
        </p:nvSpPr>
        <p:spPr>
          <a:xfrm>
            <a:off x="7609014" y="2436416"/>
            <a:ext cx="2393990" cy="558271"/>
          </a:xfrm>
          <a:prstGeom prst="rect">
            <a:avLst/>
          </a:prstGeom>
        </p:spPr>
        <p:txBody>
          <a:bodyPr lIns="0" tIns="0" rIns="0" bIns="0" rtlCol="0" anchor="t">
            <a:spAutoFit/>
          </a:bodyPr>
          <a:lstStyle/>
          <a:p>
            <a:pPr algn="ctr">
              <a:lnSpc>
                <a:spcPts val="4404"/>
              </a:lnSpc>
              <a:spcBef>
                <a:spcPct val="0"/>
              </a:spcBef>
            </a:pPr>
            <a:r>
              <a:rPr lang="en-US" sz="3145" b="1">
                <a:solidFill>
                  <a:srgbClr val="A60404"/>
                </a:solidFill>
                <a:latin typeface="Poppins Bold"/>
                <a:ea typeface="Poppins Bold"/>
                <a:cs typeface="Poppins Bold"/>
                <a:sym typeface="Poppins Bold"/>
              </a:rPr>
              <a:t>Who we are</a:t>
            </a:r>
          </a:p>
        </p:txBody>
      </p:sp>
      <p:sp>
        <p:nvSpPr>
          <p:cNvPr id="31" name="Freeform 31"/>
          <p:cNvSpPr/>
          <p:nvPr/>
        </p:nvSpPr>
        <p:spPr>
          <a:xfrm>
            <a:off x="10361814" y="700037"/>
            <a:ext cx="4783852" cy="2058376"/>
          </a:xfrm>
          <a:custGeom>
            <a:avLst/>
            <a:gdLst/>
            <a:ahLst/>
            <a:cxnLst/>
            <a:rect l="l" t="t" r="r" b="b"/>
            <a:pathLst>
              <a:path w="4783852" h="2058376">
                <a:moveTo>
                  <a:pt x="0" y="0"/>
                </a:moveTo>
                <a:lnTo>
                  <a:pt x="4783852" y="0"/>
                </a:lnTo>
                <a:lnTo>
                  <a:pt x="4783852" y="2058376"/>
                </a:lnTo>
                <a:lnTo>
                  <a:pt x="0" y="2058376"/>
                </a:lnTo>
                <a:lnTo>
                  <a:pt x="0" y="0"/>
                </a:lnTo>
                <a:close/>
              </a:path>
            </a:pathLst>
          </a:custGeom>
          <a:blipFill>
            <a:blip r:embed="rId9">
              <a:alphaModFix amt="25000"/>
            </a:blip>
            <a:stretch>
              <a:fillRect l="-2031" t="-5759" r="-2031" b="-7608"/>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8380382" y="1694572"/>
            <a:ext cx="1739903" cy="1340965"/>
            <a:chOff x="0" y="0"/>
            <a:chExt cx="458246" cy="353176"/>
          </a:xfrm>
        </p:grpSpPr>
        <p:sp>
          <p:nvSpPr>
            <p:cNvPr id="4" name="Freeform 4"/>
            <p:cNvSpPr/>
            <p:nvPr/>
          </p:nvSpPr>
          <p:spPr>
            <a:xfrm>
              <a:off x="0" y="0"/>
              <a:ext cx="458246" cy="353176"/>
            </a:xfrm>
            <a:custGeom>
              <a:avLst/>
              <a:gdLst/>
              <a:ahLst/>
              <a:cxnLst/>
              <a:rect l="l" t="t" r="r" b="b"/>
              <a:pathLst>
                <a:path w="458246" h="35317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1">
              <a:gsLst>
                <a:gs pos="0">
                  <a:srgbClr val="731919">
                    <a:alpha val="85000"/>
                  </a:srgbClr>
                </a:gs>
                <a:gs pos="100000">
                  <a:srgbClr val="E52B2B">
                    <a:alpha val="85000"/>
                  </a:srgbClr>
                </a:gs>
              </a:gsLst>
              <a:lin ang="5400000"/>
            </a:gradFill>
          </p:spPr>
        </p:sp>
        <p:sp>
          <p:nvSpPr>
            <p:cNvPr id="5" name="TextBox 5"/>
            <p:cNvSpPr txBox="1"/>
            <p:nvPr/>
          </p:nvSpPr>
          <p:spPr>
            <a:xfrm>
              <a:off x="0" y="-47625"/>
              <a:ext cx="458246" cy="400801"/>
            </a:xfrm>
            <a:prstGeom prst="rect">
              <a:avLst/>
            </a:prstGeom>
          </p:spPr>
          <p:txBody>
            <a:bodyPr lIns="50800" tIns="50800" rIns="50800" bIns="50800" rtlCol="0" anchor="ctr"/>
            <a:lstStyle/>
            <a:p>
              <a:pPr marL="0" lvl="0" indent="0" algn="ctr">
                <a:lnSpc>
                  <a:spcPts val="3499"/>
                </a:lnSpc>
              </a:pPr>
              <a:endParaRPr/>
            </a:p>
          </p:txBody>
        </p:sp>
      </p:grpSp>
      <p:grpSp>
        <p:nvGrpSpPr>
          <p:cNvPr id="6" name="Group 6"/>
          <p:cNvGrpSpPr/>
          <p:nvPr/>
        </p:nvGrpSpPr>
        <p:grpSpPr>
          <a:xfrm>
            <a:off x="10436986" y="3707285"/>
            <a:ext cx="6822314" cy="1340965"/>
            <a:chOff x="0" y="0"/>
            <a:chExt cx="1796824" cy="353176"/>
          </a:xfrm>
        </p:grpSpPr>
        <p:sp>
          <p:nvSpPr>
            <p:cNvPr id="7" name="Freeform 7"/>
            <p:cNvSpPr/>
            <p:nvPr/>
          </p:nvSpPr>
          <p:spPr>
            <a:xfrm>
              <a:off x="0" y="0"/>
              <a:ext cx="1796823" cy="353176"/>
            </a:xfrm>
            <a:custGeom>
              <a:avLst/>
              <a:gdLst/>
              <a:ahLst/>
              <a:cxnLst/>
              <a:rect l="l" t="t" r="r" b="b"/>
              <a:pathLst>
                <a:path w="1796823" h="353176">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1">
              <a:gsLst>
                <a:gs pos="0">
                  <a:srgbClr val="731919">
                    <a:alpha val="85000"/>
                  </a:srgbClr>
                </a:gs>
                <a:gs pos="100000">
                  <a:srgbClr val="E52B2B">
                    <a:alpha val="85000"/>
                  </a:srgbClr>
                </a:gs>
              </a:gsLst>
              <a:lin ang="5400000"/>
            </a:gradFill>
          </p:spPr>
        </p:sp>
        <p:sp>
          <p:nvSpPr>
            <p:cNvPr id="8" name="TextBox 8"/>
            <p:cNvSpPr txBox="1"/>
            <p:nvPr/>
          </p:nvSpPr>
          <p:spPr>
            <a:xfrm>
              <a:off x="0" y="-47625"/>
              <a:ext cx="1796824" cy="400801"/>
            </a:xfrm>
            <a:prstGeom prst="rect">
              <a:avLst/>
            </a:prstGeom>
          </p:spPr>
          <p:txBody>
            <a:bodyPr lIns="50800" tIns="50800" rIns="50800" bIns="50800" rtlCol="0" anchor="ctr"/>
            <a:lstStyle/>
            <a:p>
              <a:pPr marL="0" lvl="0" indent="0" algn="ctr">
                <a:lnSpc>
                  <a:spcPts val="3499"/>
                </a:lnSpc>
              </a:pPr>
              <a:endParaRPr/>
            </a:p>
          </p:txBody>
        </p:sp>
      </p:grpSp>
      <p:grpSp>
        <p:nvGrpSpPr>
          <p:cNvPr id="9" name="Group 9"/>
          <p:cNvGrpSpPr/>
          <p:nvPr/>
        </p:nvGrpSpPr>
        <p:grpSpPr>
          <a:xfrm>
            <a:off x="10436986" y="5762625"/>
            <a:ext cx="6822314" cy="1340965"/>
            <a:chOff x="0" y="0"/>
            <a:chExt cx="1796824" cy="353176"/>
          </a:xfrm>
        </p:grpSpPr>
        <p:sp>
          <p:nvSpPr>
            <p:cNvPr id="10" name="Freeform 10"/>
            <p:cNvSpPr/>
            <p:nvPr/>
          </p:nvSpPr>
          <p:spPr>
            <a:xfrm>
              <a:off x="0" y="0"/>
              <a:ext cx="1796823" cy="353176"/>
            </a:xfrm>
            <a:custGeom>
              <a:avLst/>
              <a:gdLst/>
              <a:ahLst/>
              <a:cxnLst/>
              <a:rect l="l" t="t" r="r" b="b"/>
              <a:pathLst>
                <a:path w="1796823" h="353176">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1">
              <a:gsLst>
                <a:gs pos="0">
                  <a:srgbClr val="731919">
                    <a:alpha val="85000"/>
                  </a:srgbClr>
                </a:gs>
                <a:gs pos="100000">
                  <a:srgbClr val="E52B2B">
                    <a:alpha val="85000"/>
                  </a:srgbClr>
                </a:gs>
              </a:gsLst>
              <a:lin ang="5400000"/>
            </a:gradFill>
          </p:spPr>
        </p:sp>
        <p:sp>
          <p:nvSpPr>
            <p:cNvPr id="11" name="TextBox 11"/>
            <p:cNvSpPr txBox="1"/>
            <p:nvPr/>
          </p:nvSpPr>
          <p:spPr>
            <a:xfrm>
              <a:off x="0" y="-47625"/>
              <a:ext cx="1796824" cy="400801"/>
            </a:xfrm>
            <a:prstGeom prst="rect">
              <a:avLst/>
            </a:prstGeom>
          </p:spPr>
          <p:txBody>
            <a:bodyPr lIns="50800" tIns="50800" rIns="50800" bIns="50800" rtlCol="0" anchor="ctr"/>
            <a:lstStyle/>
            <a:p>
              <a:pPr marL="0" lvl="0" indent="0" algn="ctr">
                <a:lnSpc>
                  <a:spcPts val="3499"/>
                </a:lnSpc>
              </a:pPr>
              <a:endParaRPr/>
            </a:p>
          </p:txBody>
        </p:sp>
      </p:grpSp>
      <p:grpSp>
        <p:nvGrpSpPr>
          <p:cNvPr id="12" name="Group 12"/>
          <p:cNvGrpSpPr/>
          <p:nvPr/>
        </p:nvGrpSpPr>
        <p:grpSpPr>
          <a:xfrm>
            <a:off x="10436986" y="7813438"/>
            <a:ext cx="6822314" cy="1340965"/>
            <a:chOff x="0" y="0"/>
            <a:chExt cx="1796824" cy="353176"/>
          </a:xfrm>
        </p:grpSpPr>
        <p:sp>
          <p:nvSpPr>
            <p:cNvPr id="13" name="Freeform 13"/>
            <p:cNvSpPr/>
            <p:nvPr/>
          </p:nvSpPr>
          <p:spPr>
            <a:xfrm>
              <a:off x="0" y="0"/>
              <a:ext cx="1796823" cy="353176"/>
            </a:xfrm>
            <a:custGeom>
              <a:avLst/>
              <a:gdLst/>
              <a:ahLst/>
              <a:cxnLst/>
              <a:rect l="l" t="t" r="r" b="b"/>
              <a:pathLst>
                <a:path w="1796823" h="353176">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1">
              <a:gsLst>
                <a:gs pos="0">
                  <a:srgbClr val="731919">
                    <a:alpha val="85000"/>
                  </a:srgbClr>
                </a:gs>
                <a:gs pos="100000">
                  <a:srgbClr val="E52B2B">
                    <a:alpha val="85000"/>
                  </a:srgbClr>
                </a:gs>
              </a:gsLst>
              <a:lin ang="5400000"/>
            </a:gradFill>
          </p:spPr>
        </p:sp>
        <p:sp>
          <p:nvSpPr>
            <p:cNvPr id="14" name="TextBox 14"/>
            <p:cNvSpPr txBox="1"/>
            <p:nvPr/>
          </p:nvSpPr>
          <p:spPr>
            <a:xfrm>
              <a:off x="0" y="-47625"/>
              <a:ext cx="1796824" cy="400801"/>
            </a:xfrm>
            <a:prstGeom prst="rect">
              <a:avLst/>
            </a:prstGeom>
          </p:spPr>
          <p:txBody>
            <a:bodyPr lIns="50800" tIns="50800" rIns="50800" bIns="50800" rtlCol="0" anchor="ctr"/>
            <a:lstStyle/>
            <a:p>
              <a:pPr marL="0" lvl="0" indent="0" algn="ctr">
                <a:lnSpc>
                  <a:spcPts val="3499"/>
                </a:lnSpc>
              </a:pPr>
              <a:endParaRPr/>
            </a:p>
          </p:txBody>
        </p:sp>
      </p:grpSp>
      <p:grpSp>
        <p:nvGrpSpPr>
          <p:cNvPr id="15" name="Group 15"/>
          <p:cNvGrpSpPr/>
          <p:nvPr/>
        </p:nvGrpSpPr>
        <p:grpSpPr>
          <a:xfrm>
            <a:off x="8380382" y="3707285"/>
            <a:ext cx="1739903" cy="1340965"/>
            <a:chOff x="0" y="0"/>
            <a:chExt cx="458246" cy="353176"/>
          </a:xfrm>
        </p:grpSpPr>
        <p:sp>
          <p:nvSpPr>
            <p:cNvPr id="16" name="Freeform 16"/>
            <p:cNvSpPr/>
            <p:nvPr/>
          </p:nvSpPr>
          <p:spPr>
            <a:xfrm>
              <a:off x="0" y="0"/>
              <a:ext cx="458246" cy="353176"/>
            </a:xfrm>
            <a:custGeom>
              <a:avLst/>
              <a:gdLst/>
              <a:ahLst/>
              <a:cxnLst/>
              <a:rect l="l" t="t" r="r" b="b"/>
              <a:pathLst>
                <a:path w="458246" h="35317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1">
              <a:gsLst>
                <a:gs pos="0">
                  <a:srgbClr val="731919">
                    <a:alpha val="85000"/>
                  </a:srgbClr>
                </a:gs>
                <a:gs pos="100000">
                  <a:srgbClr val="E52B2B">
                    <a:alpha val="85000"/>
                  </a:srgbClr>
                </a:gs>
              </a:gsLst>
              <a:lin ang="5400000"/>
            </a:gradFill>
          </p:spPr>
        </p:sp>
        <p:sp>
          <p:nvSpPr>
            <p:cNvPr id="17" name="TextBox 17"/>
            <p:cNvSpPr txBox="1"/>
            <p:nvPr/>
          </p:nvSpPr>
          <p:spPr>
            <a:xfrm>
              <a:off x="0" y="-47625"/>
              <a:ext cx="458246" cy="400801"/>
            </a:xfrm>
            <a:prstGeom prst="rect">
              <a:avLst/>
            </a:prstGeom>
          </p:spPr>
          <p:txBody>
            <a:bodyPr lIns="50800" tIns="50800" rIns="50800" bIns="50800" rtlCol="0" anchor="ctr"/>
            <a:lstStyle/>
            <a:p>
              <a:pPr marL="0" lvl="0" indent="0" algn="ctr">
                <a:lnSpc>
                  <a:spcPts val="3499"/>
                </a:lnSpc>
              </a:pPr>
              <a:endParaRPr/>
            </a:p>
          </p:txBody>
        </p:sp>
      </p:grpSp>
      <p:grpSp>
        <p:nvGrpSpPr>
          <p:cNvPr id="18" name="Group 18"/>
          <p:cNvGrpSpPr/>
          <p:nvPr/>
        </p:nvGrpSpPr>
        <p:grpSpPr>
          <a:xfrm>
            <a:off x="8380382" y="5762625"/>
            <a:ext cx="1739903" cy="1340965"/>
            <a:chOff x="0" y="0"/>
            <a:chExt cx="458246" cy="353176"/>
          </a:xfrm>
        </p:grpSpPr>
        <p:sp>
          <p:nvSpPr>
            <p:cNvPr id="19" name="Freeform 19"/>
            <p:cNvSpPr/>
            <p:nvPr/>
          </p:nvSpPr>
          <p:spPr>
            <a:xfrm>
              <a:off x="0" y="0"/>
              <a:ext cx="458246" cy="353176"/>
            </a:xfrm>
            <a:custGeom>
              <a:avLst/>
              <a:gdLst/>
              <a:ahLst/>
              <a:cxnLst/>
              <a:rect l="l" t="t" r="r" b="b"/>
              <a:pathLst>
                <a:path w="458246" h="35317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1">
              <a:gsLst>
                <a:gs pos="0">
                  <a:srgbClr val="731919">
                    <a:alpha val="85000"/>
                  </a:srgbClr>
                </a:gs>
                <a:gs pos="100000">
                  <a:srgbClr val="E52B2B">
                    <a:alpha val="85000"/>
                  </a:srgbClr>
                </a:gs>
              </a:gsLst>
              <a:lin ang="5400000"/>
            </a:gradFill>
          </p:spPr>
        </p:sp>
        <p:sp>
          <p:nvSpPr>
            <p:cNvPr id="20" name="TextBox 20"/>
            <p:cNvSpPr txBox="1"/>
            <p:nvPr/>
          </p:nvSpPr>
          <p:spPr>
            <a:xfrm>
              <a:off x="0" y="-47625"/>
              <a:ext cx="458246" cy="400801"/>
            </a:xfrm>
            <a:prstGeom prst="rect">
              <a:avLst/>
            </a:prstGeom>
          </p:spPr>
          <p:txBody>
            <a:bodyPr lIns="50800" tIns="50800" rIns="50800" bIns="50800" rtlCol="0" anchor="ctr"/>
            <a:lstStyle/>
            <a:p>
              <a:pPr marL="0" lvl="0" indent="0" algn="ctr">
                <a:lnSpc>
                  <a:spcPts val="3499"/>
                </a:lnSpc>
              </a:pPr>
              <a:endParaRPr/>
            </a:p>
          </p:txBody>
        </p:sp>
      </p:grpSp>
      <p:grpSp>
        <p:nvGrpSpPr>
          <p:cNvPr id="21" name="Group 21"/>
          <p:cNvGrpSpPr/>
          <p:nvPr/>
        </p:nvGrpSpPr>
        <p:grpSpPr>
          <a:xfrm>
            <a:off x="8380382" y="7813438"/>
            <a:ext cx="1739903" cy="1340965"/>
            <a:chOff x="0" y="0"/>
            <a:chExt cx="458246" cy="353176"/>
          </a:xfrm>
        </p:grpSpPr>
        <p:sp>
          <p:nvSpPr>
            <p:cNvPr id="22" name="Freeform 22"/>
            <p:cNvSpPr/>
            <p:nvPr/>
          </p:nvSpPr>
          <p:spPr>
            <a:xfrm>
              <a:off x="0" y="0"/>
              <a:ext cx="458246" cy="353176"/>
            </a:xfrm>
            <a:custGeom>
              <a:avLst/>
              <a:gdLst/>
              <a:ahLst/>
              <a:cxnLst/>
              <a:rect l="l" t="t" r="r" b="b"/>
              <a:pathLst>
                <a:path w="458246" h="35317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1">
              <a:gsLst>
                <a:gs pos="0">
                  <a:srgbClr val="731919">
                    <a:alpha val="85000"/>
                  </a:srgbClr>
                </a:gs>
                <a:gs pos="100000">
                  <a:srgbClr val="E52B2B">
                    <a:alpha val="85000"/>
                  </a:srgbClr>
                </a:gs>
              </a:gsLst>
              <a:lin ang="5400000"/>
            </a:gradFill>
          </p:spPr>
        </p:sp>
        <p:sp>
          <p:nvSpPr>
            <p:cNvPr id="23" name="TextBox 23"/>
            <p:cNvSpPr txBox="1"/>
            <p:nvPr/>
          </p:nvSpPr>
          <p:spPr>
            <a:xfrm>
              <a:off x="0" y="-47625"/>
              <a:ext cx="458246" cy="400801"/>
            </a:xfrm>
            <a:prstGeom prst="rect">
              <a:avLst/>
            </a:prstGeom>
          </p:spPr>
          <p:txBody>
            <a:bodyPr lIns="50800" tIns="50800" rIns="50800" bIns="50800" rtlCol="0" anchor="ctr"/>
            <a:lstStyle/>
            <a:p>
              <a:pPr marL="0" lvl="0" indent="0" algn="ctr">
                <a:lnSpc>
                  <a:spcPts val="3499"/>
                </a:lnSpc>
              </a:pPr>
              <a:endParaRPr/>
            </a:p>
          </p:txBody>
        </p:sp>
      </p:grpSp>
      <p:sp>
        <p:nvSpPr>
          <p:cNvPr id="24" name="Freeform 24"/>
          <p:cNvSpPr/>
          <p:nvPr/>
        </p:nvSpPr>
        <p:spPr>
          <a:xfrm>
            <a:off x="8492748" y="1911987"/>
            <a:ext cx="1512588" cy="985673"/>
          </a:xfrm>
          <a:custGeom>
            <a:avLst/>
            <a:gdLst/>
            <a:ahLst/>
            <a:cxnLst/>
            <a:rect l="l" t="t" r="r" b="b"/>
            <a:pathLst>
              <a:path w="1512588" h="985673">
                <a:moveTo>
                  <a:pt x="0" y="0"/>
                </a:moveTo>
                <a:lnTo>
                  <a:pt x="1512589" y="0"/>
                </a:lnTo>
                <a:lnTo>
                  <a:pt x="1512589" y="985673"/>
                </a:lnTo>
                <a:lnTo>
                  <a:pt x="0" y="985673"/>
                </a:lnTo>
                <a:lnTo>
                  <a:pt x="0" y="0"/>
                </a:lnTo>
                <a:close/>
              </a:path>
            </a:pathLst>
          </a:custGeom>
          <a:blipFill>
            <a:blip r:embed="rId3"/>
            <a:stretch>
              <a:fillRect/>
            </a:stretch>
          </a:blipFill>
        </p:spPr>
      </p:sp>
      <p:sp>
        <p:nvSpPr>
          <p:cNvPr id="25" name="Freeform 25"/>
          <p:cNvSpPr/>
          <p:nvPr/>
        </p:nvSpPr>
        <p:spPr>
          <a:xfrm>
            <a:off x="8678041" y="3885194"/>
            <a:ext cx="1085773" cy="1063539"/>
          </a:xfrm>
          <a:custGeom>
            <a:avLst/>
            <a:gdLst/>
            <a:ahLst/>
            <a:cxnLst/>
            <a:rect l="l" t="t" r="r" b="b"/>
            <a:pathLst>
              <a:path w="1085773" h="1063539">
                <a:moveTo>
                  <a:pt x="0" y="0"/>
                </a:moveTo>
                <a:lnTo>
                  <a:pt x="1085773" y="0"/>
                </a:lnTo>
                <a:lnTo>
                  <a:pt x="1085773" y="1063539"/>
                </a:lnTo>
                <a:lnTo>
                  <a:pt x="0" y="1063539"/>
                </a:lnTo>
                <a:lnTo>
                  <a:pt x="0" y="0"/>
                </a:lnTo>
                <a:close/>
              </a:path>
            </a:pathLst>
          </a:custGeom>
          <a:blipFill>
            <a:blip r:embed="rId4"/>
            <a:stretch>
              <a:fillRect/>
            </a:stretch>
          </a:blipFill>
        </p:spPr>
      </p:sp>
      <p:sp>
        <p:nvSpPr>
          <p:cNvPr id="26" name="Freeform 26"/>
          <p:cNvSpPr/>
          <p:nvPr/>
        </p:nvSpPr>
        <p:spPr>
          <a:xfrm>
            <a:off x="8762765" y="6048801"/>
            <a:ext cx="892527" cy="896119"/>
          </a:xfrm>
          <a:custGeom>
            <a:avLst/>
            <a:gdLst/>
            <a:ahLst/>
            <a:cxnLst/>
            <a:rect l="l" t="t" r="r" b="b"/>
            <a:pathLst>
              <a:path w="892527" h="896119">
                <a:moveTo>
                  <a:pt x="0" y="0"/>
                </a:moveTo>
                <a:lnTo>
                  <a:pt x="892528" y="0"/>
                </a:lnTo>
                <a:lnTo>
                  <a:pt x="892528" y="896118"/>
                </a:lnTo>
                <a:lnTo>
                  <a:pt x="0" y="896118"/>
                </a:lnTo>
                <a:lnTo>
                  <a:pt x="0" y="0"/>
                </a:lnTo>
                <a:close/>
              </a:path>
            </a:pathLst>
          </a:custGeom>
          <a:blipFill>
            <a:blip r:embed="rId5"/>
            <a:stretch>
              <a:fillRect/>
            </a:stretch>
          </a:blipFill>
        </p:spPr>
      </p:sp>
      <p:grpSp>
        <p:nvGrpSpPr>
          <p:cNvPr id="27" name="Group 27"/>
          <p:cNvGrpSpPr/>
          <p:nvPr/>
        </p:nvGrpSpPr>
        <p:grpSpPr>
          <a:xfrm rot="-10800000">
            <a:off x="9711543" y="9810750"/>
            <a:ext cx="6045787" cy="1275686"/>
            <a:chOff x="0" y="0"/>
            <a:chExt cx="1804702" cy="380800"/>
          </a:xfrm>
        </p:grpSpPr>
        <p:sp>
          <p:nvSpPr>
            <p:cNvPr id="28" name="Freeform 28"/>
            <p:cNvSpPr/>
            <p:nvPr/>
          </p:nvSpPr>
          <p:spPr>
            <a:xfrm>
              <a:off x="0" y="0"/>
              <a:ext cx="1804702" cy="380800"/>
            </a:xfrm>
            <a:custGeom>
              <a:avLst/>
              <a:gdLst/>
              <a:ahLst/>
              <a:cxnLst/>
              <a:rect l="l" t="t" r="r" b="b"/>
              <a:pathLst>
                <a:path w="1804702" h="380800">
                  <a:moveTo>
                    <a:pt x="1601502" y="0"/>
                  </a:moveTo>
                  <a:lnTo>
                    <a:pt x="0" y="0"/>
                  </a:lnTo>
                  <a:lnTo>
                    <a:pt x="0" y="380800"/>
                  </a:lnTo>
                  <a:lnTo>
                    <a:pt x="1601502" y="380800"/>
                  </a:lnTo>
                  <a:lnTo>
                    <a:pt x="1804702" y="190400"/>
                  </a:lnTo>
                  <a:lnTo>
                    <a:pt x="1601502" y="0"/>
                  </a:lnTo>
                  <a:close/>
                </a:path>
              </a:pathLst>
            </a:custGeom>
            <a:solidFill>
              <a:srgbClr val="C2221E"/>
            </a:solidFill>
          </p:spPr>
        </p:sp>
        <p:sp>
          <p:nvSpPr>
            <p:cNvPr id="29" name="TextBox 29"/>
            <p:cNvSpPr txBox="1"/>
            <p:nvPr/>
          </p:nvSpPr>
          <p:spPr>
            <a:xfrm>
              <a:off x="0" y="-66675"/>
              <a:ext cx="1690402" cy="447475"/>
            </a:xfrm>
            <a:prstGeom prst="rect">
              <a:avLst/>
            </a:prstGeom>
          </p:spPr>
          <p:txBody>
            <a:bodyPr lIns="50800" tIns="50800" rIns="50800" bIns="50800" rtlCol="0" anchor="ctr"/>
            <a:lstStyle/>
            <a:p>
              <a:pPr algn="ctr">
                <a:lnSpc>
                  <a:spcPts val="3354"/>
                </a:lnSpc>
              </a:pPr>
              <a:endParaRPr/>
            </a:p>
          </p:txBody>
        </p:sp>
      </p:grpSp>
      <p:grpSp>
        <p:nvGrpSpPr>
          <p:cNvPr id="30" name="Group 30"/>
          <p:cNvGrpSpPr/>
          <p:nvPr/>
        </p:nvGrpSpPr>
        <p:grpSpPr>
          <a:xfrm rot="-10800000">
            <a:off x="14261422" y="9810750"/>
            <a:ext cx="5487701" cy="1275686"/>
            <a:chOff x="0" y="0"/>
            <a:chExt cx="1638110" cy="380800"/>
          </a:xfrm>
        </p:grpSpPr>
        <p:sp>
          <p:nvSpPr>
            <p:cNvPr id="31" name="Freeform 31"/>
            <p:cNvSpPr/>
            <p:nvPr/>
          </p:nvSpPr>
          <p:spPr>
            <a:xfrm>
              <a:off x="0" y="0"/>
              <a:ext cx="1638110" cy="380800"/>
            </a:xfrm>
            <a:custGeom>
              <a:avLst/>
              <a:gdLst/>
              <a:ahLst/>
              <a:cxnLst/>
              <a:rect l="l" t="t" r="r" b="b"/>
              <a:pathLst>
                <a:path w="1638110" h="380800">
                  <a:moveTo>
                    <a:pt x="1434910" y="0"/>
                  </a:moveTo>
                  <a:lnTo>
                    <a:pt x="0" y="0"/>
                  </a:lnTo>
                  <a:lnTo>
                    <a:pt x="0" y="380800"/>
                  </a:lnTo>
                  <a:lnTo>
                    <a:pt x="1434910" y="380800"/>
                  </a:lnTo>
                  <a:lnTo>
                    <a:pt x="1638110" y="190400"/>
                  </a:lnTo>
                  <a:lnTo>
                    <a:pt x="1434910" y="0"/>
                  </a:lnTo>
                  <a:close/>
                </a:path>
              </a:pathLst>
            </a:custGeom>
            <a:solidFill>
              <a:srgbClr val="A60404"/>
            </a:solidFill>
          </p:spPr>
        </p:sp>
        <p:sp>
          <p:nvSpPr>
            <p:cNvPr id="32" name="TextBox 32"/>
            <p:cNvSpPr txBox="1"/>
            <p:nvPr/>
          </p:nvSpPr>
          <p:spPr>
            <a:xfrm>
              <a:off x="0" y="-66675"/>
              <a:ext cx="1523810" cy="447475"/>
            </a:xfrm>
            <a:prstGeom prst="rect">
              <a:avLst/>
            </a:prstGeom>
          </p:spPr>
          <p:txBody>
            <a:bodyPr lIns="50800" tIns="50800" rIns="50800" bIns="50800" rtlCol="0" anchor="ctr"/>
            <a:lstStyle/>
            <a:p>
              <a:pPr algn="ctr">
                <a:lnSpc>
                  <a:spcPts val="3354"/>
                </a:lnSpc>
              </a:pPr>
              <a:endParaRPr/>
            </a:p>
          </p:txBody>
        </p:sp>
      </p:grpSp>
      <p:grpSp>
        <p:nvGrpSpPr>
          <p:cNvPr id="33" name="Group 33"/>
          <p:cNvGrpSpPr/>
          <p:nvPr/>
        </p:nvGrpSpPr>
        <p:grpSpPr>
          <a:xfrm>
            <a:off x="10436986" y="1694572"/>
            <a:ext cx="6822314" cy="1340965"/>
            <a:chOff x="0" y="0"/>
            <a:chExt cx="1796824" cy="353176"/>
          </a:xfrm>
        </p:grpSpPr>
        <p:sp>
          <p:nvSpPr>
            <p:cNvPr id="34" name="Freeform 34"/>
            <p:cNvSpPr/>
            <p:nvPr/>
          </p:nvSpPr>
          <p:spPr>
            <a:xfrm>
              <a:off x="0" y="0"/>
              <a:ext cx="1796823" cy="353176"/>
            </a:xfrm>
            <a:custGeom>
              <a:avLst/>
              <a:gdLst/>
              <a:ahLst/>
              <a:cxnLst/>
              <a:rect l="l" t="t" r="r" b="b"/>
              <a:pathLst>
                <a:path w="1796823" h="353176">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1">
              <a:gsLst>
                <a:gs pos="0">
                  <a:srgbClr val="731919">
                    <a:alpha val="85000"/>
                  </a:srgbClr>
                </a:gs>
                <a:gs pos="100000">
                  <a:srgbClr val="E52B2B">
                    <a:alpha val="85000"/>
                  </a:srgbClr>
                </a:gs>
              </a:gsLst>
              <a:lin ang="5400000"/>
            </a:gradFill>
          </p:spPr>
        </p:sp>
        <p:sp>
          <p:nvSpPr>
            <p:cNvPr id="35" name="TextBox 35"/>
            <p:cNvSpPr txBox="1"/>
            <p:nvPr/>
          </p:nvSpPr>
          <p:spPr>
            <a:xfrm>
              <a:off x="0" y="-47625"/>
              <a:ext cx="1796824" cy="400801"/>
            </a:xfrm>
            <a:prstGeom prst="rect">
              <a:avLst/>
            </a:prstGeom>
          </p:spPr>
          <p:txBody>
            <a:bodyPr lIns="50800" tIns="50800" rIns="50800" bIns="50800" rtlCol="0" anchor="ctr"/>
            <a:lstStyle/>
            <a:p>
              <a:pPr marL="0" lvl="0" indent="0" algn="ctr">
                <a:lnSpc>
                  <a:spcPts val="3499"/>
                </a:lnSpc>
              </a:pPr>
              <a:endParaRPr/>
            </a:p>
          </p:txBody>
        </p:sp>
      </p:grpSp>
      <p:sp>
        <p:nvSpPr>
          <p:cNvPr id="36" name="Freeform 36"/>
          <p:cNvSpPr/>
          <p:nvPr/>
        </p:nvSpPr>
        <p:spPr>
          <a:xfrm>
            <a:off x="8659899" y="7956703"/>
            <a:ext cx="1122057" cy="1103823"/>
          </a:xfrm>
          <a:custGeom>
            <a:avLst/>
            <a:gdLst/>
            <a:ahLst/>
            <a:cxnLst/>
            <a:rect l="l" t="t" r="r" b="b"/>
            <a:pathLst>
              <a:path w="1122057" h="1103823">
                <a:moveTo>
                  <a:pt x="0" y="0"/>
                </a:moveTo>
                <a:lnTo>
                  <a:pt x="1122057" y="0"/>
                </a:lnTo>
                <a:lnTo>
                  <a:pt x="1122057" y="1103824"/>
                </a:lnTo>
                <a:lnTo>
                  <a:pt x="0" y="11038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7" name="Freeform 37"/>
          <p:cNvSpPr/>
          <p:nvPr/>
        </p:nvSpPr>
        <p:spPr>
          <a:xfrm>
            <a:off x="88678" y="2443359"/>
            <a:ext cx="7977379" cy="6138377"/>
          </a:xfrm>
          <a:custGeom>
            <a:avLst/>
            <a:gdLst/>
            <a:ahLst/>
            <a:cxnLst/>
            <a:rect l="l" t="t" r="r" b="b"/>
            <a:pathLst>
              <a:path w="7977379" h="6138377">
                <a:moveTo>
                  <a:pt x="0" y="0"/>
                </a:moveTo>
                <a:lnTo>
                  <a:pt x="7977379" y="0"/>
                </a:lnTo>
                <a:lnTo>
                  <a:pt x="7977379" y="6138378"/>
                </a:lnTo>
                <a:lnTo>
                  <a:pt x="0" y="6138378"/>
                </a:lnTo>
                <a:lnTo>
                  <a:pt x="0" y="0"/>
                </a:lnTo>
                <a:close/>
              </a:path>
            </a:pathLst>
          </a:custGeom>
          <a:blipFill>
            <a:blip r:embed="rId8">
              <a:alphaModFix amt="65000"/>
            </a:blip>
            <a:stretch>
              <a:fillRect r="-3940"/>
            </a:stretch>
          </a:blipFill>
        </p:spPr>
      </p:sp>
      <p:sp>
        <p:nvSpPr>
          <p:cNvPr id="38" name="TextBox 38"/>
          <p:cNvSpPr txBox="1"/>
          <p:nvPr/>
        </p:nvSpPr>
        <p:spPr>
          <a:xfrm>
            <a:off x="2604685" y="569555"/>
            <a:ext cx="13291298" cy="803989"/>
          </a:xfrm>
          <a:prstGeom prst="rect">
            <a:avLst/>
          </a:prstGeom>
        </p:spPr>
        <p:txBody>
          <a:bodyPr lIns="0" tIns="0" rIns="0" bIns="0" rtlCol="0" anchor="t">
            <a:spAutoFit/>
          </a:bodyPr>
          <a:lstStyle/>
          <a:p>
            <a:pPr marL="0" lvl="0" indent="0" algn="l">
              <a:lnSpc>
                <a:spcPts val="6231"/>
              </a:lnSpc>
            </a:pPr>
            <a:r>
              <a:rPr lang="en-US" sz="5281" spc="327">
                <a:gradFill>
                  <a:gsLst>
                    <a:gs pos="0">
                      <a:srgbClr val="731919">
                        <a:alpha val="85000"/>
                      </a:srgbClr>
                    </a:gs>
                    <a:gs pos="100000">
                      <a:srgbClr val="E52B2B">
                        <a:alpha val="85000"/>
                      </a:srgbClr>
                    </a:gs>
                  </a:gsLst>
                  <a:lin ang="5400000"/>
                </a:gradFill>
                <a:latin typeface="Futura Display"/>
                <a:ea typeface="Futura Display"/>
                <a:cs typeface="Futura Display"/>
                <a:sym typeface="Futura Display"/>
              </a:rPr>
              <a:t>Why Leading Brands Choose Adinn Advertising</a:t>
            </a:r>
          </a:p>
        </p:txBody>
      </p:sp>
      <p:sp>
        <p:nvSpPr>
          <p:cNvPr id="39" name="TextBox 39"/>
          <p:cNvSpPr txBox="1"/>
          <p:nvPr/>
        </p:nvSpPr>
        <p:spPr>
          <a:xfrm>
            <a:off x="10853971" y="3923780"/>
            <a:ext cx="6065211" cy="918299"/>
          </a:xfrm>
          <a:prstGeom prst="rect">
            <a:avLst/>
          </a:prstGeom>
        </p:spPr>
        <p:txBody>
          <a:bodyPr lIns="0" tIns="0" rIns="0" bIns="0" rtlCol="0" anchor="t">
            <a:spAutoFit/>
          </a:bodyPr>
          <a:lstStyle/>
          <a:p>
            <a:pPr marL="0" lvl="0" indent="0" algn="l">
              <a:lnSpc>
                <a:spcPts val="2410"/>
              </a:lnSpc>
            </a:pPr>
            <a:r>
              <a:rPr lang="en-US" sz="1721">
                <a:solidFill>
                  <a:srgbClr val="FFFFFF"/>
                </a:solidFill>
                <a:latin typeface="Roboto"/>
                <a:ea typeface="Roboto"/>
                <a:cs typeface="Roboto"/>
                <a:sym typeface="Roboto"/>
              </a:rPr>
              <a:t>End-to-End Expertise</a:t>
            </a:r>
          </a:p>
          <a:p>
            <a:pPr marL="0" lvl="0" indent="0" algn="l">
              <a:lnSpc>
                <a:spcPts val="2410"/>
              </a:lnSpc>
            </a:pPr>
            <a:r>
              <a:rPr lang="en-US" sz="1721">
                <a:solidFill>
                  <a:srgbClr val="FFFFFF"/>
                </a:solidFill>
                <a:latin typeface="Roboto"/>
                <a:ea typeface="Roboto"/>
                <a:cs typeface="Roboto"/>
                <a:sym typeface="Roboto"/>
              </a:rPr>
              <a:t>Seamless handling from planning and approvals to execution and maintenance.</a:t>
            </a:r>
          </a:p>
        </p:txBody>
      </p:sp>
      <p:sp>
        <p:nvSpPr>
          <p:cNvPr id="40" name="TextBox 40"/>
          <p:cNvSpPr txBox="1"/>
          <p:nvPr/>
        </p:nvSpPr>
        <p:spPr>
          <a:xfrm>
            <a:off x="10853971" y="6003415"/>
            <a:ext cx="6065211" cy="918299"/>
          </a:xfrm>
          <a:prstGeom prst="rect">
            <a:avLst/>
          </a:prstGeom>
        </p:spPr>
        <p:txBody>
          <a:bodyPr lIns="0" tIns="0" rIns="0" bIns="0" rtlCol="0" anchor="t">
            <a:spAutoFit/>
          </a:bodyPr>
          <a:lstStyle/>
          <a:p>
            <a:pPr marL="0" lvl="0" indent="0" algn="l">
              <a:lnSpc>
                <a:spcPts val="2410"/>
              </a:lnSpc>
            </a:pPr>
            <a:r>
              <a:rPr lang="en-US" sz="1721">
                <a:solidFill>
                  <a:srgbClr val="FFFFFF"/>
                </a:solidFill>
                <a:latin typeface="Roboto"/>
                <a:ea typeface="Roboto"/>
                <a:cs typeface="Roboto"/>
                <a:sym typeface="Roboto"/>
              </a:rPr>
              <a:t>Uncompromising Quality Standards</a:t>
            </a:r>
          </a:p>
          <a:p>
            <a:pPr marL="0" lvl="0" indent="0" algn="l">
              <a:lnSpc>
                <a:spcPts val="2410"/>
              </a:lnSpc>
            </a:pPr>
            <a:r>
              <a:rPr lang="en-US" sz="1721">
                <a:solidFill>
                  <a:srgbClr val="FFFFFF"/>
                </a:solidFill>
                <a:latin typeface="Roboto"/>
                <a:ea typeface="Roboto"/>
                <a:cs typeface="Roboto"/>
                <a:sym typeface="Roboto"/>
              </a:rPr>
              <a:t>Premium materials and consistent upkeep that protect brand image.</a:t>
            </a:r>
          </a:p>
        </p:txBody>
      </p:sp>
      <p:sp>
        <p:nvSpPr>
          <p:cNvPr id="41" name="TextBox 41"/>
          <p:cNvSpPr txBox="1"/>
          <p:nvPr/>
        </p:nvSpPr>
        <p:spPr>
          <a:xfrm>
            <a:off x="10853971" y="8054228"/>
            <a:ext cx="6065211" cy="918299"/>
          </a:xfrm>
          <a:prstGeom prst="rect">
            <a:avLst/>
          </a:prstGeom>
        </p:spPr>
        <p:txBody>
          <a:bodyPr lIns="0" tIns="0" rIns="0" bIns="0" rtlCol="0" anchor="t">
            <a:spAutoFit/>
          </a:bodyPr>
          <a:lstStyle/>
          <a:p>
            <a:pPr marL="0" lvl="0" indent="0" algn="l">
              <a:lnSpc>
                <a:spcPts val="2410"/>
              </a:lnSpc>
            </a:pPr>
            <a:r>
              <a:rPr lang="en-US" sz="1721">
                <a:solidFill>
                  <a:srgbClr val="FFFFFF"/>
                </a:solidFill>
                <a:latin typeface="Roboto"/>
                <a:ea typeface="Roboto"/>
                <a:cs typeface="Roboto"/>
                <a:sym typeface="Roboto"/>
              </a:rPr>
              <a:t>Trusted Partnership</a:t>
            </a:r>
          </a:p>
          <a:p>
            <a:pPr marL="0" lvl="0" indent="0" algn="l">
              <a:lnSpc>
                <a:spcPts val="2410"/>
              </a:lnSpc>
            </a:pPr>
            <a:r>
              <a:rPr lang="en-US" sz="1721">
                <a:solidFill>
                  <a:srgbClr val="FFFFFF"/>
                </a:solidFill>
                <a:latin typeface="Roboto"/>
                <a:ea typeface="Roboto"/>
                <a:cs typeface="Roboto"/>
                <a:sym typeface="Roboto"/>
              </a:rPr>
              <a:t>Clear pricing, timely delivery, and reliable communication throughout the campaign</a:t>
            </a:r>
          </a:p>
        </p:txBody>
      </p:sp>
      <p:sp>
        <p:nvSpPr>
          <p:cNvPr id="42" name="TextBox 42"/>
          <p:cNvSpPr txBox="1"/>
          <p:nvPr/>
        </p:nvSpPr>
        <p:spPr>
          <a:xfrm>
            <a:off x="10853971" y="1868316"/>
            <a:ext cx="6065211" cy="918299"/>
          </a:xfrm>
          <a:prstGeom prst="rect">
            <a:avLst/>
          </a:prstGeom>
        </p:spPr>
        <p:txBody>
          <a:bodyPr lIns="0" tIns="0" rIns="0" bIns="0" rtlCol="0" anchor="t">
            <a:spAutoFit/>
          </a:bodyPr>
          <a:lstStyle/>
          <a:p>
            <a:pPr marL="0" lvl="0" indent="0" algn="l">
              <a:lnSpc>
                <a:spcPts val="2410"/>
              </a:lnSpc>
            </a:pPr>
            <a:r>
              <a:rPr lang="en-US" sz="1721">
                <a:solidFill>
                  <a:srgbClr val="FFFFFF"/>
                </a:solidFill>
                <a:latin typeface="Roboto"/>
                <a:ea typeface="Roboto"/>
                <a:cs typeface="Roboto"/>
                <a:sym typeface="Roboto"/>
              </a:rPr>
              <a:t>Prime, High-Impact Locations</a:t>
            </a:r>
          </a:p>
          <a:p>
            <a:pPr marL="0" lvl="0" indent="0" algn="l">
              <a:lnSpc>
                <a:spcPts val="2410"/>
              </a:lnSpc>
            </a:pPr>
            <a:r>
              <a:rPr lang="en-US" sz="1721">
                <a:solidFill>
                  <a:srgbClr val="FFFFFF"/>
                </a:solidFill>
                <a:latin typeface="Roboto"/>
                <a:ea typeface="Roboto"/>
                <a:cs typeface="Roboto"/>
                <a:sym typeface="Roboto"/>
              </a:rPr>
              <a:t>Strategically positioned sites that maximize visibility and audience reach.</a:t>
            </a:r>
          </a:p>
        </p:txBody>
      </p:sp>
      <p:sp>
        <p:nvSpPr>
          <p:cNvPr id="43" name="Freeform 43"/>
          <p:cNvSpPr/>
          <p:nvPr/>
        </p:nvSpPr>
        <p:spPr>
          <a:xfrm rot="312138" flipH="1">
            <a:off x="-1634302" y="6664138"/>
            <a:ext cx="6968721" cy="4616778"/>
          </a:xfrm>
          <a:custGeom>
            <a:avLst/>
            <a:gdLst/>
            <a:ahLst/>
            <a:cxnLst/>
            <a:rect l="l" t="t" r="r" b="b"/>
            <a:pathLst>
              <a:path w="6968721" h="4616778">
                <a:moveTo>
                  <a:pt x="6968721" y="0"/>
                </a:moveTo>
                <a:lnTo>
                  <a:pt x="0" y="0"/>
                </a:lnTo>
                <a:lnTo>
                  <a:pt x="0" y="4616778"/>
                </a:lnTo>
                <a:lnTo>
                  <a:pt x="6968721" y="4616778"/>
                </a:lnTo>
                <a:lnTo>
                  <a:pt x="6968721"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44" name="Group 44"/>
          <p:cNvGrpSpPr/>
          <p:nvPr/>
        </p:nvGrpSpPr>
        <p:grpSpPr>
          <a:xfrm>
            <a:off x="2534461" y="9810750"/>
            <a:ext cx="6045787" cy="1275686"/>
            <a:chOff x="0" y="0"/>
            <a:chExt cx="1804702" cy="380800"/>
          </a:xfrm>
        </p:grpSpPr>
        <p:sp>
          <p:nvSpPr>
            <p:cNvPr id="45" name="Freeform 45"/>
            <p:cNvSpPr/>
            <p:nvPr/>
          </p:nvSpPr>
          <p:spPr>
            <a:xfrm>
              <a:off x="0" y="0"/>
              <a:ext cx="1804702" cy="380800"/>
            </a:xfrm>
            <a:custGeom>
              <a:avLst/>
              <a:gdLst/>
              <a:ahLst/>
              <a:cxnLst/>
              <a:rect l="l" t="t" r="r" b="b"/>
              <a:pathLst>
                <a:path w="1804702" h="380800">
                  <a:moveTo>
                    <a:pt x="1601502" y="0"/>
                  </a:moveTo>
                  <a:lnTo>
                    <a:pt x="0" y="0"/>
                  </a:lnTo>
                  <a:lnTo>
                    <a:pt x="0" y="380800"/>
                  </a:lnTo>
                  <a:lnTo>
                    <a:pt x="1601502" y="380800"/>
                  </a:lnTo>
                  <a:lnTo>
                    <a:pt x="1804702" y="190400"/>
                  </a:lnTo>
                  <a:lnTo>
                    <a:pt x="1601502" y="0"/>
                  </a:lnTo>
                  <a:close/>
                </a:path>
              </a:pathLst>
            </a:custGeom>
            <a:solidFill>
              <a:srgbClr val="C2221E"/>
            </a:solidFill>
          </p:spPr>
        </p:sp>
        <p:sp>
          <p:nvSpPr>
            <p:cNvPr id="46" name="TextBox 46"/>
            <p:cNvSpPr txBox="1"/>
            <p:nvPr/>
          </p:nvSpPr>
          <p:spPr>
            <a:xfrm>
              <a:off x="0" y="-66675"/>
              <a:ext cx="1690402" cy="447475"/>
            </a:xfrm>
            <a:prstGeom prst="rect">
              <a:avLst/>
            </a:prstGeom>
          </p:spPr>
          <p:txBody>
            <a:bodyPr lIns="50800" tIns="50800" rIns="50800" bIns="50800" rtlCol="0" anchor="ctr"/>
            <a:lstStyle/>
            <a:p>
              <a:pPr algn="ctr">
                <a:lnSpc>
                  <a:spcPts val="3354"/>
                </a:lnSpc>
              </a:pPr>
              <a:endParaRPr/>
            </a:p>
          </p:txBody>
        </p:sp>
      </p:grpSp>
      <p:grpSp>
        <p:nvGrpSpPr>
          <p:cNvPr id="47" name="Group 47"/>
          <p:cNvGrpSpPr/>
          <p:nvPr/>
        </p:nvGrpSpPr>
        <p:grpSpPr>
          <a:xfrm>
            <a:off x="-1457333" y="9810750"/>
            <a:ext cx="5487701" cy="1275686"/>
            <a:chOff x="0" y="0"/>
            <a:chExt cx="1638110" cy="380800"/>
          </a:xfrm>
        </p:grpSpPr>
        <p:sp>
          <p:nvSpPr>
            <p:cNvPr id="48" name="Freeform 48"/>
            <p:cNvSpPr/>
            <p:nvPr/>
          </p:nvSpPr>
          <p:spPr>
            <a:xfrm>
              <a:off x="0" y="0"/>
              <a:ext cx="1638110" cy="380800"/>
            </a:xfrm>
            <a:custGeom>
              <a:avLst/>
              <a:gdLst/>
              <a:ahLst/>
              <a:cxnLst/>
              <a:rect l="l" t="t" r="r" b="b"/>
              <a:pathLst>
                <a:path w="1638110" h="380800">
                  <a:moveTo>
                    <a:pt x="1434910" y="0"/>
                  </a:moveTo>
                  <a:lnTo>
                    <a:pt x="0" y="0"/>
                  </a:lnTo>
                  <a:lnTo>
                    <a:pt x="0" y="380800"/>
                  </a:lnTo>
                  <a:lnTo>
                    <a:pt x="1434910" y="380800"/>
                  </a:lnTo>
                  <a:lnTo>
                    <a:pt x="1638110" y="190400"/>
                  </a:lnTo>
                  <a:lnTo>
                    <a:pt x="1434910" y="0"/>
                  </a:lnTo>
                  <a:close/>
                </a:path>
              </a:pathLst>
            </a:custGeom>
            <a:solidFill>
              <a:srgbClr val="A60404"/>
            </a:solidFill>
          </p:spPr>
        </p:sp>
        <p:sp>
          <p:nvSpPr>
            <p:cNvPr id="49" name="TextBox 49"/>
            <p:cNvSpPr txBox="1"/>
            <p:nvPr/>
          </p:nvSpPr>
          <p:spPr>
            <a:xfrm>
              <a:off x="0" y="-66675"/>
              <a:ext cx="1523810" cy="447475"/>
            </a:xfrm>
            <a:prstGeom prst="rect">
              <a:avLst/>
            </a:prstGeom>
          </p:spPr>
          <p:txBody>
            <a:bodyPr lIns="50800" tIns="50800" rIns="50800" bIns="50800" rtlCol="0" anchor="ctr"/>
            <a:lstStyle/>
            <a:p>
              <a:pPr algn="ctr">
                <a:lnSpc>
                  <a:spcPts val="3354"/>
                </a:lnSpc>
              </a:pPr>
              <a:endParaRPr/>
            </a:p>
          </p:txBody>
        </p:sp>
      </p:grpSp>
      <p:sp>
        <p:nvSpPr>
          <p:cNvPr id="50" name="Freeform 50"/>
          <p:cNvSpPr/>
          <p:nvPr/>
        </p:nvSpPr>
        <p:spPr>
          <a:xfrm>
            <a:off x="6128553" y="8763050"/>
            <a:ext cx="1652649" cy="594954"/>
          </a:xfrm>
          <a:custGeom>
            <a:avLst/>
            <a:gdLst/>
            <a:ahLst/>
            <a:cxnLst/>
            <a:rect l="l" t="t" r="r" b="b"/>
            <a:pathLst>
              <a:path w="1652649" h="594954">
                <a:moveTo>
                  <a:pt x="0" y="0"/>
                </a:moveTo>
                <a:lnTo>
                  <a:pt x="1652650" y="0"/>
                </a:lnTo>
                <a:lnTo>
                  <a:pt x="1652650" y="594953"/>
                </a:lnTo>
                <a:lnTo>
                  <a:pt x="0" y="59495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1" name="Freeform 51"/>
          <p:cNvSpPr/>
          <p:nvPr/>
        </p:nvSpPr>
        <p:spPr>
          <a:xfrm rot="-2700000">
            <a:off x="-1401161" y="708211"/>
            <a:ext cx="4953339" cy="674892"/>
          </a:xfrm>
          <a:custGeom>
            <a:avLst/>
            <a:gdLst/>
            <a:ahLst/>
            <a:cxnLst/>
            <a:rect l="l" t="t" r="r" b="b"/>
            <a:pathLst>
              <a:path w="4953339" h="674892">
                <a:moveTo>
                  <a:pt x="0" y="0"/>
                </a:moveTo>
                <a:lnTo>
                  <a:pt x="4953339" y="0"/>
                </a:lnTo>
                <a:lnTo>
                  <a:pt x="4953339" y="674892"/>
                </a:lnTo>
                <a:lnTo>
                  <a:pt x="0" y="674892"/>
                </a:lnTo>
                <a:lnTo>
                  <a:pt x="0" y="0"/>
                </a:lnTo>
                <a:close/>
              </a:path>
            </a:pathLst>
          </a:custGeom>
          <a:blipFill>
            <a:blip r:embed="rId13">
              <a:alphaModFix amt="58000"/>
            </a:blip>
            <a:stretch>
              <a:fillRect/>
            </a:stretch>
          </a:blipFill>
        </p:spPr>
      </p:sp>
      <p:sp>
        <p:nvSpPr>
          <p:cNvPr id="52" name="Freeform 52"/>
          <p:cNvSpPr/>
          <p:nvPr/>
        </p:nvSpPr>
        <p:spPr>
          <a:xfrm rot="-2700000">
            <a:off x="-1047505" y="343322"/>
            <a:ext cx="3181450" cy="433473"/>
          </a:xfrm>
          <a:custGeom>
            <a:avLst/>
            <a:gdLst/>
            <a:ahLst/>
            <a:cxnLst/>
            <a:rect l="l" t="t" r="r" b="b"/>
            <a:pathLst>
              <a:path w="3181450" h="433473">
                <a:moveTo>
                  <a:pt x="0" y="0"/>
                </a:moveTo>
                <a:lnTo>
                  <a:pt x="3181450" y="0"/>
                </a:lnTo>
                <a:lnTo>
                  <a:pt x="3181450" y="433473"/>
                </a:lnTo>
                <a:lnTo>
                  <a:pt x="0" y="433473"/>
                </a:lnTo>
                <a:lnTo>
                  <a:pt x="0" y="0"/>
                </a:lnTo>
                <a:close/>
              </a:path>
            </a:pathLst>
          </a:custGeom>
          <a:blipFill>
            <a:blip r:embed="rId13">
              <a:alphaModFix amt="58000"/>
            </a:blip>
            <a:stretch>
              <a:fillRect/>
            </a:stretch>
          </a:blipFill>
        </p:spPr>
      </p:sp>
      <p:grpSp>
        <p:nvGrpSpPr>
          <p:cNvPr id="53" name="Group 53"/>
          <p:cNvGrpSpPr/>
          <p:nvPr/>
        </p:nvGrpSpPr>
        <p:grpSpPr>
          <a:xfrm rot="2700000">
            <a:off x="548811" y="-1083809"/>
            <a:ext cx="658929" cy="4088628"/>
            <a:chOff x="0" y="0"/>
            <a:chExt cx="384452" cy="2385506"/>
          </a:xfrm>
        </p:grpSpPr>
        <p:sp>
          <p:nvSpPr>
            <p:cNvPr id="54" name="Freeform 54"/>
            <p:cNvSpPr/>
            <p:nvPr/>
          </p:nvSpPr>
          <p:spPr>
            <a:xfrm>
              <a:off x="0" y="0"/>
              <a:ext cx="384452" cy="2385506"/>
            </a:xfrm>
            <a:custGeom>
              <a:avLst/>
              <a:gdLst/>
              <a:ahLst/>
              <a:cxnLst/>
              <a:rect l="l" t="t" r="r" b="b"/>
              <a:pathLst>
                <a:path w="384452" h="2385506">
                  <a:moveTo>
                    <a:pt x="0" y="0"/>
                  </a:moveTo>
                  <a:lnTo>
                    <a:pt x="384452" y="0"/>
                  </a:lnTo>
                  <a:lnTo>
                    <a:pt x="384452" y="2385506"/>
                  </a:lnTo>
                  <a:lnTo>
                    <a:pt x="0" y="2385506"/>
                  </a:lnTo>
                  <a:close/>
                </a:path>
              </a:pathLst>
            </a:custGeom>
            <a:solidFill>
              <a:srgbClr val="C2221E"/>
            </a:solidFill>
          </p:spPr>
        </p:sp>
        <p:sp>
          <p:nvSpPr>
            <p:cNvPr id="55" name="TextBox 55"/>
            <p:cNvSpPr txBox="1"/>
            <p:nvPr/>
          </p:nvSpPr>
          <p:spPr>
            <a:xfrm>
              <a:off x="0" y="-66675"/>
              <a:ext cx="384452" cy="2452181"/>
            </a:xfrm>
            <a:prstGeom prst="rect">
              <a:avLst/>
            </a:prstGeom>
          </p:spPr>
          <p:txBody>
            <a:bodyPr lIns="50800" tIns="50800" rIns="50800" bIns="50800" rtlCol="0" anchor="ctr"/>
            <a:lstStyle/>
            <a:p>
              <a:pPr algn="ctr">
                <a:lnSpc>
                  <a:spcPts val="3354"/>
                </a:lnSpc>
              </a:pPr>
              <a:endParaRPr/>
            </a:p>
          </p:txBody>
        </p:sp>
      </p:grpSp>
      <p:grpSp>
        <p:nvGrpSpPr>
          <p:cNvPr id="56" name="Group 56"/>
          <p:cNvGrpSpPr/>
          <p:nvPr/>
        </p:nvGrpSpPr>
        <p:grpSpPr>
          <a:xfrm rot="2700000">
            <a:off x="-75796" y="-1849187"/>
            <a:ext cx="786047" cy="4233166"/>
            <a:chOff x="0" y="0"/>
            <a:chExt cx="458618" cy="2469837"/>
          </a:xfrm>
        </p:grpSpPr>
        <p:sp>
          <p:nvSpPr>
            <p:cNvPr id="57" name="Freeform 57"/>
            <p:cNvSpPr/>
            <p:nvPr/>
          </p:nvSpPr>
          <p:spPr>
            <a:xfrm>
              <a:off x="0" y="0"/>
              <a:ext cx="458618" cy="2469837"/>
            </a:xfrm>
            <a:custGeom>
              <a:avLst/>
              <a:gdLst/>
              <a:ahLst/>
              <a:cxnLst/>
              <a:rect l="l" t="t" r="r" b="b"/>
              <a:pathLst>
                <a:path w="458618" h="2469837">
                  <a:moveTo>
                    <a:pt x="0" y="0"/>
                  </a:moveTo>
                  <a:lnTo>
                    <a:pt x="458618" y="0"/>
                  </a:lnTo>
                  <a:lnTo>
                    <a:pt x="458618" y="2469837"/>
                  </a:lnTo>
                  <a:lnTo>
                    <a:pt x="0" y="2469837"/>
                  </a:lnTo>
                  <a:close/>
                </a:path>
              </a:pathLst>
            </a:custGeom>
            <a:solidFill>
              <a:srgbClr val="C2221E"/>
            </a:solidFill>
          </p:spPr>
        </p:sp>
        <p:sp>
          <p:nvSpPr>
            <p:cNvPr id="58" name="TextBox 58"/>
            <p:cNvSpPr txBox="1"/>
            <p:nvPr/>
          </p:nvSpPr>
          <p:spPr>
            <a:xfrm>
              <a:off x="0" y="-66675"/>
              <a:ext cx="458618" cy="2536512"/>
            </a:xfrm>
            <a:prstGeom prst="rect">
              <a:avLst/>
            </a:prstGeom>
          </p:spPr>
          <p:txBody>
            <a:bodyPr lIns="50800" tIns="50800" rIns="50800" bIns="50800" rtlCol="0" anchor="ctr"/>
            <a:lstStyle/>
            <a:p>
              <a:pPr algn="ctr">
                <a:lnSpc>
                  <a:spcPts val="3354"/>
                </a:lnSpc>
              </a:pPr>
              <a:endParaRPr/>
            </a:p>
          </p:txBody>
        </p:sp>
      </p:grpSp>
      <p:sp>
        <p:nvSpPr>
          <p:cNvPr id="59" name="Freeform 59"/>
          <p:cNvSpPr/>
          <p:nvPr/>
        </p:nvSpPr>
        <p:spPr>
          <a:xfrm rot="-2700000">
            <a:off x="-1248761" y="860611"/>
            <a:ext cx="4953339" cy="674892"/>
          </a:xfrm>
          <a:custGeom>
            <a:avLst/>
            <a:gdLst/>
            <a:ahLst/>
            <a:cxnLst/>
            <a:rect l="l" t="t" r="r" b="b"/>
            <a:pathLst>
              <a:path w="4953339" h="674892">
                <a:moveTo>
                  <a:pt x="0" y="0"/>
                </a:moveTo>
                <a:lnTo>
                  <a:pt x="4953339" y="0"/>
                </a:lnTo>
                <a:lnTo>
                  <a:pt x="4953339" y="674892"/>
                </a:lnTo>
                <a:lnTo>
                  <a:pt x="0" y="674892"/>
                </a:lnTo>
                <a:lnTo>
                  <a:pt x="0" y="0"/>
                </a:lnTo>
                <a:close/>
              </a:path>
            </a:pathLst>
          </a:custGeom>
          <a:blipFill>
            <a:blip r:embed="rId13">
              <a:alphaModFix amt="58000"/>
            </a:blip>
            <a:stretch>
              <a:fillRect/>
            </a:stretch>
          </a:blipFill>
        </p:spPr>
      </p:sp>
      <p:sp>
        <p:nvSpPr>
          <p:cNvPr id="60" name="Freeform 60"/>
          <p:cNvSpPr/>
          <p:nvPr/>
        </p:nvSpPr>
        <p:spPr>
          <a:xfrm rot="-2700000">
            <a:off x="-895105" y="495722"/>
            <a:ext cx="3181450" cy="433473"/>
          </a:xfrm>
          <a:custGeom>
            <a:avLst/>
            <a:gdLst/>
            <a:ahLst/>
            <a:cxnLst/>
            <a:rect l="l" t="t" r="r" b="b"/>
            <a:pathLst>
              <a:path w="3181450" h="433473">
                <a:moveTo>
                  <a:pt x="0" y="0"/>
                </a:moveTo>
                <a:lnTo>
                  <a:pt x="3181450" y="0"/>
                </a:lnTo>
                <a:lnTo>
                  <a:pt x="3181450" y="433473"/>
                </a:lnTo>
                <a:lnTo>
                  <a:pt x="0" y="433473"/>
                </a:lnTo>
                <a:lnTo>
                  <a:pt x="0" y="0"/>
                </a:lnTo>
                <a:close/>
              </a:path>
            </a:pathLst>
          </a:custGeom>
          <a:blipFill>
            <a:blip r:embed="rId13">
              <a:alphaModFix amt="58000"/>
            </a:blip>
            <a:stretch>
              <a:fillRect/>
            </a:stretch>
          </a:blipFill>
        </p:spPr>
      </p:sp>
      <p:grpSp>
        <p:nvGrpSpPr>
          <p:cNvPr id="61" name="Group 61"/>
          <p:cNvGrpSpPr/>
          <p:nvPr/>
        </p:nvGrpSpPr>
        <p:grpSpPr>
          <a:xfrm rot="2700000">
            <a:off x="701211" y="-931409"/>
            <a:ext cx="658929" cy="4088628"/>
            <a:chOff x="0" y="0"/>
            <a:chExt cx="384452" cy="2385506"/>
          </a:xfrm>
        </p:grpSpPr>
        <p:sp>
          <p:nvSpPr>
            <p:cNvPr id="62" name="Freeform 62"/>
            <p:cNvSpPr/>
            <p:nvPr/>
          </p:nvSpPr>
          <p:spPr>
            <a:xfrm>
              <a:off x="0" y="0"/>
              <a:ext cx="384452" cy="2385506"/>
            </a:xfrm>
            <a:custGeom>
              <a:avLst/>
              <a:gdLst/>
              <a:ahLst/>
              <a:cxnLst/>
              <a:rect l="l" t="t" r="r" b="b"/>
              <a:pathLst>
                <a:path w="384452" h="2385506">
                  <a:moveTo>
                    <a:pt x="0" y="0"/>
                  </a:moveTo>
                  <a:lnTo>
                    <a:pt x="384452" y="0"/>
                  </a:lnTo>
                  <a:lnTo>
                    <a:pt x="384452" y="2385506"/>
                  </a:lnTo>
                  <a:lnTo>
                    <a:pt x="0" y="2385506"/>
                  </a:lnTo>
                  <a:close/>
                </a:path>
              </a:pathLst>
            </a:custGeom>
            <a:solidFill>
              <a:srgbClr val="C2221E"/>
            </a:solidFill>
          </p:spPr>
        </p:sp>
        <p:sp>
          <p:nvSpPr>
            <p:cNvPr id="63" name="TextBox 63"/>
            <p:cNvSpPr txBox="1"/>
            <p:nvPr/>
          </p:nvSpPr>
          <p:spPr>
            <a:xfrm>
              <a:off x="0" y="-66675"/>
              <a:ext cx="384452" cy="2452181"/>
            </a:xfrm>
            <a:prstGeom prst="rect">
              <a:avLst/>
            </a:prstGeom>
          </p:spPr>
          <p:txBody>
            <a:bodyPr lIns="50800" tIns="50800" rIns="50800" bIns="50800" rtlCol="0" anchor="ctr"/>
            <a:lstStyle/>
            <a:p>
              <a:pPr algn="ctr">
                <a:lnSpc>
                  <a:spcPts val="3354"/>
                </a:lnSpc>
              </a:pPr>
              <a:endParaRPr/>
            </a:p>
          </p:txBody>
        </p:sp>
      </p:grpSp>
      <p:grpSp>
        <p:nvGrpSpPr>
          <p:cNvPr id="64" name="Group 64"/>
          <p:cNvGrpSpPr/>
          <p:nvPr/>
        </p:nvGrpSpPr>
        <p:grpSpPr>
          <a:xfrm rot="2700000">
            <a:off x="76604" y="-1696787"/>
            <a:ext cx="786047" cy="4233166"/>
            <a:chOff x="0" y="0"/>
            <a:chExt cx="458618" cy="2469837"/>
          </a:xfrm>
        </p:grpSpPr>
        <p:sp>
          <p:nvSpPr>
            <p:cNvPr id="65" name="Freeform 65"/>
            <p:cNvSpPr/>
            <p:nvPr/>
          </p:nvSpPr>
          <p:spPr>
            <a:xfrm>
              <a:off x="0" y="0"/>
              <a:ext cx="458618" cy="2469837"/>
            </a:xfrm>
            <a:custGeom>
              <a:avLst/>
              <a:gdLst/>
              <a:ahLst/>
              <a:cxnLst/>
              <a:rect l="l" t="t" r="r" b="b"/>
              <a:pathLst>
                <a:path w="458618" h="2469837">
                  <a:moveTo>
                    <a:pt x="0" y="0"/>
                  </a:moveTo>
                  <a:lnTo>
                    <a:pt x="458618" y="0"/>
                  </a:lnTo>
                  <a:lnTo>
                    <a:pt x="458618" y="2469837"/>
                  </a:lnTo>
                  <a:lnTo>
                    <a:pt x="0" y="2469837"/>
                  </a:lnTo>
                  <a:close/>
                </a:path>
              </a:pathLst>
            </a:custGeom>
            <a:solidFill>
              <a:srgbClr val="C2221E"/>
            </a:solidFill>
          </p:spPr>
        </p:sp>
        <p:sp>
          <p:nvSpPr>
            <p:cNvPr id="66" name="TextBox 66"/>
            <p:cNvSpPr txBox="1"/>
            <p:nvPr/>
          </p:nvSpPr>
          <p:spPr>
            <a:xfrm>
              <a:off x="0" y="-66675"/>
              <a:ext cx="458618" cy="2536512"/>
            </a:xfrm>
            <a:prstGeom prst="rect">
              <a:avLst/>
            </a:prstGeom>
          </p:spPr>
          <p:txBody>
            <a:bodyPr lIns="50800" tIns="50800" rIns="50800" bIns="50800" rtlCol="0" anchor="ctr"/>
            <a:lstStyle/>
            <a:p>
              <a:pPr algn="ctr">
                <a:lnSpc>
                  <a:spcPts val="3354"/>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Freeform 3"/>
          <p:cNvSpPr/>
          <p:nvPr/>
        </p:nvSpPr>
        <p:spPr>
          <a:xfrm>
            <a:off x="10782944" y="-365474"/>
            <a:ext cx="9205005" cy="1254182"/>
          </a:xfrm>
          <a:custGeom>
            <a:avLst/>
            <a:gdLst/>
            <a:ahLst/>
            <a:cxnLst/>
            <a:rect l="l" t="t" r="r" b="b"/>
            <a:pathLst>
              <a:path w="9205005" h="1254182">
                <a:moveTo>
                  <a:pt x="0" y="0"/>
                </a:moveTo>
                <a:lnTo>
                  <a:pt x="9205005" y="0"/>
                </a:lnTo>
                <a:lnTo>
                  <a:pt x="9205005" y="1254182"/>
                </a:lnTo>
                <a:lnTo>
                  <a:pt x="0" y="1254182"/>
                </a:lnTo>
                <a:lnTo>
                  <a:pt x="0" y="0"/>
                </a:lnTo>
                <a:close/>
              </a:path>
            </a:pathLst>
          </a:custGeom>
          <a:blipFill>
            <a:blip r:embed="rId3">
              <a:alphaModFix amt="58000"/>
            </a:blip>
            <a:stretch>
              <a:fillRect/>
            </a:stretch>
          </a:blipFill>
        </p:spPr>
      </p:sp>
      <p:grpSp>
        <p:nvGrpSpPr>
          <p:cNvPr id="4" name="Group 4"/>
          <p:cNvGrpSpPr/>
          <p:nvPr/>
        </p:nvGrpSpPr>
        <p:grpSpPr>
          <a:xfrm rot="-10800000">
            <a:off x="11605227" y="-580983"/>
            <a:ext cx="4056912" cy="1035961"/>
            <a:chOff x="0" y="0"/>
            <a:chExt cx="1804702" cy="460843"/>
          </a:xfrm>
        </p:grpSpPr>
        <p:sp>
          <p:nvSpPr>
            <p:cNvPr id="5" name="Freeform 5"/>
            <p:cNvSpPr/>
            <p:nvPr/>
          </p:nvSpPr>
          <p:spPr>
            <a:xfrm>
              <a:off x="0" y="0"/>
              <a:ext cx="1804702" cy="460843"/>
            </a:xfrm>
            <a:custGeom>
              <a:avLst/>
              <a:gdLst/>
              <a:ahLst/>
              <a:cxnLst/>
              <a:rect l="l" t="t" r="r" b="b"/>
              <a:pathLst>
                <a:path w="1804702" h="460843">
                  <a:moveTo>
                    <a:pt x="1601502" y="0"/>
                  </a:moveTo>
                  <a:lnTo>
                    <a:pt x="0" y="0"/>
                  </a:lnTo>
                  <a:lnTo>
                    <a:pt x="0" y="460843"/>
                  </a:lnTo>
                  <a:lnTo>
                    <a:pt x="1601502" y="460843"/>
                  </a:lnTo>
                  <a:lnTo>
                    <a:pt x="1804702" y="230422"/>
                  </a:lnTo>
                  <a:lnTo>
                    <a:pt x="1601502" y="0"/>
                  </a:lnTo>
                  <a:close/>
                </a:path>
              </a:pathLst>
            </a:custGeom>
            <a:solidFill>
              <a:srgbClr val="C2221E"/>
            </a:solidFill>
          </p:spPr>
        </p:sp>
        <p:sp>
          <p:nvSpPr>
            <p:cNvPr id="6" name="TextBox 6"/>
            <p:cNvSpPr txBox="1"/>
            <p:nvPr/>
          </p:nvSpPr>
          <p:spPr>
            <a:xfrm>
              <a:off x="0" y="-66675"/>
              <a:ext cx="1690402" cy="527518"/>
            </a:xfrm>
            <a:prstGeom prst="rect">
              <a:avLst/>
            </a:prstGeom>
          </p:spPr>
          <p:txBody>
            <a:bodyPr lIns="50800" tIns="50800" rIns="50800" bIns="50800" rtlCol="0" anchor="ctr"/>
            <a:lstStyle/>
            <a:p>
              <a:pPr algn="ctr">
                <a:lnSpc>
                  <a:spcPts val="3354"/>
                </a:lnSpc>
              </a:pPr>
              <a:endParaRPr/>
            </a:p>
          </p:txBody>
        </p:sp>
      </p:grpSp>
      <p:sp>
        <p:nvSpPr>
          <p:cNvPr id="7" name="Freeform 7"/>
          <p:cNvSpPr/>
          <p:nvPr/>
        </p:nvSpPr>
        <p:spPr>
          <a:xfrm rot="2700000">
            <a:off x="-3111138" y="2514554"/>
            <a:ext cx="7047814" cy="960265"/>
          </a:xfrm>
          <a:custGeom>
            <a:avLst/>
            <a:gdLst/>
            <a:ahLst/>
            <a:cxnLst/>
            <a:rect l="l" t="t" r="r" b="b"/>
            <a:pathLst>
              <a:path w="7047814" h="960265">
                <a:moveTo>
                  <a:pt x="0" y="0"/>
                </a:moveTo>
                <a:lnTo>
                  <a:pt x="7047814" y="0"/>
                </a:lnTo>
                <a:lnTo>
                  <a:pt x="7047814" y="960264"/>
                </a:lnTo>
                <a:lnTo>
                  <a:pt x="0" y="960264"/>
                </a:lnTo>
                <a:lnTo>
                  <a:pt x="0" y="0"/>
                </a:lnTo>
                <a:close/>
              </a:path>
            </a:pathLst>
          </a:custGeom>
          <a:blipFill>
            <a:blip r:embed="rId3">
              <a:alphaModFix amt="58000"/>
            </a:blip>
            <a:stretch>
              <a:fillRect/>
            </a:stretch>
          </a:blipFill>
        </p:spPr>
      </p:sp>
      <p:sp>
        <p:nvSpPr>
          <p:cNvPr id="8" name="Freeform 8"/>
          <p:cNvSpPr/>
          <p:nvPr/>
        </p:nvSpPr>
        <p:spPr>
          <a:xfrm rot="2700000">
            <a:off x="-1694626" y="5485958"/>
            <a:ext cx="5446652" cy="742106"/>
          </a:xfrm>
          <a:custGeom>
            <a:avLst/>
            <a:gdLst/>
            <a:ahLst/>
            <a:cxnLst/>
            <a:rect l="l" t="t" r="r" b="b"/>
            <a:pathLst>
              <a:path w="5446652" h="742106">
                <a:moveTo>
                  <a:pt x="0" y="0"/>
                </a:moveTo>
                <a:lnTo>
                  <a:pt x="5446652" y="0"/>
                </a:lnTo>
                <a:lnTo>
                  <a:pt x="5446652" y="742107"/>
                </a:lnTo>
                <a:lnTo>
                  <a:pt x="0" y="742107"/>
                </a:lnTo>
                <a:lnTo>
                  <a:pt x="0" y="0"/>
                </a:lnTo>
                <a:close/>
              </a:path>
            </a:pathLst>
          </a:custGeom>
          <a:blipFill>
            <a:blip r:embed="rId3">
              <a:alphaModFix amt="58000"/>
            </a:blip>
            <a:stretch>
              <a:fillRect/>
            </a:stretch>
          </a:blipFill>
        </p:spPr>
      </p:sp>
      <p:grpSp>
        <p:nvGrpSpPr>
          <p:cNvPr id="9" name="Group 9"/>
          <p:cNvGrpSpPr/>
          <p:nvPr/>
        </p:nvGrpSpPr>
        <p:grpSpPr>
          <a:xfrm rot="8100000">
            <a:off x="9882" y="-713534"/>
            <a:ext cx="1489966" cy="6332908"/>
            <a:chOff x="0" y="0"/>
            <a:chExt cx="392419" cy="1667926"/>
          </a:xfrm>
        </p:grpSpPr>
        <p:sp>
          <p:nvSpPr>
            <p:cNvPr id="10" name="Freeform 10"/>
            <p:cNvSpPr/>
            <p:nvPr/>
          </p:nvSpPr>
          <p:spPr>
            <a:xfrm>
              <a:off x="0" y="0"/>
              <a:ext cx="392419" cy="1667926"/>
            </a:xfrm>
            <a:custGeom>
              <a:avLst/>
              <a:gdLst/>
              <a:ahLst/>
              <a:cxnLst/>
              <a:rect l="l" t="t" r="r" b="b"/>
              <a:pathLst>
                <a:path w="392419" h="1667926">
                  <a:moveTo>
                    <a:pt x="0" y="0"/>
                  </a:moveTo>
                  <a:lnTo>
                    <a:pt x="392419" y="0"/>
                  </a:lnTo>
                  <a:lnTo>
                    <a:pt x="392419" y="1667926"/>
                  </a:lnTo>
                  <a:lnTo>
                    <a:pt x="0" y="1667926"/>
                  </a:lnTo>
                  <a:close/>
                </a:path>
              </a:pathLst>
            </a:custGeom>
            <a:solidFill>
              <a:srgbClr val="C2221E"/>
            </a:solidFill>
          </p:spPr>
        </p:sp>
        <p:sp>
          <p:nvSpPr>
            <p:cNvPr id="11" name="TextBox 11"/>
            <p:cNvSpPr txBox="1"/>
            <p:nvPr/>
          </p:nvSpPr>
          <p:spPr>
            <a:xfrm>
              <a:off x="0" y="-66675"/>
              <a:ext cx="392419" cy="1734601"/>
            </a:xfrm>
            <a:prstGeom prst="rect">
              <a:avLst/>
            </a:prstGeom>
          </p:spPr>
          <p:txBody>
            <a:bodyPr lIns="50800" tIns="50800" rIns="50800" bIns="50800" rtlCol="0" anchor="ctr"/>
            <a:lstStyle/>
            <a:p>
              <a:pPr algn="ctr">
                <a:lnSpc>
                  <a:spcPts val="3354"/>
                </a:lnSpc>
              </a:pPr>
              <a:endParaRPr/>
            </a:p>
          </p:txBody>
        </p:sp>
      </p:grpSp>
      <p:grpSp>
        <p:nvGrpSpPr>
          <p:cNvPr id="12" name="Group 12"/>
          <p:cNvGrpSpPr/>
          <p:nvPr/>
        </p:nvGrpSpPr>
        <p:grpSpPr>
          <a:xfrm rot="8100000">
            <a:off x="739329" y="2667185"/>
            <a:ext cx="1345714" cy="5485156"/>
            <a:chOff x="0" y="0"/>
            <a:chExt cx="458618" cy="1869336"/>
          </a:xfrm>
        </p:grpSpPr>
        <p:sp>
          <p:nvSpPr>
            <p:cNvPr id="13" name="Freeform 13"/>
            <p:cNvSpPr/>
            <p:nvPr/>
          </p:nvSpPr>
          <p:spPr>
            <a:xfrm>
              <a:off x="0" y="0"/>
              <a:ext cx="458618" cy="1869336"/>
            </a:xfrm>
            <a:custGeom>
              <a:avLst/>
              <a:gdLst/>
              <a:ahLst/>
              <a:cxnLst/>
              <a:rect l="l" t="t" r="r" b="b"/>
              <a:pathLst>
                <a:path w="458618" h="1869336">
                  <a:moveTo>
                    <a:pt x="0" y="0"/>
                  </a:moveTo>
                  <a:lnTo>
                    <a:pt x="458618" y="0"/>
                  </a:lnTo>
                  <a:lnTo>
                    <a:pt x="458618" y="1869336"/>
                  </a:lnTo>
                  <a:lnTo>
                    <a:pt x="0" y="1869336"/>
                  </a:lnTo>
                  <a:close/>
                </a:path>
              </a:pathLst>
            </a:custGeom>
            <a:solidFill>
              <a:srgbClr val="C2221E"/>
            </a:solidFill>
          </p:spPr>
        </p:sp>
        <p:sp>
          <p:nvSpPr>
            <p:cNvPr id="14" name="TextBox 14"/>
            <p:cNvSpPr txBox="1"/>
            <p:nvPr/>
          </p:nvSpPr>
          <p:spPr>
            <a:xfrm>
              <a:off x="0" y="-66675"/>
              <a:ext cx="458618" cy="1936011"/>
            </a:xfrm>
            <a:prstGeom prst="rect">
              <a:avLst/>
            </a:prstGeom>
          </p:spPr>
          <p:txBody>
            <a:bodyPr lIns="50800" tIns="50800" rIns="50800" bIns="50800" rtlCol="0" anchor="ctr"/>
            <a:lstStyle/>
            <a:p>
              <a:pPr algn="ctr">
                <a:lnSpc>
                  <a:spcPts val="3354"/>
                </a:lnSpc>
              </a:pPr>
              <a:endParaRPr/>
            </a:p>
          </p:txBody>
        </p:sp>
      </p:grpSp>
      <p:grpSp>
        <p:nvGrpSpPr>
          <p:cNvPr id="15" name="Group 15"/>
          <p:cNvGrpSpPr/>
          <p:nvPr/>
        </p:nvGrpSpPr>
        <p:grpSpPr>
          <a:xfrm rot="-10800000">
            <a:off x="14658339" y="-580983"/>
            <a:ext cx="3682419" cy="1035961"/>
            <a:chOff x="0" y="0"/>
            <a:chExt cx="1638110" cy="460843"/>
          </a:xfrm>
        </p:grpSpPr>
        <p:sp>
          <p:nvSpPr>
            <p:cNvPr id="16" name="Freeform 16"/>
            <p:cNvSpPr/>
            <p:nvPr/>
          </p:nvSpPr>
          <p:spPr>
            <a:xfrm>
              <a:off x="0" y="0"/>
              <a:ext cx="1638110" cy="460843"/>
            </a:xfrm>
            <a:custGeom>
              <a:avLst/>
              <a:gdLst/>
              <a:ahLst/>
              <a:cxnLst/>
              <a:rect l="l" t="t" r="r" b="b"/>
              <a:pathLst>
                <a:path w="1638110" h="460843">
                  <a:moveTo>
                    <a:pt x="1434910" y="0"/>
                  </a:moveTo>
                  <a:lnTo>
                    <a:pt x="0" y="0"/>
                  </a:lnTo>
                  <a:lnTo>
                    <a:pt x="0" y="460843"/>
                  </a:lnTo>
                  <a:lnTo>
                    <a:pt x="1434910" y="460843"/>
                  </a:lnTo>
                  <a:lnTo>
                    <a:pt x="1638110" y="230422"/>
                  </a:lnTo>
                  <a:lnTo>
                    <a:pt x="1434910" y="0"/>
                  </a:lnTo>
                  <a:close/>
                </a:path>
              </a:pathLst>
            </a:custGeom>
            <a:solidFill>
              <a:srgbClr val="A60404"/>
            </a:solidFill>
          </p:spPr>
        </p:sp>
        <p:sp>
          <p:nvSpPr>
            <p:cNvPr id="17" name="TextBox 17"/>
            <p:cNvSpPr txBox="1"/>
            <p:nvPr/>
          </p:nvSpPr>
          <p:spPr>
            <a:xfrm>
              <a:off x="0" y="-66675"/>
              <a:ext cx="1523810" cy="527518"/>
            </a:xfrm>
            <a:prstGeom prst="rect">
              <a:avLst/>
            </a:prstGeom>
          </p:spPr>
          <p:txBody>
            <a:bodyPr lIns="50800" tIns="50800" rIns="50800" bIns="50800" rtlCol="0" anchor="ctr"/>
            <a:lstStyle/>
            <a:p>
              <a:pPr algn="ctr">
                <a:lnSpc>
                  <a:spcPts val="3354"/>
                </a:lnSpc>
              </a:pPr>
              <a:endParaRPr/>
            </a:p>
          </p:txBody>
        </p:sp>
      </p:grpSp>
      <p:sp>
        <p:nvSpPr>
          <p:cNvPr id="18" name="TextBox 18"/>
          <p:cNvSpPr txBox="1"/>
          <p:nvPr/>
        </p:nvSpPr>
        <p:spPr>
          <a:xfrm>
            <a:off x="7609014" y="2436416"/>
            <a:ext cx="2393990" cy="558271"/>
          </a:xfrm>
          <a:prstGeom prst="rect">
            <a:avLst/>
          </a:prstGeom>
        </p:spPr>
        <p:txBody>
          <a:bodyPr lIns="0" tIns="0" rIns="0" bIns="0" rtlCol="0" anchor="t">
            <a:spAutoFit/>
          </a:bodyPr>
          <a:lstStyle/>
          <a:p>
            <a:pPr algn="ctr">
              <a:lnSpc>
                <a:spcPts val="4404"/>
              </a:lnSpc>
              <a:spcBef>
                <a:spcPct val="0"/>
              </a:spcBef>
            </a:pPr>
            <a:r>
              <a:rPr lang="en-US" sz="3145" b="1">
                <a:solidFill>
                  <a:srgbClr val="A60404"/>
                </a:solidFill>
                <a:latin typeface="Poppins Bold"/>
                <a:ea typeface="Poppins Bold"/>
                <a:cs typeface="Poppins Bold"/>
                <a:sym typeface="Poppins Bold"/>
              </a:rPr>
              <a:t>Who we are</a:t>
            </a:r>
          </a:p>
        </p:txBody>
      </p:sp>
      <p:sp>
        <p:nvSpPr>
          <p:cNvPr id="19" name="Freeform 19"/>
          <p:cNvSpPr/>
          <p:nvPr/>
        </p:nvSpPr>
        <p:spPr>
          <a:xfrm flipH="1">
            <a:off x="-1684234" y="7109946"/>
            <a:ext cx="6968721" cy="4616778"/>
          </a:xfrm>
          <a:custGeom>
            <a:avLst/>
            <a:gdLst/>
            <a:ahLst/>
            <a:cxnLst/>
            <a:rect l="l" t="t" r="r" b="b"/>
            <a:pathLst>
              <a:path w="6968721" h="4616778">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20" name="Group 20"/>
          <p:cNvGrpSpPr/>
          <p:nvPr/>
        </p:nvGrpSpPr>
        <p:grpSpPr>
          <a:xfrm>
            <a:off x="754865" y="1469733"/>
            <a:ext cx="11366193" cy="7736815"/>
            <a:chOff x="0" y="0"/>
            <a:chExt cx="1305512" cy="888644"/>
          </a:xfrm>
        </p:grpSpPr>
        <p:sp>
          <p:nvSpPr>
            <p:cNvPr id="21" name="Freeform 21"/>
            <p:cNvSpPr/>
            <p:nvPr/>
          </p:nvSpPr>
          <p:spPr>
            <a:xfrm>
              <a:off x="0" y="0"/>
              <a:ext cx="1305512" cy="888644"/>
            </a:xfrm>
            <a:custGeom>
              <a:avLst/>
              <a:gdLst/>
              <a:ahLst/>
              <a:cxnLst/>
              <a:rect l="l" t="t" r="r" b="b"/>
              <a:pathLst>
                <a:path w="1305512" h="888644">
                  <a:moveTo>
                    <a:pt x="0" y="0"/>
                  </a:moveTo>
                  <a:lnTo>
                    <a:pt x="1305512" y="0"/>
                  </a:lnTo>
                  <a:lnTo>
                    <a:pt x="1305512" y="888644"/>
                  </a:lnTo>
                  <a:lnTo>
                    <a:pt x="0" y="888644"/>
                  </a:lnTo>
                  <a:close/>
                </a:path>
              </a:pathLst>
            </a:custGeom>
            <a:blipFill>
              <a:blip r:embed="rId6"/>
              <a:stretch>
                <a:fillRect l="-2715" r="-2715"/>
              </a:stretch>
            </a:blipFill>
            <a:ln w="38100" cap="sq">
              <a:solidFill>
                <a:srgbClr val="000000"/>
              </a:solidFill>
              <a:prstDash val="solid"/>
              <a:miter/>
            </a:ln>
          </p:spPr>
        </p:sp>
      </p:grpSp>
      <p:grpSp>
        <p:nvGrpSpPr>
          <p:cNvPr id="22" name="Group 22"/>
          <p:cNvGrpSpPr/>
          <p:nvPr/>
        </p:nvGrpSpPr>
        <p:grpSpPr>
          <a:xfrm rot="-10800000">
            <a:off x="6964275" y="9610725"/>
            <a:ext cx="6852228" cy="1542386"/>
            <a:chOff x="0" y="0"/>
            <a:chExt cx="1804702" cy="406225"/>
          </a:xfrm>
        </p:grpSpPr>
        <p:sp>
          <p:nvSpPr>
            <p:cNvPr id="23" name="Freeform 23"/>
            <p:cNvSpPr/>
            <p:nvPr/>
          </p:nvSpPr>
          <p:spPr>
            <a:xfrm>
              <a:off x="0" y="0"/>
              <a:ext cx="1804702" cy="406225"/>
            </a:xfrm>
            <a:custGeom>
              <a:avLst/>
              <a:gdLst/>
              <a:ahLst/>
              <a:cxnLst/>
              <a:rect l="l" t="t" r="r" b="b"/>
              <a:pathLst>
                <a:path w="1804702" h="406225">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id="24" name="TextBox 24"/>
            <p:cNvSpPr txBox="1"/>
            <p:nvPr/>
          </p:nvSpPr>
          <p:spPr>
            <a:xfrm>
              <a:off x="0" y="-66675"/>
              <a:ext cx="1690402" cy="472900"/>
            </a:xfrm>
            <a:prstGeom prst="rect">
              <a:avLst/>
            </a:prstGeom>
          </p:spPr>
          <p:txBody>
            <a:bodyPr lIns="50800" tIns="50800" rIns="50800" bIns="50800" rtlCol="0" anchor="ctr"/>
            <a:lstStyle/>
            <a:p>
              <a:pPr algn="ctr">
                <a:lnSpc>
                  <a:spcPts val="3354"/>
                </a:lnSpc>
              </a:pPr>
              <a:endParaRPr/>
            </a:p>
          </p:txBody>
        </p:sp>
      </p:grpSp>
      <p:grpSp>
        <p:nvGrpSpPr>
          <p:cNvPr id="25" name="Group 25"/>
          <p:cNvGrpSpPr/>
          <p:nvPr/>
        </p:nvGrpSpPr>
        <p:grpSpPr>
          <a:xfrm rot="-10800000">
            <a:off x="12121058" y="9610725"/>
            <a:ext cx="6219700" cy="1542386"/>
            <a:chOff x="0" y="0"/>
            <a:chExt cx="1638110" cy="406225"/>
          </a:xfrm>
        </p:grpSpPr>
        <p:sp>
          <p:nvSpPr>
            <p:cNvPr id="26" name="Freeform 26"/>
            <p:cNvSpPr/>
            <p:nvPr/>
          </p:nvSpPr>
          <p:spPr>
            <a:xfrm>
              <a:off x="0" y="0"/>
              <a:ext cx="1638110" cy="406225"/>
            </a:xfrm>
            <a:custGeom>
              <a:avLst/>
              <a:gdLst/>
              <a:ahLst/>
              <a:cxnLst/>
              <a:rect l="l" t="t" r="r" b="b"/>
              <a:pathLst>
                <a:path w="1638110" h="406225">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id="27" name="TextBox 27"/>
            <p:cNvSpPr txBox="1"/>
            <p:nvPr/>
          </p:nvSpPr>
          <p:spPr>
            <a:xfrm>
              <a:off x="0" y="-66675"/>
              <a:ext cx="1523810" cy="472900"/>
            </a:xfrm>
            <a:prstGeom prst="rect">
              <a:avLst/>
            </a:prstGeom>
          </p:spPr>
          <p:txBody>
            <a:bodyPr lIns="50800" tIns="50800" rIns="50800" bIns="50800" rtlCol="0" anchor="ctr"/>
            <a:lstStyle/>
            <a:p>
              <a:pPr algn="ctr">
                <a:lnSpc>
                  <a:spcPts val="3354"/>
                </a:lnSpc>
              </a:pPr>
              <a:endParaRPr/>
            </a:p>
          </p:txBody>
        </p:sp>
      </p:grpSp>
      <p:sp>
        <p:nvSpPr>
          <p:cNvPr id="28" name="Freeform 28">
            <a:hlinkClick r:id="rId7" tooltip="https://maps.app.goo.gl/uZ459Wa5fqahfEF96"/>
          </p:cNvPr>
          <p:cNvSpPr/>
          <p:nvPr/>
        </p:nvSpPr>
        <p:spPr>
          <a:xfrm>
            <a:off x="412769" y="9334500"/>
            <a:ext cx="534229" cy="868665"/>
          </a:xfrm>
          <a:custGeom>
            <a:avLst/>
            <a:gdLst/>
            <a:ahLst/>
            <a:cxnLst/>
            <a:rect l="l" t="t" r="r" b="b"/>
            <a:pathLst>
              <a:path w="534229" h="868665">
                <a:moveTo>
                  <a:pt x="0" y="0"/>
                </a:moveTo>
                <a:lnTo>
                  <a:pt x="534229" y="0"/>
                </a:lnTo>
                <a:lnTo>
                  <a:pt x="534229" y="868665"/>
                </a:lnTo>
                <a:lnTo>
                  <a:pt x="0" y="868665"/>
                </a:lnTo>
                <a:lnTo>
                  <a:pt x="0" y="0"/>
                </a:lnTo>
                <a:close/>
              </a:path>
            </a:pathLst>
          </a:custGeom>
          <a:blipFill>
            <a:blip r:embed="rId8"/>
            <a:stretch>
              <a:fillRect/>
            </a:stretch>
          </a:blipFill>
        </p:spPr>
      </p:sp>
      <p:sp>
        <p:nvSpPr>
          <p:cNvPr id="29" name="TextBox 29"/>
          <p:cNvSpPr txBox="1"/>
          <p:nvPr/>
        </p:nvSpPr>
        <p:spPr>
          <a:xfrm>
            <a:off x="12630560" y="2842286"/>
            <a:ext cx="664845" cy="469900"/>
          </a:xfrm>
          <a:prstGeom prst="rect">
            <a:avLst/>
          </a:prstGeom>
        </p:spPr>
        <p:txBody>
          <a:bodyPr lIns="0" tIns="0" rIns="0" bIns="0" rtlCol="0" anchor="t">
            <a:spAutoFit/>
          </a:bodyPr>
          <a:lstStyle/>
          <a:p>
            <a:pPr algn="l">
              <a:lnSpc>
                <a:spcPts val="3499"/>
              </a:lnSpc>
            </a:pPr>
            <a:r>
              <a:rPr lang="en-US" sz="2499" b="1">
                <a:solidFill>
                  <a:srgbClr val="D82027"/>
                </a:solidFill>
                <a:latin typeface="Times New Roman MT Bold"/>
                <a:ea typeface="Times New Roman MT Bold"/>
                <a:cs typeface="Times New Roman MT Bold"/>
                <a:sym typeface="Times New Roman MT Bold"/>
              </a:rPr>
              <a:t>City:</a:t>
            </a:r>
          </a:p>
        </p:txBody>
      </p:sp>
      <p:sp>
        <p:nvSpPr>
          <p:cNvPr id="30" name="TextBox 30"/>
          <p:cNvSpPr txBox="1"/>
          <p:nvPr/>
        </p:nvSpPr>
        <p:spPr>
          <a:xfrm>
            <a:off x="12639846" y="4233166"/>
            <a:ext cx="641985" cy="469900"/>
          </a:xfrm>
          <a:prstGeom prst="rect">
            <a:avLst/>
          </a:prstGeom>
        </p:spPr>
        <p:txBody>
          <a:bodyPr lIns="0" tIns="0" rIns="0" bIns="0" rtlCol="0" anchor="t">
            <a:spAutoFit/>
          </a:bodyPr>
          <a:lstStyle/>
          <a:p>
            <a:pPr algn="l">
              <a:lnSpc>
                <a:spcPts val="3499"/>
              </a:lnSpc>
            </a:pPr>
            <a:r>
              <a:rPr lang="en-US" sz="2499" b="1">
                <a:solidFill>
                  <a:srgbClr val="CC0000"/>
                </a:solidFill>
                <a:latin typeface="Times New Roman MT Bold"/>
                <a:ea typeface="Times New Roman MT Bold"/>
                <a:cs typeface="Times New Roman MT Bold"/>
                <a:sym typeface="Times New Roman MT Bold"/>
              </a:rPr>
              <a:t>Size:</a:t>
            </a:r>
          </a:p>
        </p:txBody>
      </p:sp>
      <p:sp>
        <p:nvSpPr>
          <p:cNvPr id="31" name="TextBox 31"/>
          <p:cNvSpPr txBox="1"/>
          <p:nvPr/>
        </p:nvSpPr>
        <p:spPr>
          <a:xfrm>
            <a:off x="12639846" y="5626991"/>
            <a:ext cx="1584484" cy="469900"/>
          </a:xfrm>
          <a:prstGeom prst="rect">
            <a:avLst/>
          </a:prstGeom>
        </p:spPr>
        <p:txBody>
          <a:bodyPr lIns="0" tIns="0" rIns="0" bIns="0" rtlCol="0" anchor="t">
            <a:spAutoFit/>
          </a:bodyPr>
          <a:lstStyle/>
          <a:p>
            <a:pPr algn="l">
              <a:lnSpc>
                <a:spcPts val="3499"/>
              </a:lnSpc>
            </a:pPr>
            <a:r>
              <a:rPr lang="en-US" sz="2499" b="1">
                <a:solidFill>
                  <a:srgbClr val="CC0000"/>
                </a:solidFill>
                <a:latin typeface="Times New Roman MT Bold"/>
                <a:ea typeface="Times New Roman MT Bold"/>
                <a:cs typeface="Times New Roman MT Bold"/>
                <a:sym typeface="Times New Roman MT Bold"/>
              </a:rPr>
              <a:t>Media type:</a:t>
            </a:r>
          </a:p>
        </p:txBody>
      </p:sp>
      <p:sp>
        <p:nvSpPr>
          <p:cNvPr id="32" name="TextBox 32"/>
          <p:cNvSpPr txBox="1"/>
          <p:nvPr/>
        </p:nvSpPr>
        <p:spPr>
          <a:xfrm>
            <a:off x="12635198" y="7020816"/>
            <a:ext cx="1696522" cy="469900"/>
          </a:xfrm>
          <a:prstGeom prst="rect">
            <a:avLst/>
          </a:prstGeom>
        </p:spPr>
        <p:txBody>
          <a:bodyPr lIns="0" tIns="0" rIns="0" bIns="0" rtlCol="0" anchor="t">
            <a:spAutoFit/>
          </a:bodyPr>
          <a:lstStyle/>
          <a:p>
            <a:pPr algn="l">
              <a:lnSpc>
                <a:spcPts val="3499"/>
              </a:lnSpc>
            </a:pPr>
            <a:r>
              <a:rPr lang="en-US" sz="2499" b="1">
                <a:solidFill>
                  <a:srgbClr val="CC0000"/>
                </a:solidFill>
                <a:latin typeface="Times New Roman MT Bold"/>
                <a:ea typeface="Times New Roman MT Bold"/>
                <a:cs typeface="Times New Roman MT Bold"/>
                <a:sym typeface="Times New Roman MT Bold"/>
              </a:rPr>
              <a:t>Illumination:</a:t>
            </a:r>
          </a:p>
        </p:txBody>
      </p:sp>
      <p:sp>
        <p:nvSpPr>
          <p:cNvPr id="33" name="TextBox 33"/>
          <p:cNvSpPr txBox="1"/>
          <p:nvPr/>
        </p:nvSpPr>
        <p:spPr>
          <a:xfrm>
            <a:off x="12635198" y="8414641"/>
            <a:ext cx="681276" cy="469900"/>
          </a:xfrm>
          <a:prstGeom prst="rect">
            <a:avLst/>
          </a:prstGeom>
        </p:spPr>
        <p:txBody>
          <a:bodyPr lIns="0" tIns="0" rIns="0" bIns="0" rtlCol="0" anchor="t">
            <a:spAutoFit/>
          </a:bodyPr>
          <a:lstStyle/>
          <a:p>
            <a:pPr algn="l">
              <a:lnSpc>
                <a:spcPts val="3499"/>
              </a:lnSpc>
            </a:pPr>
            <a:r>
              <a:rPr lang="en-US" sz="2499" b="1">
                <a:solidFill>
                  <a:srgbClr val="CC0000"/>
                </a:solidFill>
                <a:latin typeface="Times New Roman MT Bold"/>
                <a:ea typeface="Times New Roman MT Bold"/>
                <a:cs typeface="Times New Roman MT Bold"/>
                <a:sym typeface="Times New Roman MT Bold"/>
              </a:rPr>
              <a:t>Unit:</a:t>
            </a:r>
          </a:p>
        </p:txBody>
      </p:sp>
      <p:sp>
        <p:nvSpPr>
          <p:cNvPr id="34" name="TextBox 34"/>
          <p:cNvSpPr txBox="1"/>
          <p:nvPr/>
        </p:nvSpPr>
        <p:spPr>
          <a:xfrm>
            <a:off x="15377227" y="8408521"/>
            <a:ext cx="158829" cy="46990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MT"/>
                <a:ea typeface="Times New Roman MT"/>
                <a:cs typeface="Times New Roman MT"/>
                <a:sym typeface="Times New Roman MT"/>
              </a:rPr>
              <a:t>1</a:t>
            </a:r>
          </a:p>
        </p:txBody>
      </p:sp>
      <p:sp>
        <p:nvSpPr>
          <p:cNvPr id="35" name="TextBox 35"/>
          <p:cNvSpPr txBox="1"/>
          <p:nvPr/>
        </p:nvSpPr>
        <p:spPr>
          <a:xfrm>
            <a:off x="15377227" y="7020816"/>
            <a:ext cx="1067991" cy="46990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MT"/>
                <a:ea typeface="Times New Roman MT"/>
                <a:cs typeface="Times New Roman MT"/>
                <a:sym typeface="Times New Roman MT"/>
              </a:rPr>
              <a:t>Frontlit</a:t>
            </a:r>
          </a:p>
        </p:txBody>
      </p:sp>
      <p:sp>
        <p:nvSpPr>
          <p:cNvPr id="36" name="TextBox 36"/>
          <p:cNvSpPr txBox="1"/>
          <p:nvPr/>
        </p:nvSpPr>
        <p:spPr>
          <a:xfrm>
            <a:off x="15377227" y="4233166"/>
            <a:ext cx="793671" cy="469900"/>
          </a:xfrm>
          <a:prstGeom prst="rect">
            <a:avLst/>
          </a:prstGeom>
        </p:spPr>
        <p:txBody>
          <a:bodyPr lIns="0" tIns="0" rIns="0" bIns="0" rtlCol="0" anchor="t">
            <a:spAutoFit/>
          </a:bodyPr>
          <a:lstStyle/>
          <a:p>
            <a:pPr algn="l">
              <a:lnSpc>
                <a:spcPts val="3499"/>
              </a:lnSpc>
            </a:pPr>
            <a:r>
              <a:rPr lang="en-US" sz="2499">
                <a:solidFill>
                  <a:srgbClr val="000000"/>
                </a:solidFill>
                <a:latin typeface="Times New Roman MT"/>
                <a:ea typeface="Times New Roman MT"/>
                <a:cs typeface="Times New Roman MT"/>
                <a:sym typeface="Times New Roman MT"/>
              </a:rPr>
              <a:t>40x30</a:t>
            </a:r>
          </a:p>
        </p:txBody>
      </p:sp>
      <p:sp>
        <p:nvSpPr>
          <p:cNvPr id="37" name="TextBox 37"/>
          <p:cNvSpPr txBox="1"/>
          <p:nvPr/>
        </p:nvSpPr>
        <p:spPr>
          <a:xfrm>
            <a:off x="15377227" y="5626991"/>
            <a:ext cx="1312664" cy="469900"/>
          </a:xfrm>
          <a:prstGeom prst="rect">
            <a:avLst/>
          </a:prstGeom>
        </p:spPr>
        <p:txBody>
          <a:bodyPr lIns="0" tIns="0" rIns="0" bIns="0" rtlCol="0" anchor="t">
            <a:spAutoFit/>
          </a:bodyPr>
          <a:lstStyle/>
          <a:p>
            <a:pPr algn="l">
              <a:lnSpc>
                <a:spcPts val="3499"/>
              </a:lnSpc>
            </a:pPr>
            <a:r>
              <a:rPr lang="en-US" sz="2499" dirty="0">
                <a:solidFill>
                  <a:srgbClr val="000000"/>
                </a:solidFill>
                <a:latin typeface="Times New Roman MT"/>
                <a:ea typeface="Times New Roman MT"/>
                <a:cs typeface="Times New Roman MT"/>
                <a:sym typeface="Times New Roman MT"/>
              </a:rPr>
              <a:t>Hoarding</a:t>
            </a:r>
          </a:p>
        </p:txBody>
      </p:sp>
      <p:sp>
        <p:nvSpPr>
          <p:cNvPr id="38" name="TextBox 38"/>
          <p:cNvSpPr txBox="1"/>
          <p:nvPr/>
        </p:nvSpPr>
        <p:spPr>
          <a:xfrm>
            <a:off x="15377227" y="2842286"/>
            <a:ext cx="1137761" cy="469900"/>
          </a:xfrm>
          <a:prstGeom prst="rect">
            <a:avLst/>
          </a:prstGeom>
        </p:spPr>
        <p:txBody>
          <a:bodyPr lIns="0" tIns="0" rIns="0" bIns="0" rtlCol="0" anchor="t">
            <a:spAutoFit/>
          </a:bodyPr>
          <a:lstStyle/>
          <a:p>
            <a:pPr algn="l">
              <a:lnSpc>
                <a:spcPts val="3499"/>
              </a:lnSpc>
            </a:pPr>
            <a:r>
              <a:rPr lang="en-US" sz="2499" dirty="0">
                <a:solidFill>
                  <a:srgbClr val="000000"/>
                </a:solidFill>
                <a:latin typeface="Times New Roman MT"/>
                <a:ea typeface="Times New Roman MT"/>
                <a:cs typeface="Times New Roman MT"/>
                <a:sym typeface="Times New Roman MT"/>
              </a:rPr>
              <a:t>Chennai</a:t>
            </a:r>
          </a:p>
        </p:txBody>
      </p:sp>
      <p:sp>
        <p:nvSpPr>
          <p:cNvPr id="39" name="TextBox 39"/>
          <p:cNvSpPr txBox="1"/>
          <p:nvPr/>
        </p:nvSpPr>
        <p:spPr>
          <a:xfrm>
            <a:off x="12975836" y="1611727"/>
            <a:ext cx="3837146" cy="581025"/>
          </a:xfrm>
          <a:prstGeom prst="rect">
            <a:avLst/>
          </a:prstGeom>
        </p:spPr>
        <p:txBody>
          <a:bodyPr lIns="0" tIns="0" rIns="0" bIns="0" rtlCol="0" anchor="t">
            <a:spAutoFit/>
          </a:bodyPr>
          <a:lstStyle/>
          <a:p>
            <a:pPr algn="l">
              <a:lnSpc>
                <a:spcPts val="4200"/>
              </a:lnSpc>
            </a:pPr>
            <a:r>
              <a:rPr lang="en-US" sz="3000" b="1" spc="200">
                <a:solidFill>
                  <a:srgbClr val="000000"/>
                </a:solidFill>
                <a:latin typeface="Times New Roman MT Bold"/>
                <a:ea typeface="Times New Roman MT Bold"/>
                <a:cs typeface="Times New Roman MT Bold"/>
                <a:sym typeface="Times New Roman MT Bold"/>
              </a:rPr>
              <a:t>Media Specifications</a:t>
            </a:r>
          </a:p>
        </p:txBody>
      </p:sp>
      <p:sp>
        <p:nvSpPr>
          <p:cNvPr id="40" name="TextBox 40"/>
          <p:cNvSpPr txBox="1"/>
          <p:nvPr/>
        </p:nvSpPr>
        <p:spPr>
          <a:xfrm>
            <a:off x="0" y="721678"/>
            <a:ext cx="18288000" cy="547370"/>
          </a:xfrm>
          <a:prstGeom prst="rect">
            <a:avLst/>
          </a:prstGeom>
        </p:spPr>
        <p:txBody>
          <a:bodyPr lIns="0" tIns="0" rIns="0" bIns="0" rtlCol="0" anchor="t">
            <a:spAutoFit/>
          </a:bodyPr>
          <a:lstStyle/>
          <a:p>
            <a:pPr algn="ctr">
              <a:lnSpc>
                <a:spcPts val="4480"/>
              </a:lnSpc>
              <a:spcBef>
                <a:spcPct val="0"/>
              </a:spcBef>
            </a:pPr>
            <a:r>
              <a:rPr lang="en-US" sz="3200" dirty="0" err="1">
                <a:solidFill>
                  <a:srgbClr val="000000"/>
                </a:solidFill>
                <a:latin typeface="Didot LP"/>
                <a:ea typeface="Didot LP"/>
                <a:cs typeface="Didot LP"/>
                <a:sym typeface="Didot LP"/>
              </a:rPr>
              <a:t>Periyanayakanpalayam</a:t>
            </a:r>
            <a:r>
              <a:rPr lang="en-US" sz="3200" dirty="0">
                <a:solidFill>
                  <a:srgbClr val="000000"/>
                </a:solidFill>
                <a:latin typeface="Didot LP"/>
                <a:ea typeface="Didot LP"/>
                <a:cs typeface="Didot LP"/>
                <a:sym typeface="Didot LP"/>
              </a:rPr>
              <a:t> bridge towards </a:t>
            </a:r>
            <a:r>
              <a:rPr lang="en-US" sz="3200" dirty="0" err="1">
                <a:solidFill>
                  <a:srgbClr val="000000"/>
                </a:solidFill>
                <a:latin typeface="Didot LP"/>
                <a:ea typeface="Didot LP"/>
                <a:cs typeface="Didot LP"/>
                <a:sym typeface="Didot LP"/>
              </a:rPr>
              <a:t>Mettupalayam</a:t>
            </a:r>
            <a:r>
              <a:rPr lang="en-US" sz="3200" dirty="0">
                <a:solidFill>
                  <a:srgbClr val="000000"/>
                </a:solidFill>
                <a:latin typeface="Didot LP"/>
                <a:ea typeface="Didot LP"/>
                <a:cs typeface="Didot LP"/>
                <a:sym typeface="Didot LP"/>
              </a:rPr>
              <a:t> 40x30</a:t>
            </a:r>
          </a:p>
        </p:txBody>
      </p:sp>
      <p:sp>
        <p:nvSpPr>
          <p:cNvPr id="41" name="TextBox 40">
            <a:extLst>
              <a:ext uri="{FF2B5EF4-FFF2-40B4-BE49-F238E27FC236}">
                <a16:creationId xmlns:a16="http://schemas.microsoft.com/office/drawing/2014/main" id="{E0DD7AD6-BFC3-E3DB-2F7C-7C0E48324F20}"/>
              </a:ext>
            </a:extLst>
          </p:cNvPr>
          <p:cNvSpPr txBox="1"/>
          <p:nvPr/>
        </p:nvSpPr>
        <p:spPr>
          <a:xfrm>
            <a:off x="1001829" y="9510236"/>
            <a:ext cx="3874971" cy="738664"/>
          </a:xfrm>
          <a:prstGeom prst="rect">
            <a:avLst/>
          </a:prstGeom>
          <a:noFill/>
        </p:spPr>
        <p:txBody>
          <a:bodyPr wrap="square" rtlCol="0">
            <a:spAutoFit/>
          </a:bodyPr>
          <a:lstStyle/>
          <a:p>
            <a:r>
              <a:rPr lang="en-IN" sz="2400" kern="1200" dirty="0">
                <a:solidFill>
                  <a:srgbClr val="FF0000"/>
                </a:solidFill>
                <a:effectLst/>
                <a:latin typeface="Times New Roman" panose="02020603050405020304" pitchFamily="18" charset="0"/>
                <a:cs typeface="Times New Roman" panose="02020603050405020304" pitchFamily="18" charset="0"/>
              </a:rPr>
              <a:t>Click to View Site Location</a:t>
            </a:r>
            <a:endParaRPr lang="en-IN" sz="2400" dirty="0">
              <a:solidFill>
                <a:srgbClr val="FF0000"/>
              </a:solidFill>
              <a:effectLst/>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0" y="777369"/>
            <a:ext cx="18288000" cy="547370"/>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Didot LP"/>
                <a:ea typeface="Didot LP"/>
                <a:cs typeface="Didot LP"/>
                <a:sym typeface="Didot LP"/>
              </a:rPr>
              <a:t>Periyanayakanpalayam bridge towards Mettupalayam 40x30</a:t>
            </a:r>
          </a:p>
        </p:txBody>
      </p:sp>
      <p:sp>
        <p:nvSpPr>
          <p:cNvPr id="4" name="Freeform 4"/>
          <p:cNvSpPr/>
          <p:nvPr/>
        </p:nvSpPr>
        <p:spPr>
          <a:xfrm flipH="1">
            <a:off x="-1684234" y="7109946"/>
            <a:ext cx="6968721" cy="4616778"/>
          </a:xfrm>
          <a:custGeom>
            <a:avLst/>
            <a:gdLst/>
            <a:ahLst/>
            <a:cxnLst/>
            <a:rect l="l" t="t" r="r" b="b"/>
            <a:pathLst>
              <a:path w="6968721" h="4616778">
                <a:moveTo>
                  <a:pt x="6968721" y="0"/>
                </a:moveTo>
                <a:lnTo>
                  <a:pt x="0" y="0"/>
                </a:lnTo>
                <a:lnTo>
                  <a:pt x="0" y="4616777"/>
                </a:lnTo>
                <a:lnTo>
                  <a:pt x="6968721" y="4616777"/>
                </a:lnTo>
                <a:lnTo>
                  <a:pt x="6968721"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1605227" y="1587800"/>
            <a:ext cx="6508010" cy="7646052"/>
            <a:chOff x="0" y="0"/>
            <a:chExt cx="747505" cy="878219"/>
          </a:xfrm>
        </p:grpSpPr>
        <p:sp>
          <p:nvSpPr>
            <p:cNvPr id="6" name="Freeform 6"/>
            <p:cNvSpPr/>
            <p:nvPr/>
          </p:nvSpPr>
          <p:spPr>
            <a:xfrm>
              <a:off x="0" y="0"/>
              <a:ext cx="747505" cy="878219"/>
            </a:xfrm>
            <a:custGeom>
              <a:avLst/>
              <a:gdLst/>
              <a:ahLst/>
              <a:cxnLst/>
              <a:rect l="l" t="t" r="r" b="b"/>
              <a:pathLst>
                <a:path w="747505" h="878219">
                  <a:moveTo>
                    <a:pt x="0" y="0"/>
                  </a:moveTo>
                  <a:lnTo>
                    <a:pt x="747505" y="0"/>
                  </a:lnTo>
                  <a:lnTo>
                    <a:pt x="747505" y="878219"/>
                  </a:lnTo>
                  <a:lnTo>
                    <a:pt x="0" y="878219"/>
                  </a:lnTo>
                  <a:close/>
                </a:path>
              </a:pathLst>
            </a:custGeom>
            <a:blipFill>
              <a:blip r:embed="rId5"/>
              <a:stretch>
                <a:fillRect l="-21129" r="-21129"/>
              </a:stretch>
            </a:blipFill>
            <a:ln w="38100" cap="sq">
              <a:solidFill>
                <a:srgbClr val="000000"/>
              </a:solidFill>
              <a:prstDash val="solid"/>
              <a:miter/>
            </a:ln>
          </p:spPr>
        </p:sp>
      </p:grpSp>
      <p:grpSp>
        <p:nvGrpSpPr>
          <p:cNvPr id="13" name="Group 13"/>
          <p:cNvGrpSpPr/>
          <p:nvPr/>
        </p:nvGrpSpPr>
        <p:grpSpPr>
          <a:xfrm rot="-10800000">
            <a:off x="6964275" y="9610725"/>
            <a:ext cx="6852228" cy="1542386"/>
            <a:chOff x="0" y="0"/>
            <a:chExt cx="1804702" cy="406225"/>
          </a:xfrm>
        </p:grpSpPr>
        <p:sp>
          <p:nvSpPr>
            <p:cNvPr id="14" name="Freeform 14"/>
            <p:cNvSpPr/>
            <p:nvPr/>
          </p:nvSpPr>
          <p:spPr>
            <a:xfrm>
              <a:off x="0" y="0"/>
              <a:ext cx="1804702" cy="406225"/>
            </a:xfrm>
            <a:custGeom>
              <a:avLst/>
              <a:gdLst/>
              <a:ahLst/>
              <a:cxnLst/>
              <a:rect l="l" t="t" r="r" b="b"/>
              <a:pathLst>
                <a:path w="1804702" h="406225">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id="15" name="TextBox 15"/>
            <p:cNvSpPr txBox="1"/>
            <p:nvPr/>
          </p:nvSpPr>
          <p:spPr>
            <a:xfrm>
              <a:off x="0" y="-66675"/>
              <a:ext cx="1690402" cy="472900"/>
            </a:xfrm>
            <a:prstGeom prst="rect">
              <a:avLst/>
            </a:prstGeom>
          </p:spPr>
          <p:txBody>
            <a:bodyPr lIns="50800" tIns="50800" rIns="50800" bIns="50800" rtlCol="0" anchor="ctr"/>
            <a:lstStyle/>
            <a:p>
              <a:pPr algn="ctr">
                <a:lnSpc>
                  <a:spcPts val="3354"/>
                </a:lnSpc>
              </a:pPr>
              <a:endParaRPr/>
            </a:p>
          </p:txBody>
        </p:sp>
      </p:grpSp>
      <p:grpSp>
        <p:nvGrpSpPr>
          <p:cNvPr id="16" name="Group 16"/>
          <p:cNvGrpSpPr/>
          <p:nvPr/>
        </p:nvGrpSpPr>
        <p:grpSpPr>
          <a:xfrm rot="-10800000">
            <a:off x="12121058" y="9610725"/>
            <a:ext cx="6219700" cy="1542386"/>
            <a:chOff x="0" y="0"/>
            <a:chExt cx="1638110" cy="406225"/>
          </a:xfrm>
        </p:grpSpPr>
        <p:sp>
          <p:nvSpPr>
            <p:cNvPr id="17" name="Freeform 17"/>
            <p:cNvSpPr/>
            <p:nvPr/>
          </p:nvSpPr>
          <p:spPr>
            <a:xfrm>
              <a:off x="0" y="0"/>
              <a:ext cx="1638110" cy="406225"/>
            </a:xfrm>
            <a:custGeom>
              <a:avLst/>
              <a:gdLst/>
              <a:ahLst/>
              <a:cxnLst/>
              <a:rect l="l" t="t" r="r" b="b"/>
              <a:pathLst>
                <a:path w="1638110" h="406225">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id="18" name="TextBox 18"/>
            <p:cNvSpPr txBox="1"/>
            <p:nvPr/>
          </p:nvSpPr>
          <p:spPr>
            <a:xfrm>
              <a:off x="0" y="-66675"/>
              <a:ext cx="1523810" cy="472900"/>
            </a:xfrm>
            <a:prstGeom prst="rect">
              <a:avLst/>
            </a:prstGeom>
          </p:spPr>
          <p:txBody>
            <a:bodyPr lIns="50800" tIns="50800" rIns="50800" bIns="50800" rtlCol="0" anchor="ctr"/>
            <a:lstStyle/>
            <a:p>
              <a:pPr algn="ctr">
                <a:lnSpc>
                  <a:spcPts val="3354"/>
                </a:lnSpc>
              </a:pPr>
              <a:endParaRPr/>
            </a:p>
          </p:txBody>
        </p:sp>
      </p:grpSp>
      <p:sp>
        <p:nvSpPr>
          <p:cNvPr id="19" name="Freeform 19"/>
          <p:cNvSpPr/>
          <p:nvPr/>
        </p:nvSpPr>
        <p:spPr>
          <a:xfrm>
            <a:off x="10782944" y="-365474"/>
            <a:ext cx="9205005" cy="1254182"/>
          </a:xfrm>
          <a:custGeom>
            <a:avLst/>
            <a:gdLst/>
            <a:ahLst/>
            <a:cxnLst/>
            <a:rect l="l" t="t" r="r" b="b"/>
            <a:pathLst>
              <a:path w="9205005" h="1254182">
                <a:moveTo>
                  <a:pt x="0" y="0"/>
                </a:moveTo>
                <a:lnTo>
                  <a:pt x="9205005" y="0"/>
                </a:lnTo>
                <a:lnTo>
                  <a:pt x="9205005" y="1254182"/>
                </a:lnTo>
                <a:lnTo>
                  <a:pt x="0" y="1254182"/>
                </a:lnTo>
                <a:lnTo>
                  <a:pt x="0" y="0"/>
                </a:lnTo>
                <a:close/>
              </a:path>
            </a:pathLst>
          </a:custGeom>
          <a:blipFill>
            <a:blip r:embed="rId6">
              <a:alphaModFix amt="58000"/>
            </a:blip>
            <a:stretch>
              <a:fillRect/>
            </a:stretch>
          </a:blipFill>
        </p:spPr>
      </p:sp>
      <p:grpSp>
        <p:nvGrpSpPr>
          <p:cNvPr id="20" name="Group 20"/>
          <p:cNvGrpSpPr/>
          <p:nvPr/>
        </p:nvGrpSpPr>
        <p:grpSpPr>
          <a:xfrm rot="-10800000">
            <a:off x="11605227" y="-580983"/>
            <a:ext cx="4056912" cy="1035961"/>
            <a:chOff x="0" y="0"/>
            <a:chExt cx="1804702" cy="460843"/>
          </a:xfrm>
        </p:grpSpPr>
        <p:sp>
          <p:nvSpPr>
            <p:cNvPr id="21" name="Freeform 21"/>
            <p:cNvSpPr/>
            <p:nvPr/>
          </p:nvSpPr>
          <p:spPr>
            <a:xfrm>
              <a:off x="0" y="0"/>
              <a:ext cx="1804702" cy="460843"/>
            </a:xfrm>
            <a:custGeom>
              <a:avLst/>
              <a:gdLst/>
              <a:ahLst/>
              <a:cxnLst/>
              <a:rect l="l" t="t" r="r" b="b"/>
              <a:pathLst>
                <a:path w="1804702" h="460843">
                  <a:moveTo>
                    <a:pt x="1601502" y="0"/>
                  </a:moveTo>
                  <a:lnTo>
                    <a:pt x="0" y="0"/>
                  </a:lnTo>
                  <a:lnTo>
                    <a:pt x="0" y="460843"/>
                  </a:lnTo>
                  <a:lnTo>
                    <a:pt x="1601502" y="460843"/>
                  </a:lnTo>
                  <a:lnTo>
                    <a:pt x="1804702" y="230422"/>
                  </a:lnTo>
                  <a:lnTo>
                    <a:pt x="1601502" y="0"/>
                  </a:lnTo>
                  <a:close/>
                </a:path>
              </a:pathLst>
            </a:custGeom>
            <a:solidFill>
              <a:srgbClr val="C2221E"/>
            </a:solidFill>
          </p:spPr>
        </p:sp>
        <p:sp>
          <p:nvSpPr>
            <p:cNvPr id="22" name="TextBox 22"/>
            <p:cNvSpPr txBox="1"/>
            <p:nvPr/>
          </p:nvSpPr>
          <p:spPr>
            <a:xfrm>
              <a:off x="0" y="-66675"/>
              <a:ext cx="1690402" cy="527518"/>
            </a:xfrm>
            <a:prstGeom prst="rect">
              <a:avLst/>
            </a:prstGeom>
          </p:spPr>
          <p:txBody>
            <a:bodyPr lIns="50800" tIns="50800" rIns="50800" bIns="50800" rtlCol="0" anchor="ctr"/>
            <a:lstStyle/>
            <a:p>
              <a:pPr algn="ctr">
                <a:lnSpc>
                  <a:spcPts val="3354"/>
                </a:lnSpc>
              </a:pPr>
              <a:endParaRPr/>
            </a:p>
          </p:txBody>
        </p:sp>
      </p:grpSp>
      <p:grpSp>
        <p:nvGrpSpPr>
          <p:cNvPr id="23" name="Group 23"/>
          <p:cNvGrpSpPr/>
          <p:nvPr/>
        </p:nvGrpSpPr>
        <p:grpSpPr>
          <a:xfrm rot="-10800000">
            <a:off x="14658339" y="-580983"/>
            <a:ext cx="3682419" cy="1035961"/>
            <a:chOff x="0" y="0"/>
            <a:chExt cx="1638110" cy="460843"/>
          </a:xfrm>
        </p:grpSpPr>
        <p:sp>
          <p:nvSpPr>
            <p:cNvPr id="24" name="Freeform 24"/>
            <p:cNvSpPr/>
            <p:nvPr/>
          </p:nvSpPr>
          <p:spPr>
            <a:xfrm>
              <a:off x="0" y="0"/>
              <a:ext cx="1638110" cy="460843"/>
            </a:xfrm>
            <a:custGeom>
              <a:avLst/>
              <a:gdLst/>
              <a:ahLst/>
              <a:cxnLst/>
              <a:rect l="l" t="t" r="r" b="b"/>
              <a:pathLst>
                <a:path w="1638110" h="460843">
                  <a:moveTo>
                    <a:pt x="1434910" y="0"/>
                  </a:moveTo>
                  <a:lnTo>
                    <a:pt x="0" y="0"/>
                  </a:lnTo>
                  <a:lnTo>
                    <a:pt x="0" y="460843"/>
                  </a:lnTo>
                  <a:lnTo>
                    <a:pt x="1434910" y="460843"/>
                  </a:lnTo>
                  <a:lnTo>
                    <a:pt x="1638110" y="230422"/>
                  </a:lnTo>
                  <a:lnTo>
                    <a:pt x="1434910" y="0"/>
                  </a:lnTo>
                  <a:close/>
                </a:path>
              </a:pathLst>
            </a:custGeom>
            <a:solidFill>
              <a:srgbClr val="A60404"/>
            </a:solidFill>
          </p:spPr>
        </p:sp>
        <p:sp>
          <p:nvSpPr>
            <p:cNvPr id="25" name="TextBox 25"/>
            <p:cNvSpPr txBox="1"/>
            <p:nvPr/>
          </p:nvSpPr>
          <p:spPr>
            <a:xfrm>
              <a:off x="0" y="-66675"/>
              <a:ext cx="1523810" cy="527518"/>
            </a:xfrm>
            <a:prstGeom prst="rect">
              <a:avLst/>
            </a:prstGeom>
          </p:spPr>
          <p:txBody>
            <a:bodyPr lIns="50800" tIns="50800" rIns="50800" bIns="50800" rtlCol="0" anchor="ctr"/>
            <a:lstStyle/>
            <a:p>
              <a:pPr algn="ctr">
                <a:lnSpc>
                  <a:spcPts val="3354"/>
                </a:lnSpc>
              </a:pPr>
              <a:endParaRPr/>
            </a:p>
          </p:txBody>
        </p:sp>
      </p:grpSp>
      <p:sp>
        <p:nvSpPr>
          <p:cNvPr id="26" name="Freeform 26"/>
          <p:cNvSpPr/>
          <p:nvPr/>
        </p:nvSpPr>
        <p:spPr>
          <a:xfrm rot="2700000">
            <a:off x="-1694626" y="5485958"/>
            <a:ext cx="5446652" cy="742106"/>
          </a:xfrm>
          <a:custGeom>
            <a:avLst/>
            <a:gdLst/>
            <a:ahLst/>
            <a:cxnLst/>
            <a:rect l="l" t="t" r="r" b="b"/>
            <a:pathLst>
              <a:path w="5446652" h="742106">
                <a:moveTo>
                  <a:pt x="0" y="0"/>
                </a:moveTo>
                <a:lnTo>
                  <a:pt x="5446652" y="0"/>
                </a:lnTo>
                <a:lnTo>
                  <a:pt x="5446652" y="742107"/>
                </a:lnTo>
                <a:lnTo>
                  <a:pt x="0" y="742107"/>
                </a:lnTo>
                <a:lnTo>
                  <a:pt x="0" y="0"/>
                </a:lnTo>
                <a:close/>
              </a:path>
            </a:pathLst>
          </a:custGeom>
          <a:blipFill>
            <a:blip r:embed="rId6">
              <a:alphaModFix amt="58000"/>
            </a:blip>
            <a:stretch>
              <a:fillRect/>
            </a:stretch>
          </a:blipFill>
        </p:spPr>
      </p:sp>
      <p:sp>
        <p:nvSpPr>
          <p:cNvPr id="27" name="Freeform 27"/>
          <p:cNvSpPr/>
          <p:nvPr/>
        </p:nvSpPr>
        <p:spPr>
          <a:xfrm rot="2700000">
            <a:off x="-3111138" y="2514554"/>
            <a:ext cx="7047814" cy="960265"/>
          </a:xfrm>
          <a:custGeom>
            <a:avLst/>
            <a:gdLst/>
            <a:ahLst/>
            <a:cxnLst/>
            <a:rect l="l" t="t" r="r" b="b"/>
            <a:pathLst>
              <a:path w="7047814" h="960265">
                <a:moveTo>
                  <a:pt x="0" y="0"/>
                </a:moveTo>
                <a:lnTo>
                  <a:pt x="7047814" y="0"/>
                </a:lnTo>
                <a:lnTo>
                  <a:pt x="7047814" y="960264"/>
                </a:lnTo>
                <a:lnTo>
                  <a:pt x="0" y="960264"/>
                </a:lnTo>
                <a:lnTo>
                  <a:pt x="0" y="0"/>
                </a:lnTo>
                <a:close/>
              </a:path>
            </a:pathLst>
          </a:custGeom>
          <a:blipFill>
            <a:blip r:embed="rId6">
              <a:alphaModFix amt="58000"/>
            </a:blip>
            <a:stretch>
              <a:fillRect/>
            </a:stretch>
          </a:blipFill>
        </p:spPr>
      </p:sp>
      <p:grpSp>
        <p:nvGrpSpPr>
          <p:cNvPr id="28" name="Group 28"/>
          <p:cNvGrpSpPr/>
          <p:nvPr/>
        </p:nvGrpSpPr>
        <p:grpSpPr>
          <a:xfrm rot="8100000">
            <a:off x="9882" y="-713534"/>
            <a:ext cx="1489966" cy="6332908"/>
            <a:chOff x="0" y="0"/>
            <a:chExt cx="392419" cy="1667926"/>
          </a:xfrm>
        </p:grpSpPr>
        <p:sp>
          <p:nvSpPr>
            <p:cNvPr id="29" name="Freeform 29"/>
            <p:cNvSpPr/>
            <p:nvPr/>
          </p:nvSpPr>
          <p:spPr>
            <a:xfrm>
              <a:off x="0" y="0"/>
              <a:ext cx="392419" cy="1667926"/>
            </a:xfrm>
            <a:custGeom>
              <a:avLst/>
              <a:gdLst/>
              <a:ahLst/>
              <a:cxnLst/>
              <a:rect l="l" t="t" r="r" b="b"/>
              <a:pathLst>
                <a:path w="392419" h="1667926">
                  <a:moveTo>
                    <a:pt x="0" y="0"/>
                  </a:moveTo>
                  <a:lnTo>
                    <a:pt x="392419" y="0"/>
                  </a:lnTo>
                  <a:lnTo>
                    <a:pt x="392419" y="1667926"/>
                  </a:lnTo>
                  <a:lnTo>
                    <a:pt x="0" y="1667926"/>
                  </a:lnTo>
                  <a:close/>
                </a:path>
              </a:pathLst>
            </a:custGeom>
            <a:solidFill>
              <a:srgbClr val="C2221E"/>
            </a:solidFill>
          </p:spPr>
        </p:sp>
        <p:sp>
          <p:nvSpPr>
            <p:cNvPr id="30" name="TextBox 30"/>
            <p:cNvSpPr txBox="1"/>
            <p:nvPr/>
          </p:nvSpPr>
          <p:spPr>
            <a:xfrm>
              <a:off x="0" y="-66675"/>
              <a:ext cx="392419" cy="1734601"/>
            </a:xfrm>
            <a:prstGeom prst="rect">
              <a:avLst/>
            </a:prstGeom>
          </p:spPr>
          <p:txBody>
            <a:bodyPr lIns="50800" tIns="50800" rIns="50800" bIns="50800" rtlCol="0" anchor="ctr"/>
            <a:lstStyle/>
            <a:p>
              <a:pPr algn="ctr">
                <a:lnSpc>
                  <a:spcPts val="3354"/>
                </a:lnSpc>
              </a:pPr>
              <a:endParaRPr/>
            </a:p>
          </p:txBody>
        </p:sp>
      </p:grpSp>
      <p:grpSp>
        <p:nvGrpSpPr>
          <p:cNvPr id="31" name="Group 31"/>
          <p:cNvGrpSpPr/>
          <p:nvPr/>
        </p:nvGrpSpPr>
        <p:grpSpPr>
          <a:xfrm rot="8100000">
            <a:off x="739329" y="2667185"/>
            <a:ext cx="1345714" cy="5485156"/>
            <a:chOff x="0" y="0"/>
            <a:chExt cx="458618" cy="1869336"/>
          </a:xfrm>
        </p:grpSpPr>
        <p:sp>
          <p:nvSpPr>
            <p:cNvPr id="32" name="Freeform 32"/>
            <p:cNvSpPr/>
            <p:nvPr/>
          </p:nvSpPr>
          <p:spPr>
            <a:xfrm>
              <a:off x="0" y="0"/>
              <a:ext cx="458618" cy="1869336"/>
            </a:xfrm>
            <a:custGeom>
              <a:avLst/>
              <a:gdLst/>
              <a:ahLst/>
              <a:cxnLst/>
              <a:rect l="l" t="t" r="r" b="b"/>
              <a:pathLst>
                <a:path w="458618" h="1869336">
                  <a:moveTo>
                    <a:pt x="0" y="0"/>
                  </a:moveTo>
                  <a:lnTo>
                    <a:pt x="458618" y="0"/>
                  </a:lnTo>
                  <a:lnTo>
                    <a:pt x="458618" y="1869336"/>
                  </a:lnTo>
                  <a:lnTo>
                    <a:pt x="0" y="1869336"/>
                  </a:lnTo>
                  <a:close/>
                </a:path>
              </a:pathLst>
            </a:custGeom>
            <a:solidFill>
              <a:srgbClr val="C2221E"/>
            </a:solidFill>
          </p:spPr>
        </p:sp>
        <p:sp>
          <p:nvSpPr>
            <p:cNvPr id="33" name="TextBox 33"/>
            <p:cNvSpPr txBox="1"/>
            <p:nvPr/>
          </p:nvSpPr>
          <p:spPr>
            <a:xfrm>
              <a:off x="0" y="-66675"/>
              <a:ext cx="458618" cy="1936011"/>
            </a:xfrm>
            <a:prstGeom prst="rect">
              <a:avLst/>
            </a:prstGeom>
          </p:spPr>
          <p:txBody>
            <a:bodyPr lIns="50800" tIns="50800" rIns="50800" bIns="50800" rtlCol="0" anchor="ctr"/>
            <a:lstStyle/>
            <a:p>
              <a:pPr algn="ctr">
                <a:lnSpc>
                  <a:spcPts val="3354"/>
                </a:lnSpc>
              </a:pPr>
              <a:endParaRPr/>
            </a:p>
          </p:txBody>
        </p:sp>
      </p:grpSp>
      <p:grpSp>
        <p:nvGrpSpPr>
          <p:cNvPr id="34" name="Group 34"/>
          <p:cNvGrpSpPr/>
          <p:nvPr/>
        </p:nvGrpSpPr>
        <p:grpSpPr>
          <a:xfrm>
            <a:off x="878690" y="1587800"/>
            <a:ext cx="10484172" cy="7646052"/>
            <a:chOff x="0" y="0"/>
            <a:chExt cx="1204203" cy="878219"/>
          </a:xfrm>
        </p:grpSpPr>
        <p:sp>
          <p:nvSpPr>
            <p:cNvPr id="35" name="Freeform 35"/>
            <p:cNvSpPr/>
            <p:nvPr/>
          </p:nvSpPr>
          <p:spPr>
            <a:xfrm>
              <a:off x="0" y="0"/>
              <a:ext cx="1204203" cy="878219"/>
            </a:xfrm>
            <a:custGeom>
              <a:avLst/>
              <a:gdLst/>
              <a:ahLst/>
              <a:cxnLst/>
              <a:rect l="l" t="t" r="r" b="b"/>
              <a:pathLst>
                <a:path w="1204203" h="878219">
                  <a:moveTo>
                    <a:pt x="0" y="0"/>
                  </a:moveTo>
                  <a:lnTo>
                    <a:pt x="1204203" y="0"/>
                  </a:lnTo>
                  <a:lnTo>
                    <a:pt x="1204203" y="878219"/>
                  </a:lnTo>
                  <a:lnTo>
                    <a:pt x="0" y="878219"/>
                  </a:lnTo>
                  <a:close/>
                </a:path>
              </a:pathLst>
            </a:custGeom>
            <a:blipFill>
              <a:blip r:embed="rId7"/>
              <a:stretch>
                <a:fillRect l="-6480" r="-6480"/>
              </a:stretch>
            </a:blipFill>
            <a:ln w="38100" cap="sq">
              <a:solidFill>
                <a:srgbClr val="000000"/>
              </a:solidFill>
              <a:prstDash val="solid"/>
              <a:miter/>
            </a:ln>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rot="-1780216">
            <a:off x="16950682" y="5766170"/>
            <a:ext cx="2412654" cy="2639798"/>
            <a:chOff x="0" y="0"/>
            <a:chExt cx="745158" cy="815350"/>
          </a:xfrm>
        </p:grpSpPr>
        <p:sp>
          <p:nvSpPr>
            <p:cNvPr id="4" name="Freeform 4"/>
            <p:cNvSpPr/>
            <p:nvPr/>
          </p:nvSpPr>
          <p:spPr>
            <a:xfrm>
              <a:off x="0" y="2115"/>
              <a:ext cx="745158" cy="809837"/>
            </a:xfrm>
            <a:custGeom>
              <a:avLst/>
              <a:gdLst/>
              <a:ahLst/>
              <a:cxnLst/>
              <a:rect l="l" t="t" r="r" b="b"/>
              <a:pathLst>
                <a:path w="745158" h="809837">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id="5" name="TextBox 5"/>
            <p:cNvSpPr txBox="1"/>
            <p:nvPr/>
          </p:nvSpPr>
          <p:spPr>
            <a:xfrm>
              <a:off x="99976" y="111041"/>
              <a:ext cx="545206" cy="55392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780216">
            <a:off x="-1030509" y="2278197"/>
            <a:ext cx="2412654" cy="2639798"/>
            <a:chOff x="0" y="0"/>
            <a:chExt cx="745158" cy="815350"/>
          </a:xfrm>
        </p:grpSpPr>
        <p:sp>
          <p:nvSpPr>
            <p:cNvPr id="7" name="Freeform 7"/>
            <p:cNvSpPr/>
            <p:nvPr/>
          </p:nvSpPr>
          <p:spPr>
            <a:xfrm>
              <a:off x="0" y="2115"/>
              <a:ext cx="745158" cy="809837"/>
            </a:xfrm>
            <a:custGeom>
              <a:avLst/>
              <a:gdLst/>
              <a:ahLst/>
              <a:cxnLst/>
              <a:rect l="l" t="t" r="r" b="b"/>
              <a:pathLst>
                <a:path w="745158" h="809837">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id="8" name="TextBox 8"/>
            <p:cNvSpPr txBox="1"/>
            <p:nvPr/>
          </p:nvSpPr>
          <p:spPr>
            <a:xfrm>
              <a:off x="99976" y="111041"/>
              <a:ext cx="545206" cy="553926"/>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6477751" y="9472910"/>
            <a:ext cx="1211283" cy="662902"/>
          </a:xfrm>
          <a:custGeom>
            <a:avLst/>
            <a:gdLst/>
            <a:ahLst/>
            <a:cxnLst/>
            <a:rect l="l" t="t" r="r" b="b"/>
            <a:pathLst>
              <a:path w="1211283" h="662902">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
        <p:nvSpPr>
          <p:cNvPr id="10" name="Freeform 10"/>
          <p:cNvSpPr/>
          <p:nvPr/>
        </p:nvSpPr>
        <p:spPr>
          <a:xfrm>
            <a:off x="10999586" y="123527"/>
            <a:ext cx="1211283" cy="662902"/>
          </a:xfrm>
          <a:custGeom>
            <a:avLst/>
            <a:gdLst/>
            <a:ahLst/>
            <a:cxnLst/>
            <a:rect l="l" t="t" r="r" b="b"/>
            <a:pathLst>
              <a:path w="1211283" h="662902">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6253981" y="4128274"/>
            <a:ext cx="6861144" cy="1793239"/>
          </a:xfrm>
          <a:prstGeom prst="rect">
            <a:avLst/>
          </a:prstGeom>
        </p:spPr>
        <p:txBody>
          <a:bodyPr lIns="0" tIns="0" rIns="0" bIns="0" rtlCol="0" anchor="t">
            <a:spAutoFit/>
          </a:bodyPr>
          <a:lstStyle/>
          <a:p>
            <a:pPr algn="ctr">
              <a:lnSpc>
                <a:spcPts val="14560"/>
              </a:lnSpc>
              <a:spcBef>
                <a:spcPct val="0"/>
              </a:spcBef>
            </a:pPr>
            <a:r>
              <a:rPr lang="en-US" sz="10400">
                <a:solidFill>
                  <a:srgbClr val="000000"/>
                </a:solidFill>
                <a:latin typeface="Didot LP"/>
                <a:ea typeface="Didot LP"/>
                <a:cs typeface="Didot LP"/>
                <a:sym typeface="Didot LP"/>
              </a:rPr>
              <a:t>Thank You</a:t>
            </a:r>
            <a:r>
              <a:rPr lang="en-US" sz="10400">
                <a:solidFill>
                  <a:srgbClr val="CC0000"/>
                </a:solidFill>
                <a:latin typeface="Didot LP"/>
                <a:ea typeface="Didot LP"/>
                <a:cs typeface="Didot LP"/>
                <a:sym typeface="Didot LP"/>
              </a:rPr>
              <a:t>!</a:t>
            </a:r>
          </a:p>
        </p:txBody>
      </p:sp>
      <p:sp>
        <p:nvSpPr>
          <p:cNvPr id="12" name="TextBox 12"/>
          <p:cNvSpPr txBox="1"/>
          <p:nvPr/>
        </p:nvSpPr>
        <p:spPr>
          <a:xfrm>
            <a:off x="960120" y="8386499"/>
            <a:ext cx="1677948" cy="382270"/>
          </a:xfrm>
          <a:prstGeom prst="rect">
            <a:avLst/>
          </a:prstGeom>
        </p:spPr>
        <p:txBody>
          <a:bodyPr lIns="0" tIns="0" rIns="0" bIns="0" rtlCol="0" anchor="t">
            <a:spAutoFit/>
          </a:bodyPr>
          <a:lstStyle/>
          <a:p>
            <a:pPr algn="ctr">
              <a:lnSpc>
                <a:spcPts val="3079"/>
              </a:lnSpc>
              <a:spcBef>
                <a:spcPct val="0"/>
              </a:spcBef>
            </a:pPr>
            <a:r>
              <a:rPr lang="en-US" sz="2199" u="sng">
                <a:solidFill>
                  <a:srgbClr val="000000"/>
                </a:solidFill>
                <a:latin typeface="Didot LP"/>
                <a:ea typeface="Didot LP"/>
                <a:cs typeface="Didot LP"/>
                <a:sym typeface="Didot LP"/>
              </a:rPr>
              <a:t>With Regards </a:t>
            </a:r>
          </a:p>
        </p:txBody>
      </p:sp>
      <p:sp>
        <p:nvSpPr>
          <p:cNvPr id="13" name="TextBox 13"/>
          <p:cNvSpPr txBox="1"/>
          <p:nvPr/>
        </p:nvSpPr>
        <p:spPr>
          <a:xfrm>
            <a:off x="960120" y="8984728"/>
            <a:ext cx="3179088" cy="382270"/>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Didot LP"/>
                <a:ea typeface="Didot LP"/>
                <a:cs typeface="Didot LP"/>
                <a:sym typeface="Didot LP"/>
              </a:rPr>
              <a:t>Adinn Outdoor Advertising</a:t>
            </a:r>
          </a:p>
        </p:txBody>
      </p:sp>
      <p:sp>
        <p:nvSpPr>
          <p:cNvPr id="14" name="Freeform 14"/>
          <p:cNvSpPr/>
          <p:nvPr/>
        </p:nvSpPr>
        <p:spPr>
          <a:xfrm>
            <a:off x="10024975" y="1854109"/>
            <a:ext cx="3608708" cy="608969"/>
          </a:xfrm>
          <a:custGeom>
            <a:avLst/>
            <a:gdLst/>
            <a:ahLst/>
            <a:cxnLst/>
            <a:rect l="l" t="t" r="r" b="b"/>
            <a:pathLst>
              <a:path w="3608708" h="608969">
                <a:moveTo>
                  <a:pt x="0" y="0"/>
                </a:moveTo>
                <a:lnTo>
                  <a:pt x="3608708" y="0"/>
                </a:lnTo>
                <a:lnTo>
                  <a:pt x="3608708" y="608969"/>
                </a:lnTo>
                <a:lnTo>
                  <a:pt x="0" y="6089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1342183" y="9521866"/>
            <a:ext cx="4188538" cy="382370"/>
          </a:xfrm>
          <a:prstGeom prst="rect">
            <a:avLst/>
          </a:prstGeom>
        </p:spPr>
        <p:txBody>
          <a:bodyPr lIns="0" tIns="0" rIns="0" bIns="0" rtlCol="0" anchor="t">
            <a:spAutoFit/>
          </a:bodyPr>
          <a:lstStyle/>
          <a:p>
            <a:pPr algn="l">
              <a:lnSpc>
                <a:spcPts val="3074"/>
              </a:lnSpc>
            </a:pPr>
            <a:r>
              <a:rPr lang="en-US" sz="2196" b="1" u="sng">
                <a:solidFill>
                  <a:srgbClr val="5170FF"/>
                </a:solidFill>
                <a:latin typeface="Public Sans Bold"/>
                <a:ea typeface="Public Sans Bold"/>
                <a:cs typeface="Public Sans Bold"/>
                <a:sym typeface="Public Sans Bold"/>
                <a:hlinkClick r:id="rId7" tooltip="https://adinnoutdoors.com"/>
              </a:rPr>
              <a:t>www.adinnoutdoors.com</a:t>
            </a:r>
          </a:p>
        </p:txBody>
      </p:sp>
      <p:sp>
        <p:nvSpPr>
          <p:cNvPr id="16" name="Freeform 16"/>
          <p:cNvSpPr/>
          <p:nvPr/>
        </p:nvSpPr>
        <p:spPr>
          <a:xfrm>
            <a:off x="885807" y="9554382"/>
            <a:ext cx="400086" cy="393539"/>
          </a:xfrm>
          <a:custGeom>
            <a:avLst/>
            <a:gdLst/>
            <a:ahLst/>
            <a:cxnLst/>
            <a:rect l="l" t="t" r="r" b="b"/>
            <a:pathLst>
              <a:path w="400086" h="393539">
                <a:moveTo>
                  <a:pt x="0" y="0"/>
                </a:moveTo>
                <a:lnTo>
                  <a:pt x="400086" y="0"/>
                </a:lnTo>
                <a:lnTo>
                  <a:pt x="400086" y="393539"/>
                </a:lnTo>
                <a:lnTo>
                  <a:pt x="0" y="39353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Freeform 17"/>
          <p:cNvSpPr/>
          <p:nvPr/>
        </p:nvSpPr>
        <p:spPr>
          <a:xfrm>
            <a:off x="4977808" y="4533437"/>
            <a:ext cx="1220125" cy="1220125"/>
          </a:xfrm>
          <a:custGeom>
            <a:avLst/>
            <a:gdLst/>
            <a:ahLst/>
            <a:cxnLst/>
            <a:rect l="l" t="t" r="r" b="b"/>
            <a:pathLst>
              <a:path w="1220125" h="1220125">
                <a:moveTo>
                  <a:pt x="0" y="0"/>
                </a:moveTo>
                <a:lnTo>
                  <a:pt x="1220126" y="0"/>
                </a:lnTo>
                <a:lnTo>
                  <a:pt x="1220126" y="1220126"/>
                </a:lnTo>
                <a:lnTo>
                  <a:pt x="0" y="1220126"/>
                </a:lnTo>
                <a:lnTo>
                  <a:pt x="0" y="0"/>
                </a:lnTo>
                <a:close/>
              </a:path>
            </a:pathLst>
          </a:custGeom>
          <a:blipFill>
            <a:blip r:embed="rId10">
              <a:alphaModFix amt="70000"/>
              <a:extLst>
                <a:ext uri="{96DAC541-7B7A-43D3-8B79-37D633B846F1}">
                  <asvg:svgBlip xmlns:asvg="http://schemas.microsoft.com/office/drawing/2016/SVG/main" r:embed="rId11"/>
                </a:ext>
              </a:extLst>
            </a:blip>
            <a:stretch>
              <a:fillRect/>
            </a:stretch>
          </a:blipFill>
        </p:spPr>
      </p:sp>
      <p:sp>
        <p:nvSpPr>
          <p:cNvPr id="18" name="TextBox 18"/>
          <p:cNvSpPr txBox="1"/>
          <p:nvPr/>
        </p:nvSpPr>
        <p:spPr>
          <a:xfrm>
            <a:off x="642408" y="684530"/>
            <a:ext cx="6321867" cy="1893571"/>
          </a:xfrm>
          <a:prstGeom prst="rect">
            <a:avLst/>
          </a:prstGeom>
        </p:spPr>
        <p:txBody>
          <a:bodyPr lIns="0" tIns="0" rIns="0" bIns="0" rtlCol="0" anchor="t">
            <a:spAutoFit/>
          </a:bodyPr>
          <a:lstStyle/>
          <a:p>
            <a:pPr algn="l">
              <a:lnSpc>
                <a:spcPts val="3779"/>
              </a:lnSpc>
            </a:pPr>
            <a:r>
              <a:rPr lang="en-US" sz="2699">
                <a:solidFill>
                  <a:srgbClr val="000000"/>
                </a:solidFill>
                <a:latin typeface="Didot LP"/>
                <a:ea typeface="Didot LP"/>
                <a:cs typeface="Didot LP"/>
                <a:sym typeface="Didot LP"/>
              </a:rPr>
              <a:t>Our team is dedicated to providing the best</a:t>
            </a:r>
          </a:p>
          <a:p>
            <a:pPr algn="l">
              <a:lnSpc>
                <a:spcPts val="3779"/>
              </a:lnSpc>
            </a:pPr>
            <a:r>
              <a:rPr lang="en-US" sz="2699">
                <a:solidFill>
                  <a:srgbClr val="000000"/>
                </a:solidFill>
                <a:latin typeface="Didot LP"/>
                <a:ea typeface="Didot LP"/>
                <a:cs typeface="Didot LP"/>
                <a:sym typeface="Didot LP"/>
              </a:rPr>
              <a:t>A swift response will help us ensure timely campaign execution.</a:t>
            </a:r>
          </a:p>
          <a:p>
            <a:pPr algn="l">
              <a:lnSpc>
                <a:spcPts val="3779"/>
              </a:lnSpc>
              <a:spcBef>
                <a:spcPct val="0"/>
              </a:spcBef>
            </a:pPr>
            <a:r>
              <a:rPr lang="en-US" sz="2699">
                <a:solidFill>
                  <a:srgbClr val="000000"/>
                </a:solidFill>
                <a:latin typeface="Didot LP"/>
                <a:ea typeface="Didot LP"/>
                <a:cs typeface="Didot LP"/>
                <a:sym typeface="Didot LP"/>
              </a:rPr>
              <a:t>Awaiting Your Approval...</a:t>
            </a:r>
          </a:p>
        </p:txBody>
      </p:sp>
      <p:grpSp>
        <p:nvGrpSpPr>
          <p:cNvPr id="19" name="Group 19"/>
          <p:cNvGrpSpPr/>
          <p:nvPr/>
        </p:nvGrpSpPr>
        <p:grpSpPr>
          <a:xfrm rot="-10800000">
            <a:off x="6964275" y="9610725"/>
            <a:ext cx="6852228" cy="1542386"/>
            <a:chOff x="0" y="0"/>
            <a:chExt cx="1804702" cy="406225"/>
          </a:xfrm>
        </p:grpSpPr>
        <p:sp>
          <p:nvSpPr>
            <p:cNvPr id="20" name="Freeform 20"/>
            <p:cNvSpPr/>
            <p:nvPr/>
          </p:nvSpPr>
          <p:spPr>
            <a:xfrm>
              <a:off x="0" y="0"/>
              <a:ext cx="1804702" cy="406225"/>
            </a:xfrm>
            <a:custGeom>
              <a:avLst/>
              <a:gdLst/>
              <a:ahLst/>
              <a:cxnLst/>
              <a:rect l="l" t="t" r="r" b="b"/>
              <a:pathLst>
                <a:path w="1804702" h="406225">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id="21" name="TextBox 21"/>
            <p:cNvSpPr txBox="1"/>
            <p:nvPr/>
          </p:nvSpPr>
          <p:spPr>
            <a:xfrm>
              <a:off x="0" y="-66675"/>
              <a:ext cx="1690402" cy="472900"/>
            </a:xfrm>
            <a:prstGeom prst="rect">
              <a:avLst/>
            </a:prstGeom>
          </p:spPr>
          <p:txBody>
            <a:bodyPr lIns="50800" tIns="50800" rIns="50800" bIns="50800" rtlCol="0" anchor="ctr"/>
            <a:lstStyle/>
            <a:p>
              <a:pPr algn="ctr">
                <a:lnSpc>
                  <a:spcPts val="3354"/>
                </a:lnSpc>
              </a:pPr>
              <a:endParaRPr/>
            </a:p>
          </p:txBody>
        </p:sp>
      </p:grpSp>
      <p:grpSp>
        <p:nvGrpSpPr>
          <p:cNvPr id="22" name="Group 22"/>
          <p:cNvGrpSpPr/>
          <p:nvPr/>
        </p:nvGrpSpPr>
        <p:grpSpPr>
          <a:xfrm rot="-10800000">
            <a:off x="12121058" y="9610725"/>
            <a:ext cx="6219700" cy="1542386"/>
            <a:chOff x="0" y="0"/>
            <a:chExt cx="1638110" cy="406225"/>
          </a:xfrm>
        </p:grpSpPr>
        <p:sp>
          <p:nvSpPr>
            <p:cNvPr id="23" name="Freeform 23"/>
            <p:cNvSpPr/>
            <p:nvPr/>
          </p:nvSpPr>
          <p:spPr>
            <a:xfrm>
              <a:off x="0" y="0"/>
              <a:ext cx="1638110" cy="406225"/>
            </a:xfrm>
            <a:custGeom>
              <a:avLst/>
              <a:gdLst/>
              <a:ahLst/>
              <a:cxnLst/>
              <a:rect l="l" t="t" r="r" b="b"/>
              <a:pathLst>
                <a:path w="1638110" h="406225">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id="24" name="TextBox 24"/>
            <p:cNvSpPr txBox="1"/>
            <p:nvPr/>
          </p:nvSpPr>
          <p:spPr>
            <a:xfrm>
              <a:off x="0" y="-66675"/>
              <a:ext cx="1523810" cy="472900"/>
            </a:xfrm>
            <a:prstGeom prst="rect">
              <a:avLst/>
            </a:prstGeom>
          </p:spPr>
          <p:txBody>
            <a:bodyPr lIns="50800" tIns="50800" rIns="50800" bIns="50800" rtlCol="0" anchor="ctr"/>
            <a:lstStyle/>
            <a:p>
              <a:pPr algn="ctr">
                <a:lnSpc>
                  <a:spcPts val="3354"/>
                </a:lnSpc>
              </a:pPr>
              <a:endParaRPr/>
            </a:p>
          </p:txBody>
        </p:sp>
      </p:grpSp>
      <p:grpSp>
        <p:nvGrpSpPr>
          <p:cNvPr id="25" name="Group 25"/>
          <p:cNvGrpSpPr/>
          <p:nvPr/>
        </p:nvGrpSpPr>
        <p:grpSpPr>
          <a:xfrm rot="-10800000">
            <a:off x="11605227" y="-580983"/>
            <a:ext cx="4056912" cy="1035961"/>
            <a:chOff x="0" y="0"/>
            <a:chExt cx="1804702" cy="460843"/>
          </a:xfrm>
        </p:grpSpPr>
        <p:sp>
          <p:nvSpPr>
            <p:cNvPr id="26" name="Freeform 26"/>
            <p:cNvSpPr/>
            <p:nvPr/>
          </p:nvSpPr>
          <p:spPr>
            <a:xfrm>
              <a:off x="0" y="0"/>
              <a:ext cx="1804702" cy="460843"/>
            </a:xfrm>
            <a:custGeom>
              <a:avLst/>
              <a:gdLst/>
              <a:ahLst/>
              <a:cxnLst/>
              <a:rect l="l" t="t" r="r" b="b"/>
              <a:pathLst>
                <a:path w="1804702" h="460843">
                  <a:moveTo>
                    <a:pt x="1601502" y="0"/>
                  </a:moveTo>
                  <a:lnTo>
                    <a:pt x="0" y="0"/>
                  </a:lnTo>
                  <a:lnTo>
                    <a:pt x="0" y="460843"/>
                  </a:lnTo>
                  <a:lnTo>
                    <a:pt x="1601502" y="460843"/>
                  </a:lnTo>
                  <a:lnTo>
                    <a:pt x="1804702" y="230422"/>
                  </a:lnTo>
                  <a:lnTo>
                    <a:pt x="1601502" y="0"/>
                  </a:lnTo>
                  <a:close/>
                </a:path>
              </a:pathLst>
            </a:custGeom>
            <a:solidFill>
              <a:srgbClr val="C2221E"/>
            </a:solidFill>
          </p:spPr>
        </p:sp>
        <p:sp>
          <p:nvSpPr>
            <p:cNvPr id="27" name="TextBox 27"/>
            <p:cNvSpPr txBox="1"/>
            <p:nvPr/>
          </p:nvSpPr>
          <p:spPr>
            <a:xfrm>
              <a:off x="0" y="-66675"/>
              <a:ext cx="1690402" cy="527518"/>
            </a:xfrm>
            <a:prstGeom prst="rect">
              <a:avLst/>
            </a:prstGeom>
          </p:spPr>
          <p:txBody>
            <a:bodyPr lIns="50800" tIns="50800" rIns="50800" bIns="50800" rtlCol="0" anchor="ctr"/>
            <a:lstStyle/>
            <a:p>
              <a:pPr algn="ctr">
                <a:lnSpc>
                  <a:spcPts val="3354"/>
                </a:lnSpc>
              </a:pPr>
              <a:endParaRPr/>
            </a:p>
          </p:txBody>
        </p:sp>
      </p:grpSp>
      <p:grpSp>
        <p:nvGrpSpPr>
          <p:cNvPr id="28" name="Group 28"/>
          <p:cNvGrpSpPr/>
          <p:nvPr/>
        </p:nvGrpSpPr>
        <p:grpSpPr>
          <a:xfrm rot="-10800000">
            <a:off x="14658339" y="-580983"/>
            <a:ext cx="3682419" cy="1035961"/>
            <a:chOff x="0" y="0"/>
            <a:chExt cx="1638110" cy="460843"/>
          </a:xfrm>
        </p:grpSpPr>
        <p:sp>
          <p:nvSpPr>
            <p:cNvPr id="29" name="Freeform 29"/>
            <p:cNvSpPr/>
            <p:nvPr/>
          </p:nvSpPr>
          <p:spPr>
            <a:xfrm>
              <a:off x="0" y="0"/>
              <a:ext cx="1638110" cy="460843"/>
            </a:xfrm>
            <a:custGeom>
              <a:avLst/>
              <a:gdLst/>
              <a:ahLst/>
              <a:cxnLst/>
              <a:rect l="l" t="t" r="r" b="b"/>
              <a:pathLst>
                <a:path w="1638110" h="460843">
                  <a:moveTo>
                    <a:pt x="1434910" y="0"/>
                  </a:moveTo>
                  <a:lnTo>
                    <a:pt x="0" y="0"/>
                  </a:lnTo>
                  <a:lnTo>
                    <a:pt x="0" y="460843"/>
                  </a:lnTo>
                  <a:lnTo>
                    <a:pt x="1434910" y="460843"/>
                  </a:lnTo>
                  <a:lnTo>
                    <a:pt x="1638110" y="230422"/>
                  </a:lnTo>
                  <a:lnTo>
                    <a:pt x="1434910" y="0"/>
                  </a:lnTo>
                  <a:close/>
                </a:path>
              </a:pathLst>
            </a:custGeom>
            <a:solidFill>
              <a:srgbClr val="A60404"/>
            </a:solidFill>
          </p:spPr>
        </p:sp>
        <p:sp>
          <p:nvSpPr>
            <p:cNvPr id="30" name="TextBox 30"/>
            <p:cNvSpPr txBox="1"/>
            <p:nvPr/>
          </p:nvSpPr>
          <p:spPr>
            <a:xfrm>
              <a:off x="0" y="-66675"/>
              <a:ext cx="1523810" cy="527518"/>
            </a:xfrm>
            <a:prstGeom prst="rect">
              <a:avLst/>
            </a:prstGeom>
          </p:spPr>
          <p:txBody>
            <a:bodyPr lIns="50800" tIns="50800" rIns="50800" bIns="50800" rtlCol="0" anchor="ctr"/>
            <a:lstStyle/>
            <a:p>
              <a:pPr algn="ctr">
                <a:lnSpc>
                  <a:spcPts val="3354"/>
                </a:lnSpc>
              </a:pPr>
              <a:endParaRPr/>
            </a:p>
          </p:txBody>
        </p:sp>
      </p:grpSp>
      <p:sp>
        <p:nvSpPr>
          <p:cNvPr id="31" name="Freeform 31"/>
          <p:cNvSpPr/>
          <p:nvPr/>
        </p:nvSpPr>
        <p:spPr>
          <a:xfrm>
            <a:off x="15498430" y="8285897"/>
            <a:ext cx="2658580" cy="1244163"/>
          </a:xfrm>
          <a:custGeom>
            <a:avLst/>
            <a:gdLst/>
            <a:ahLst/>
            <a:cxnLst/>
            <a:rect l="l" t="t" r="r" b="b"/>
            <a:pathLst>
              <a:path w="2658580" h="1244163">
                <a:moveTo>
                  <a:pt x="0" y="0"/>
                </a:moveTo>
                <a:lnTo>
                  <a:pt x="2658580" y="0"/>
                </a:lnTo>
                <a:lnTo>
                  <a:pt x="2658580" y="1244163"/>
                </a:lnTo>
                <a:lnTo>
                  <a:pt x="0" y="1244163"/>
                </a:lnTo>
                <a:lnTo>
                  <a:pt x="0" y="0"/>
                </a:lnTo>
                <a:close/>
              </a:path>
            </a:pathLst>
          </a:custGeom>
          <a:blipFill>
            <a:blip r:embed="rId1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250</Words>
  <Application>Microsoft Office PowerPoint</Application>
  <PresentationFormat>Custom</PresentationFormat>
  <Paragraphs>38</Paragraphs>
  <Slides>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vt:i4>
      </vt:variant>
    </vt:vector>
  </HeadingPairs>
  <TitlesOfParts>
    <vt:vector size="19" baseType="lpstr">
      <vt:lpstr>Didot LP</vt:lpstr>
      <vt:lpstr>Poppins Bold</vt:lpstr>
      <vt:lpstr>Public Sans Bold</vt:lpstr>
      <vt:lpstr>Public Sans</vt:lpstr>
      <vt:lpstr>Times New Roman</vt:lpstr>
      <vt:lpstr>Garet Bold</vt:lpstr>
      <vt:lpstr>Roboto</vt:lpstr>
      <vt:lpstr>Calibri</vt:lpstr>
      <vt:lpstr>Times New Roman MT Bold</vt:lpstr>
      <vt:lpstr>Futura Display</vt:lpstr>
      <vt:lpstr>Times New Roman MT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1.Adinn New Template</dc:title>
  <cp:lastModifiedBy>User</cp:lastModifiedBy>
  <cp:revision>5</cp:revision>
  <dcterms:created xsi:type="dcterms:W3CDTF">2006-08-16T00:00:00Z</dcterms:created>
  <dcterms:modified xsi:type="dcterms:W3CDTF">2026-09-29T09:43:37Z</dcterms:modified>
  <dc:identifier>DAHR3jF5rqE</dc:identifier>
</cp:coreProperties>
</file>